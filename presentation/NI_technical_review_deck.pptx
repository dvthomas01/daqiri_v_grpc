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A3F2E-0032-56B1-0F43-F4158BEC7649}"/>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1DCE6C69-1E9A-AC56-25E1-ED780C4D8228}"/>
              </a:ext>
            </a:extLst>
          </p:cNvPr>
          <p:cNvSpPr>
            <a:spLocks noGrp="1"/>
          </p:cNvSpPr>
          <p:nvPr>
            <p:ph type="subTitle" idx="1"/>
          </p:nvPr>
        </p:nvSpPr>
        <p:spPr>
          <a:xfrm>
            <a:off x="1524000" y="3602037"/>
            <a:ext cx="9144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29D2956-E655-8774-E406-1B1798B41E5A}"/>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5" name="Footer Placeholder 4">
            <a:extLst>
              <a:ext uri="{FF2B5EF4-FFF2-40B4-BE49-F238E27FC236}">
                <a16:creationId xmlns:a16="http://schemas.microsoft.com/office/drawing/2014/main" id="{98F9A675-B246-F16B-E4B2-6B97ED3414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FF590-0226-5AAC-65E7-D4CE9A1B2A6B}"/>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332093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3FD92-5AFC-9368-8D86-A47AA8863F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F0DF95-E79D-15BE-FBC4-48AA50514D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30E579-09C4-3EC2-E70F-52C1F6EB01FF}"/>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5" name="Footer Placeholder 4">
            <a:extLst>
              <a:ext uri="{FF2B5EF4-FFF2-40B4-BE49-F238E27FC236}">
                <a16:creationId xmlns:a16="http://schemas.microsoft.com/office/drawing/2014/main" id="{E5C8E962-7960-D228-E858-868A8E8CB3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AB73C-2C5E-42BA-06BE-9CFE166DA682}"/>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895461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7D33D-0140-301D-8304-2F2F69C59FFB}"/>
              </a:ext>
            </a:extLst>
          </p:cNvPr>
          <p:cNvSpPr>
            <a:spLocks noGrp="1"/>
          </p:cNvSpPr>
          <p:nvPr>
            <p:ph type="title"/>
          </p:nvPr>
        </p:nvSpPr>
        <p:spPr>
          <a:xfrm>
            <a:off x="831851" y="1709741"/>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E1D8D61-9D12-E515-176C-73BEF58EDDC1}"/>
              </a:ext>
            </a:extLst>
          </p:cNvPr>
          <p:cNvSpPr>
            <a:spLocks noGrp="1"/>
          </p:cNvSpPr>
          <p:nvPr>
            <p:ph type="body" idx="1"/>
          </p:nvPr>
        </p:nvSpPr>
        <p:spPr>
          <a:xfrm>
            <a:off x="831851" y="4589464"/>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6DC29F-54E4-0671-AF48-7C4A9EF3ABD0}"/>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5" name="Footer Placeholder 4">
            <a:extLst>
              <a:ext uri="{FF2B5EF4-FFF2-40B4-BE49-F238E27FC236}">
                <a16:creationId xmlns:a16="http://schemas.microsoft.com/office/drawing/2014/main" id="{174A6D04-C454-9794-6863-AF1376ADE3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9262E7-4089-DB41-FDDA-55325BE7E482}"/>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278097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8477B-283F-EFFF-565F-6D52AA05FA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37E8D9-21BE-BC90-2CC5-79D7B9D264D2}"/>
              </a:ext>
            </a:extLst>
          </p:cNvPr>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B802D9-DC14-61F8-EAA4-02007D6B722E}"/>
              </a:ext>
            </a:extLst>
          </p:cNvPr>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D3BD85-4AC5-0BCB-C74A-5618CF303C4C}"/>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6" name="Footer Placeholder 5">
            <a:extLst>
              <a:ext uri="{FF2B5EF4-FFF2-40B4-BE49-F238E27FC236}">
                <a16:creationId xmlns:a16="http://schemas.microsoft.com/office/drawing/2014/main" id="{78BCE93B-C55E-1BBB-E593-4A643BA0B8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9CBD18-EE2E-074A-7490-2FCEDADD262E}"/>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111805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22F41-A48B-8461-62F2-76FD654283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9D894E-674B-097C-9DC9-F3F49BD79839}"/>
              </a:ext>
            </a:extLst>
          </p:cNvPr>
          <p:cNvSpPr>
            <a:spLocks noGrp="1"/>
          </p:cNvSpPr>
          <p:nvPr>
            <p:ph type="body" idx="1"/>
          </p:nvPr>
        </p:nvSpPr>
        <p:spPr>
          <a:xfrm>
            <a:off x="839790"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DDFA025-EBBE-F655-1E67-419E4EC32F92}"/>
              </a:ext>
            </a:extLst>
          </p:cNvPr>
          <p:cNvSpPr>
            <a:spLocks noGrp="1"/>
          </p:cNvSpPr>
          <p:nvPr>
            <p:ph sz="half" idx="2"/>
          </p:nvPr>
        </p:nvSpPr>
        <p:spPr>
          <a:xfrm>
            <a:off x="839790" y="25050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E0892B-087A-1B7E-BE76-795CEFA1B1FA}"/>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721343C-4670-5BBB-6AAD-080AAD89DC38}"/>
              </a:ext>
            </a:extLst>
          </p:cNvPr>
          <p:cNvSpPr>
            <a:spLocks noGrp="1"/>
          </p:cNvSpPr>
          <p:nvPr>
            <p:ph sz="quarter" idx="4"/>
          </p:nvPr>
        </p:nvSpPr>
        <p:spPr>
          <a:xfrm>
            <a:off x="6172201" y="25050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6576EF-E309-AA9E-D20E-D0E97DE385D6}"/>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8" name="Footer Placeholder 7">
            <a:extLst>
              <a:ext uri="{FF2B5EF4-FFF2-40B4-BE49-F238E27FC236}">
                <a16:creationId xmlns:a16="http://schemas.microsoft.com/office/drawing/2014/main" id="{BFD5C45A-E023-5D78-1ADA-598515CBC6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E66D0A-52CB-6D22-D738-22A54EF5FE41}"/>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3306200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07958-3065-7DDA-8BB6-33734F534A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C9A97AE-1160-2174-C2A0-3DFA9D1EA385}"/>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4" name="Footer Placeholder 3">
            <a:extLst>
              <a:ext uri="{FF2B5EF4-FFF2-40B4-BE49-F238E27FC236}">
                <a16:creationId xmlns:a16="http://schemas.microsoft.com/office/drawing/2014/main" id="{A77A972D-7D5B-75B5-F2AF-9FCC4E9CD3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60A86C-F38D-0644-1885-F8EFEF0FBD5C}"/>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1518263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6D2BE3-9692-6307-6DDC-04FDBDE5351E}"/>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3" name="Footer Placeholder 2">
            <a:extLst>
              <a:ext uri="{FF2B5EF4-FFF2-40B4-BE49-F238E27FC236}">
                <a16:creationId xmlns:a16="http://schemas.microsoft.com/office/drawing/2014/main" id="{1CB40D41-D175-63F7-5848-B0FD73F970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9D0391-940F-2557-4DEF-0B9F2BDD5906}"/>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2728933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77E9A-41BE-94C3-6C38-27FC78A948D9}"/>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231E217-E68A-29B1-EEB2-88728617EFCC}"/>
              </a:ext>
            </a:extLst>
          </p:cNvPr>
          <p:cNvSpPr>
            <a:spLocks noGrp="1"/>
          </p:cNvSpPr>
          <p:nvPr>
            <p:ph idx="1"/>
          </p:nvPr>
        </p:nvSpPr>
        <p:spPr>
          <a:xfrm>
            <a:off x="5183188"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974001-8D81-6E95-C41A-661F627D5E22}"/>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47BDB04-5706-FDF7-47C9-8170B926FAF2}"/>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6" name="Footer Placeholder 5">
            <a:extLst>
              <a:ext uri="{FF2B5EF4-FFF2-40B4-BE49-F238E27FC236}">
                <a16:creationId xmlns:a16="http://schemas.microsoft.com/office/drawing/2014/main" id="{2F96279B-F57C-8C04-4011-0E33CD84D0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0B699A-002E-4554-E90B-E06EFACD3FF2}"/>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1892233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092F2-AB93-C7EF-51D3-58D8C5431AE9}"/>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7D7B9B0-AB24-B925-1B8A-1F85E08347AE}"/>
              </a:ext>
            </a:extLst>
          </p:cNvPr>
          <p:cNvSpPr>
            <a:spLocks noGrp="1"/>
          </p:cNvSpPr>
          <p:nvPr>
            <p:ph type="pic" idx="1"/>
          </p:nvPr>
        </p:nvSpPr>
        <p:spPr>
          <a:xfrm>
            <a:off x="5183188"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B63D3DA-A717-BFEB-2D04-BD2358E47BED}"/>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E173C6B-5D12-97CA-4575-83A3FF57F0E8}"/>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6" name="Footer Placeholder 5">
            <a:extLst>
              <a:ext uri="{FF2B5EF4-FFF2-40B4-BE49-F238E27FC236}">
                <a16:creationId xmlns:a16="http://schemas.microsoft.com/office/drawing/2014/main" id="{62DDD759-F283-B491-DA40-7CCA9CF733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9C8C31-5E10-8D83-EE80-099A88284EB3}"/>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866968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A72E7-6946-1B4A-E072-A134C55851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2447E4-AB50-D1DB-A1EC-85D6F93007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2F1B7D-25FB-4F48-4B03-6DAA0E85E3A3}"/>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5" name="Footer Placeholder 4">
            <a:extLst>
              <a:ext uri="{FF2B5EF4-FFF2-40B4-BE49-F238E27FC236}">
                <a16:creationId xmlns:a16="http://schemas.microsoft.com/office/drawing/2014/main" id="{84FE17A4-3D7E-6948-B269-57E55627E5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1E3C70-6BA3-0F6A-CA57-B0F74B8BF73C}"/>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1769385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85E900-B103-245C-6B8C-D5781FE44018}"/>
              </a:ext>
            </a:extLst>
          </p:cNvPr>
          <p:cNvSpPr>
            <a:spLocks noGrp="1"/>
          </p:cNvSpPr>
          <p:nvPr>
            <p:ph type="title" orient="vert"/>
          </p:nvPr>
        </p:nvSpPr>
        <p:spPr>
          <a:xfrm>
            <a:off x="8724901" y="365127"/>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790AFD-C5CA-FBD8-7608-9354C68B91E5}"/>
              </a:ext>
            </a:extLst>
          </p:cNvPr>
          <p:cNvSpPr>
            <a:spLocks noGrp="1"/>
          </p:cNvSpPr>
          <p:nvPr>
            <p:ph type="body" orient="vert" idx="1"/>
          </p:nvPr>
        </p:nvSpPr>
        <p:spPr>
          <a:xfrm>
            <a:off x="838201" y="365127"/>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35F60D-9B08-55CC-A05A-EE936A6EAF81}"/>
              </a:ext>
            </a:extLst>
          </p:cNvPr>
          <p:cNvSpPr>
            <a:spLocks noGrp="1"/>
          </p:cNvSpPr>
          <p:nvPr>
            <p:ph type="dt" sz="half" idx="10"/>
          </p:nvPr>
        </p:nvSpPr>
        <p:spPr/>
        <p:txBody>
          <a:bodyPr/>
          <a:lstStyle/>
          <a:p>
            <a:fld id="{6412473E-086F-4B1D-84AB-D30A0D3E4365}" type="datetimeFigureOut">
              <a:rPr lang="en-US" smtClean="0"/>
              <a:t>8/26/2026</a:t>
            </a:fld>
            <a:endParaRPr lang="en-US"/>
          </a:p>
        </p:txBody>
      </p:sp>
      <p:sp>
        <p:nvSpPr>
          <p:cNvPr id="5" name="Footer Placeholder 4">
            <a:extLst>
              <a:ext uri="{FF2B5EF4-FFF2-40B4-BE49-F238E27FC236}">
                <a16:creationId xmlns:a16="http://schemas.microsoft.com/office/drawing/2014/main" id="{0282D42F-ACB8-97F4-18EA-84E8E19AD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05CD7D-E6B7-5DF2-27FA-D57036AC7E50}"/>
              </a:ext>
            </a:extLst>
          </p:cNvPr>
          <p:cNvSpPr>
            <a:spLocks noGrp="1"/>
          </p:cNvSpPr>
          <p:nvPr>
            <p:ph type="sldNum" sz="quarter" idx="12"/>
          </p:nvPr>
        </p:nvSpPr>
        <p:spPr/>
        <p:txBody>
          <a:bodyPr/>
          <a:lstStyle/>
          <a:p>
            <a:fld id="{4E4DF866-4279-41FB-92D6-9E2CE6B83EB2}" type="slidenum">
              <a:rPr lang="en-US" smtClean="0"/>
              <a:t>‹#›</a:t>
            </a:fld>
            <a:endParaRPr lang="en-US"/>
          </a:p>
        </p:txBody>
      </p:sp>
    </p:spTree>
    <p:extLst>
      <p:ext uri="{BB962C8B-B14F-4D97-AF65-F5344CB8AC3E}">
        <p14:creationId xmlns:p14="http://schemas.microsoft.com/office/powerpoint/2010/main" val="234030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734E21-B4BE-5ECB-2CCE-8E38E7BE89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3953D9-698C-EA94-7A49-F1C9C14189A4}"/>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A555CA-B2B7-53CF-C130-893A85B6EF15}"/>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6412473E-086F-4B1D-84AB-D30A0D3E4365}" type="datetimeFigureOut">
              <a:rPr lang="en-US" smtClean="0"/>
              <a:t>8/26/2026</a:t>
            </a:fld>
            <a:endParaRPr lang="en-US"/>
          </a:p>
        </p:txBody>
      </p:sp>
      <p:sp>
        <p:nvSpPr>
          <p:cNvPr id="5" name="Footer Placeholder 4">
            <a:extLst>
              <a:ext uri="{FF2B5EF4-FFF2-40B4-BE49-F238E27FC236}">
                <a16:creationId xmlns:a16="http://schemas.microsoft.com/office/drawing/2014/main" id="{61B8DE92-B571-7F36-1F6D-05ADC0B06F69}"/>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BBDCAD-BEB8-CD0E-D86F-442F6FC79B2E}"/>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4E4DF866-4279-41FB-92D6-9E2CE6B83EB2}" type="slidenum">
              <a:rPr lang="en-US" smtClean="0"/>
              <a:t>‹#›</a:t>
            </a:fld>
            <a:endParaRPr lang="en-US"/>
          </a:p>
        </p:txBody>
      </p:sp>
    </p:spTree>
    <p:extLst>
      <p:ext uri="{BB962C8B-B14F-4D97-AF65-F5344CB8AC3E}">
        <p14:creationId xmlns:p14="http://schemas.microsoft.com/office/powerpoint/2010/main" val="3968211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C3FC84-C14B-0580-967F-6348955067C5}"/>
              </a:ext>
            </a:extLst>
          </p:cNvPr>
          <p:cNvSpPr/>
          <p:nvPr/>
        </p:nvSpPr>
        <p:spPr>
          <a:xfrm>
            <a:off x="0" y="0"/>
            <a:ext cx="12192000" cy="6858000"/>
          </a:xfrm>
          <a:prstGeom prst="rect">
            <a:avLst/>
          </a:prstGeom>
          <a:solidFill>
            <a:srgbClr val="1B1B1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4D72B5A-F50D-E829-175D-A9A506C3984B}"/>
              </a:ext>
            </a:extLst>
          </p:cNvPr>
          <p:cNvSpPr/>
          <p:nvPr/>
        </p:nvSpPr>
        <p:spPr>
          <a:xfrm>
            <a:off x="0" y="0"/>
            <a:ext cx="1524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F1F7797-DABB-7A22-4CC0-E632B2B9B0DC}"/>
              </a:ext>
            </a:extLst>
          </p:cNvPr>
          <p:cNvSpPr txBox="1"/>
          <p:nvPr/>
        </p:nvSpPr>
        <p:spPr>
          <a:xfrm>
            <a:off x="889000" y="1905000"/>
            <a:ext cx="10414000" cy="1231106"/>
          </a:xfrm>
          <a:prstGeom prst="rect">
            <a:avLst/>
          </a:prstGeom>
          <a:noFill/>
        </p:spPr>
        <p:txBody>
          <a:bodyPr vert="horz" wrap="square" lIns="0" tIns="0" rIns="0" bIns="0" rtlCol="0">
            <a:spAutoFit/>
          </a:bodyPr>
          <a:lstStyle/>
          <a:p>
            <a:r>
              <a:rPr lang="en-US" sz="4000" b="1">
                <a:solidFill>
                  <a:srgbClr val="FFFFFF"/>
                </a:solidFill>
                <a:latin typeface="Segoe UI" panose="020B0502040204020203" pitchFamily="34" charset="0"/>
              </a:rPr>
              <a:t>Transport Benchmark for</a:t>
            </a:r>
          </a:p>
          <a:p>
            <a:r>
              <a:rPr lang="en-US" sz="4000" b="1">
                <a:solidFill>
                  <a:srgbClr val="FFFFFF"/>
                </a:solidFill>
                <a:latin typeface="Segoe UI" panose="020B0502040204020203" pitchFamily="34" charset="0"/>
              </a:rPr>
              <a:t> Hardware-to-GPU Inference</a:t>
            </a:r>
          </a:p>
        </p:txBody>
      </p:sp>
      <p:sp>
        <p:nvSpPr>
          <p:cNvPr id="5" name="TextBox 4">
            <a:extLst>
              <a:ext uri="{FF2B5EF4-FFF2-40B4-BE49-F238E27FC236}">
                <a16:creationId xmlns:a16="http://schemas.microsoft.com/office/drawing/2014/main" id="{C2350F20-664A-DC50-5914-4871E08ADC81}"/>
              </a:ext>
            </a:extLst>
          </p:cNvPr>
          <p:cNvSpPr txBox="1"/>
          <p:nvPr/>
        </p:nvSpPr>
        <p:spPr>
          <a:xfrm>
            <a:off x="939800" y="3657600"/>
            <a:ext cx="10414000" cy="246221"/>
          </a:xfrm>
          <a:prstGeom prst="rect">
            <a:avLst/>
          </a:prstGeom>
          <a:noFill/>
        </p:spPr>
        <p:txBody>
          <a:bodyPr vert="horz" wrap="square" lIns="0" tIns="0" rIns="0" bIns="0" rtlCol="0">
            <a:spAutoFit/>
          </a:bodyPr>
          <a:lstStyle/>
          <a:p>
            <a:r>
              <a:rPr lang="en-US" sz="1600">
                <a:solidFill>
                  <a:srgbClr val="03B585"/>
                </a:solidFill>
                <a:latin typeface="Segoe UI" panose="020B0502040204020203" pitchFamily="34" charset="0"/>
              </a:rPr>
              <a:t>Technical Design Review  -  gRPC-Direct and NVIDIA DAQiri, TCP / shared memory / RDMA / GPU FFT</a:t>
            </a:r>
          </a:p>
        </p:txBody>
      </p:sp>
      <p:sp>
        <p:nvSpPr>
          <p:cNvPr id="6" name="TextBox 5">
            <a:extLst>
              <a:ext uri="{FF2B5EF4-FFF2-40B4-BE49-F238E27FC236}">
                <a16:creationId xmlns:a16="http://schemas.microsoft.com/office/drawing/2014/main" id="{33B78564-6193-C36A-F500-BBE4AB0B730F}"/>
              </a:ext>
            </a:extLst>
          </p:cNvPr>
          <p:cNvSpPr txBox="1"/>
          <p:nvPr/>
        </p:nvSpPr>
        <p:spPr>
          <a:xfrm>
            <a:off x="939800" y="4572000"/>
            <a:ext cx="10414000" cy="207749"/>
          </a:xfrm>
          <a:prstGeom prst="rect">
            <a:avLst/>
          </a:prstGeom>
          <a:noFill/>
        </p:spPr>
        <p:txBody>
          <a:bodyPr vert="horz" wrap="square" lIns="0" tIns="0" rIns="0" bIns="0" rtlCol="0">
            <a:spAutoFit/>
          </a:bodyPr>
          <a:lstStyle/>
          <a:p>
            <a:r>
              <a:rPr lang="en-US" sz="1300">
                <a:solidFill>
                  <a:srgbClr val="FFFFFF"/>
                </a:solidFill>
                <a:latin typeface="Segoe UI" panose="020B0502040204020203" pitchFamily="34" charset="0"/>
              </a:rPr>
              <a:t>Presenter: Dami Thomas   -   NI Summer 2026   -   2026-07-29</a:t>
            </a:r>
          </a:p>
        </p:txBody>
      </p:sp>
      <p:sp>
        <p:nvSpPr>
          <p:cNvPr id="7" name="TextBox 6">
            <a:extLst>
              <a:ext uri="{FF2B5EF4-FFF2-40B4-BE49-F238E27FC236}">
                <a16:creationId xmlns:a16="http://schemas.microsoft.com/office/drawing/2014/main" id="{5797D979-CF1B-5014-34E5-4015C11F253C}"/>
              </a:ext>
            </a:extLst>
          </p:cNvPr>
          <p:cNvSpPr txBox="1"/>
          <p:nvPr/>
        </p:nvSpPr>
        <p:spPr>
          <a:xfrm>
            <a:off x="939800" y="4927600"/>
            <a:ext cx="10414000" cy="184666"/>
          </a:xfrm>
          <a:prstGeom prst="rect">
            <a:avLst/>
          </a:prstGeom>
          <a:noFill/>
        </p:spPr>
        <p:txBody>
          <a:bodyPr vert="horz" wrap="square" lIns="0" tIns="0" rIns="0" bIns="0" rtlCol="0">
            <a:spAutoFit/>
          </a:bodyPr>
          <a:lstStyle/>
          <a:p>
            <a:r>
              <a:rPr lang="en-US" sz="1200">
                <a:solidFill>
                  <a:srgbClr val="5A6470"/>
                </a:solidFill>
                <a:latin typeface="Segoe UI" panose="020B0502040204020203" pitchFamily="34" charset="0"/>
              </a:rPr>
              <a:t>Classification: NI Internal   -   Review type: Results and open-issue review</a:t>
            </a:r>
          </a:p>
        </p:txBody>
      </p:sp>
    </p:spTree>
    <p:extLst>
      <p:ext uri="{BB962C8B-B14F-4D97-AF65-F5344CB8AC3E}">
        <p14:creationId xmlns:p14="http://schemas.microsoft.com/office/powerpoint/2010/main" val="2280133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018C5D-5F14-301D-352B-0C28D6734710}"/>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18C6DFD-CF5B-7D16-17BB-FD34421483B9}"/>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OVERVIEW</a:t>
            </a:r>
          </a:p>
        </p:txBody>
      </p:sp>
      <p:sp>
        <p:nvSpPr>
          <p:cNvPr id="4" name="TextBox 3">
            <a:extLst>
              <a:ext uri="{FF2B5EF4-FFF2-40B4-BE49-F238E27FC236}">
                <a16:creationId xmlns:a16="http://schemas.microsoft.com/office/drawing/2014/main" id="{0EE7EEB3-ED00-2FF2-EF28-2D5DAB09FFB9}"/>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Agenda and Review Scope</a:t>
            </a:r>
          </a:p>
        </p:txBody>
      </p:sp>
      <p:sp>
        <p:nvSpPr>
          <p:cNvPr id="5" name="Rectangle 4">
            <a:extLst>
              <a:ext uri="{FF2B5EF4-FFF2-40B4-BE49-F238E27FC236}">
                <a16:creationId xmlns:a16="http://schemas.microsoft.com/office/drawing/2014/main" id="{14B56477-9AE6-A4AE-195E-3FBB6DBD5D9D}"/>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CD2C774-48DC-CC16-5826-63B456F6E7E4}"/>
              </a:ext>
            </a:extLst>
          </p:cNvPr>
          <p:cNvSpPr txBox="1"/>
          <p:nvPr/>
        </p:nvSpPr>
        <p:spPr>
          <a:xfrm>
            <a:off x="685800" y="1651000"/>
            <a:ext cx="10795000" cy="3380413"/>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Objectives and success criteria</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Background: transports, zero-copy, and the GPU FFT pipeline</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System architecture and data path</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Test configuration and measurement methodology</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Phase 1 results: transport benchmark (latency, throughput, RDMA)</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Phase 2 results: DAQiri vs gRPC-Direct GPU FFT pipeline</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Part 3: closing the gap. Root cause, the remainder, the memory finding, and the RDMA receiver</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Open-issue analysis: large-payload delivery</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Risk, limitations, conclusions, verification status, and action items</a:t>
            </a:r>
          </a:p>
        </p:txBody>
      </p:sp>
    </p:spTree>
    <p:extLst>
      <p:ext uri="{BB962C8B-B14F-4D97-AF65-F5344CB8AC3E}">
        <p14:creationId xmlns:p14="http://schemas.microsoft.com/office/powerpoint/2010/main" val="676688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249592-8EE5-C88A-F779-3016604071B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645B4CF-58B0-5DEC-8888-6C6AD8A0B5B1}"/>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MIL-STD / NASA REVIEW</a:t>
            </a:r>
          </a:p>
        </p:txBody>
      </p:sp>
      <p:sp>
        <p:nvSpPr>
          <p:cNvPr id="4" name="TextBox 3">
            <a:extLst>
              <a:ext uri="{FF2B5EF4-FFF2-40B4-BE49-F238E27FC236}">
                <a16:creationId xmlns:a16="http://schemas.microsoft.com/office/drawing/2014/main" id="{74A0E095-4C94-05E8-D2F1-211473120158}"/>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Objectives and Success Criteria</a:t>
            </a:r>
          </a:p>
        </p:txBody>
      </p:sp>
      <p:sp>
        <p:nvSpPr>
          <p:cNvPr id="5" name="Rectangle 4">
            <a:extLst>
              <a:ext uri="{FF2B5EF4-FFF2-40B4-BE49-F238E27FC236}">
                <a16:creationId xmlns:a16="http://schemas.microsoft.com/office/drawing/2014/main" id="{01FECBDE-4F14-34AF-EEDC-80EA7123F1CC}"/>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400B719-D7B3-621A-C814-72C040DD26DF}"/>
              </a:ext>
            </a:extLst>
          </p:cNvPr>
          <p:cNvSpPr txBox="1"/>
          <p:nvPr/>
        </p:nvSpPr>
        <p:spPr>
          <a:xfrm>
            <a:off x="685800" y="1549400"/>
            <a:ext cx="10795000" cy="230832"/>
          </a:xfrm>
          <a:prstGeom prst="rect">
            <a:avLst/>
          </a:prstGeom>
          <a:noFill/>
        </p:spPr>
        <p:txBody>
          <a:bodyPr vert="horz" wrap="square" lIns="0" tIns="0" rIns="0" bIns="0" rtlCol="0">
            <a:spAutoFit/>
          </a:bodyPr>
          <a:lstStyle/>
          <a:p>
            <a:r>
              <a:rPr lang="en-US" sz="1500" b="1">
                <a:solidFill>
                  <a:srgbClr val="028C66"/>
                </a:solidFill>
                <a:latin typeface="Segoe UI" panose="020B0502040204020203" pitchFamily="34" charset="0"/>
              </a:rPr>
              <a:t>Objective</a:t>
            </a:r>
          </a:p>
        </p:txBody>
      </p:sp>
      <p:sp>
        <p:nvSpPr>
          <p:cNvPr id="7" name="TextBox 6">
            <a:extLst>
              <a:ext uri="{FF2B5EF4-FFF2-40B4-BE49-F238E27FC236}">
                <a16:creationId xmlns:a16="http://schemas.microsoft.com/office/drawing/2014/main" id="{4B0A1DBE-0424-AD38-3D9D-2CBFE80E13D6}"/>
              </a:ext>
            </a:extLst>
          </p:cNvPr>
          <p:cNvSpPr txBox="1"/>
          <p:nvPr/>
        </p:nvSpPr>
        <p:spPr>
          <a:xfrm>
            <a:off x="685800" y="1854200"/>
            <a:ext cx="10795000" cy="589905"/>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Quantify the latency and throughput cost of the data transport in a live hardware-to-GPU inference path</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Compare NI gRPC-Direct against standard gRPC and against NVIDIA DAQiri under matched conditions</a:t>
            </a:r>
          </a:p>
        </p:txBody>
      </p:sp>
      <p:sp>
        <p:nvSpPr>
          <p:cNvPr id="8" name="TextBox 7">
            <a:extLst>
              <a:ext uri="{FF2B5EF4-FFF2-40B4-BE49-F238E27FC236}">
                <a16:creationId xmlns:a16="http://schemas.microsoft.com/office/drawing/2014/main" id="{06C25894-10EB-8BEE-01DE-566104F60AC7}"/>
              </a:ext>
            </a:extLst>
          </p:cNvPr>
          <p:cNvSpPr txBox="1"/>
          <p:nvPr/>
        </p:nvSpPr>
        <p:spPr>
          <a:xfrm>
            <a:off x="685800" y="3175000"/>
            <a:ext cx="10795000" cy="230832"/>
          </a:xfrm>
          <a:prstGeom prst="rect">
            <a:avLst/>
          </a:prstGeom>
          <a:noFill/>
        </p:spPr>
        <p:txBody>
          <a:bodyPr vert="horz" wrap="square" lIns="0" tIns="0" rIns="0" bIns="0" rtlCol="0">
            <a:spAutoFit/>
          </a:bodyPr>
          <a:lstStyle/>
          <a:p>
            <a:r>
              <a:rPr lang="en-US" sz="1500" b="1">
                <a:solidFill>
                  <a:srgbClr val="028C66"/>
                </a:solidFill>
                <a:latin typeface="Segoe UI" panose="020B0502040204020203" pitchFamily="34" charset="0"/>
              </a:rPr>
              <a:t>Success Criteria</a:t>
            </a:r>
          </a:p>
        </p:txBody>
      </p:sp>
      <p:graphicFrame>
        <p:nvGraphicFramePr>
          <p:cNvPr id="9" name="Table 8">
            <a:extLst>
              <a:ext uri="{FF2B5EF4-FFF2-40B4-BE49-F238E27FC236}">
                <a16:creationId xmlns:a16="http://schemas.microsoft.com/office/drawing/2014/main" id="{8B1B3378-D4A4-4C2B-5AE6-FBBAC9EA5EA8}"/>
              </a:ext>
            </a:extLst>
          </p:cNvPr>
          <p:cNvGraphicFramePr>
            <a:graphicFrameLocks noGrp="1"/>
          </p:cNvGraphicFramePr>
          <p:nvPr>
            <p:extLst>
              <p:ext uri="{D42A27DB-BD31-4B8C-83A1-F6EECF244321}">
                <p14:modId xmlns:p14="http://schemas.microsoft.com/office/powerpoint/2010/main" val="2421800213"/>
              </p:ext>
            </p:extLst>
          </p:nvPr>
        </p:nvGraphicFramePr>
        <p:xfrm>
          <a:off x="685800" y="3403600"/>
          <a:ext cx="10795000" cy="2540000"/>
        </p:xfrm>
        <a:graphic>
          <a:graphicData uri="http://schemas.openxmlformats.org/drawingml/2006/table">
            <a:tbl>
              <a:tblPr firstRow="1" bandRow="1">
                <a:tableStyleId>{5C22544A-7EE6-4342-B048-85BDC9FD1C3A}</a:tableStyleId>
              </a:tblPr>
              <a:tblGrid>
                <a:gridCol w="3598333">
                  <a:extLst>
                    <a:ext uri="{9D8B030D-6E8A-4147-A177-3AD203B41FA5}">
                      <a16:colId xmlns:a16="http://schemas.microsoft.com/office/drawing/2014/main" val="4071461684"/>
                    </a:ext>
                  </a:extLst>
                </a:gridCol>
                <a:gridCol w="3598333">
                  <a:extLst>
                    <a:ext uri="{9D8B030D-6E8A-4147-A177-3AD203B41FA5}">
                      <a16:colId xmlns:a16="http://schemas.microsoft.com/office/drawing/2014/main" val="238800766"/>
                    </a:ext>
                  </a:extLst>
                </a:gridCol>
                <a:gridCol w="3598333">
                  <a:extLst>
                    <a:ext uri="{9D8B030D-6E8A-4147-A177-3AD203B41FA5}">
                      <a16:colId xmlns:a16="http://schemas.microsoft.com/office/drawing/2014/main" val="263278871"/>
                    </a:ext>
                  </a:extLst>
                </a:gridCol>
              </a:tblGrid>
              <a:tr h="362857">
                <a:tc>
                  <a:txBody>
                    <a:bodyPr/>
                    <a:lstStyle/>
                    <a:p>
                      <a:r>
                        <a:rPr lang="en-US" sz="1200" b="1">
                          <a:solidFill>
                            <a:srgbClr val="FFFFFF"/>
                          </a:solidFill>
                          <a:latin typeface="Segoe UI" panose="020B0502040204020203" pitchFamily="34" charset="0"/>
                        </a:rPr>
                        <a:t>ID</a:t>
                      </a:r>
                    </a:p>
                  </a:txBody>
                  <a:tcPr marT="38100" marB="38100">
                    <a:solidFill>
                      <a:srgbClr val="03B585"/>
                    </a:solidFill>
                  </a:tcPr>
                </a:tc>
                <a:tc>
                  <a:txBody>
                    <a:bodyPr/>
                    <a:lstStyle/>
                    <a:p>
                      <a:r>
                        <a:rPr lang="en-US" sz="1200" b="1">
                          <a:solidFill>
                            <a:srgbClr val="FFFFFF"/>
                          </a:solidFill>
                          <a:latin typeface="Segoe UI" panose="020B0502040204020203" pitchFamily="34" charset="0"/>
                        </a:rPr>
                        <a:t>Criterion</a:t>
                      </a:r>
                    </a:p>
                  </a:txBody>
                  <a:tcPr marT="38100" marB="38100">
                    <a:solidFill>
                      <a:srgbClr val="03B585"/>
                    </a:solidFill>
                  </a:tcPr>
                </a:tc>
                <a:tc>
                  <a:txBody>
                    <a:bodyPr/>
                    <a:lstStyle/>
                    <a:p>
                      <a:r>
                        <a:rPr lang="en-US" sz="1200" b="1">
                          <a:solidFill>
                            <a:srgbClr val="FFFFFF"/>
                          </a:solidFill>
                          <a:latin typeface="Segoe UI" panose="020B0502040204020203" pitchFamily="34" charset="0"/>
                        </a:rPr>
                        <a:t>Result</a:t>
                      </a:r>
                    </a:p>
                  </a:txBody>
                  <a:tcPr marT="38100" marB="38100">
                    <a:solidFill>
                      <a:srgbClr val="03B585"/>
                    </a:solidFill>
                  </a:tcPr>
                </a:tc>
                <a:extLst>
                  <a:ext uri="{0D108BD9-81ED-4DB2-BD59-A6C34878D82A}">
                    <a16:rowId xmlns:a16="http://schemas.microsoft.com/office/drawing/2014/main" val="1729211160"/>
                  </a:ext>
                </a:extLst>
              </a:tr>
              <a:tr h="362857">
                <a:tc>
                  <a:txBody>
                    <a:bodyPr/>
                    <a:lstStyle/>
                    <a:p>
                      <a:r>
                        <a:rPr lang="en-US" sz="1200">
                          <a:solidFill>
                            <a:srgbClr val="1B1B1B"/>
                          </a:solidFill>
                          <a:latin typeface="Segoe UI" panose="020B0502040204020203" pitchFamily="34" charset="0"/>
                        </a:rPr>
                        <a:t>SC-1</a:t>
                      </a:r>
                    </a:p>
                  </a:txBody>
                  <a:tcPr marT="38100" marB="38100">
                    <a:solidFill>
                      <a:srgbClr val="FFFFFF"/>
                    </a:solidFill>
                  </a:tcPr>
                </a:tc>
                <a:tc>
                  <a:txBody>
                    <a:bodyPr/>
                    <a:lstStyle/>
                    <a:p>
                      <a:r>
                        <a:rPr lang="en-US" sz="1200">
                          <a:solidFill>
                            <a:srgbClr val="1B1B1B"/>
                          </a:solidFill>
                          <a:latin typeface="Segoe UI" panose="020B0502040204020203" pitchFamily="34" charset="0"/>
                        </a:rPr>
                        <a:t>Measure transport latency with a fair, repeatable method</a:t>
                      </a:r>
                    </a:p>
                  </a:txBody>
                  <a:tcPr marT="38100" marB="38100">
                    <a:solidFill>
                      <a:srgbClr val="FFFFFF"/>
                    </a:solidFill>
                  </a:tcPr>
                </a:tc>
                <a:tc>
                  <a:txBody>
                    <a:bodyPr/>
                    <a:lstStyle/>
                    <a:p>
                      <a:r>
                        <a:rPr lang="en-US" sz="1200" b="1">
                          <a:solidFill>
                            <a:srgbClr val="028C66"/>
                          </a:solidFill>
                          <a:latin typeface="Segoe UI" panose="020B0502040204020203" pitchFamily="34" charset="0"/>
                        </a:rPr>
                        <a:t>MET</a:t>
                      </a:r>
                    </a:p>
                  </a:txBody>
                  <a:tcPr marT="38100" marB="38100">
                    <a:solidFill>
                      <a:srgbClr val="E0F5EE"/>
                    </a:solidFill>
                  </a:tcPr>
                </a:tc>
                <a:extLst>
                  <a:ext uri="{0D108BD9-81ED-4DB2-BD59-A6C34878D82A}">
                    <a16:rowId xmlns:a16="http://schemas.microsoft.com/office/drawing/2014/main" val="1921373201"/>
                  </a:ext>
                </a:extLst>
              </a:tr>
              <a:tr h="362857">
                <a:tc>
                  <a:txBody>
                    <a:bodyPr/>
                    <a:lstStyle/>
                    <a:p>
                      <a:r>
                        <a:rPr lang="en-US" sz="1200">
                          <a:solidFill>
                            <a:srgbClr val="1B1B1B"/>
                          </a:solidFill>
                          <a:latin typeface="Segoe UI" panose="020B0502040204020203" pitchFamily="34" charset="0"/>
                        </a:rPr>
                        <a:t>SC-2</a:t>
                      </a:r>
                    </a:p>
                  </a:txBody>
                  <a:tcPr marT="38100" marB="38100">
                    <a:solidFill>
                      <a:srgbClr val="FFFFFF"/>
                    </a:solidFill>
                  </a:tcPr>
                </a:tc>
                <a:tc>
                  <a:txBody>
                    <a:bodyPr/>
                    <a:lstStyle/>
                    <a:p>
                      <a:r>
                        <a:rPr lang="en-US" sz="1200">
                          <a:solidFill>
                            <a:srgbClr val="1B1B1B"/>
                          </a:solidFill>
                          <a:latin typeface="Segoe UI" panose="020B0502040204020203" pitchFamily="34" charset="0"/>
                        </a:rPr>
                        <a:t>Show transport-only speedup with unchanged application API</a:t>
                      </a:r>
                    </a:p>
                  </a:txBody>
                  <a:tcPr marT="38100" marB="38100">
                    <a:solidFill>
                      <a:srgbClr val="FFFFFF"/>
                    </a:solidFill>
                  </a:tcPr>
                </a:tc>
                <a:tc>
                  <a:txBody>
                    <a:bodyPr/>
                    <a:lstStyle/>
                    <a:p>
                      <a:r>
                        <a:rPr lang="en-US" sz="1200" b="1">
                          <a:solidFill>
                            <a:srgbClr val="028C66"/>
                          </a:solidFill>
                          <a:latin typeface="Segoe UI" panose="020B0502040204020203" pitchFamily="34" charset="0"/>
                        </a:rPr>
                        <a:t>MET (up to 281x)</a:t>
                      </a:r>
                    </a:p>
                  </a:txBody>
                  <a:tcPr marT="38100" marB="38100">
                    <a:solidFill>
                      <a:srgbClr val="E0F5EE"/>
                    </a:solidFill>
                  </a:tcPr>
                </a:tc>
                <a:extLst>
                  <a:ext uri="{0D108BD9-81ED-4DB2-BD59-A6C34878D82A}">
                    <a16:rowId xmlns:a16="http://schemas.microsoft.com/office/drawing/2014/main" val="647048382"/>
                  </a:ext>
                </a:extLst>
              </a:tr>
              <a:tr h="362857">
                <a:tc>
                  <a:txBody>
                    <a:bodyPr/>
                    <a:lstStyle/>
                    <a:p>
                      <a:r>
                        <a:rPr lang="en-US" sz="1200">
                          <a:solidFill>
                            <a:srgbClr val="1B1B1B"/>
                          </a:solidFill>
                          <a:latin typeface="Segoe UI" panose="020B0502040204020203" pitchFamily="34" charset="0"/>
                        </a:rPr>
                        <a:t>SC-3</a:t>
                      </a:r>
                    </a:p>
                  </a:txBody>
                  <a:tcPr marT="38100" marB="38100">
                    <a:solidFill>
                      <a:srgbClr val="FFFFFF"/>
                    </a:solidFill>
                  </a:tcPr>
                </a:tc>
                <a:tc>
                  <a:txBody>
                    <a:bodyPr/>
                    <a:lstStyle/>
                    <a:p>
                      <a:r>
                        <a:rPr lang="en-US" sz="1200">
                          <a:solidFill>
                            <a:srgbClr val="1B1B1B"/>
                          </a:solidFill>
                          <a:latin typeface="Segoe UI" panose="020B0502040204020203" pitchFamily="34" charset="0"/>
                        </a:rPr>
                        <a:t>Compare GPU-pipeline latency, DAQiri vs gRPC-Direct</a:t>
                      </a:r>
                    </a:p>
                  </a:txBody>
                  <a:tcPr marT="38100" marB="38100">
                    <a:solidFill>
                      <a:srgbClr val="FFFFFF"/>
                    </a:solidFill>
                  </a:tcPr>
                </a:tc>
                <a:tc>
                  <a:txBody>
                    <a:bodyPr/>
                    <a:lstStyle/>
                    <a:p>
                      <a:r>
                        <a:rPr lang="en-US" sz="1200" b="1">
                          <a:solidFill>
                            <a:srgbClr val="028C66"/>
                          </a:solidFill>
                          <a:latin typeface="Segoe UI" panose="020B0502040204020203" pitchFamily="34" charset="0"/>
                        </a:rPr>
                        <a:t>MET (DAQiri faster all sizes)</a:t>
                      </a:r>
                    </a:p>
                  </a:txBody>
                  <a:tcPr marT="38100" marB="38100">
                    <a:solidFill>
                      <a:srgbClr val="E0F5EE"/>
                    </a:solidFill>
                  </a:tcPr>
                </a:tc>
                <a:extLst>
                  <a:ext uri="{0D108BD9-81ED-4DB2-BD59-A6C34878D82A}">
                    <a16:rowId xmlns:a16="http://schemas.microsoft.com/office/drawing/2014/main" val="3034588882"/>
                  </a:ext>
                </a:extLst>
              </a:tr>
              <a:tr h="362857">
                <a:tc>
                  <a:txBody>
                    <a:bodyPr/>
                    <a:lstStyle/>
                    <a:p>
                      <a:r>
                        <a:rPr lang="en-US" sz="1200">
                          <a:solidFill>
                            <a:srgbClr val="1B1B1B"/>
                          </a:solidFill>
                          <a:latin typeface="Segoe UI" panose="020B0502040204020203" pitchFamily="34" charset="0"/>
                        </a:rPr>
                        <a:t>SC-4</a:t>
                      </a:r>
                    </a:p>
                  </a:txBody>
                  <a:tcPr marT="38100" marB="38100">
                    <a:solidFill>
                      <a:srgbClr val="FFFFFF"/>
                    </a:solidFill>
                  </a:tcPr>
                </a:tc>
                <a:tc>
                  <a:txBody>
                    <a:bodyPr/>
                    <a:lstStyle/>
                    <a:p>
                      <a:r>
                        <a:rPr lang="en-US" sz="1200">
                          <a:solidFill>
                            <a:srgbClr val="1B1B1B"/>
                          </a:solidFill>
                          <a:latin typeface="Segoe UI" panose="020B0502040204020203" pitchFamily="34" charset="0"/>
                        </a:rPr>
                        <a:t>Characterize delivery / drops across payload sizes</a:t>
                      </a:r>
                    </a:p>
                  </a:txBody>
                  <a:tcPr marT="38100" marB="38100">
                    <a:solidFill>
                      <a:srgbClr val="FFFFFF"/>
                    </a:solidFill>
                  </a:tcPr>
                </a:tc>
                <a:tc>
                  <a:txBody>
                    <a:bodyPr/>
                    <a:lstStyle/>
                    <a:p>
                      <a:r>
                        <a:rPr lang="nl-NL" sz="1200" b="1">
                          <a:solidFill>
                            <a:srgbClr val="028C66"/>
                          </a:solidFill>
                          <a:latin typeface="Segoe UI" panose="020B0502040204020203" pitchFamily="34" charset="0"/>
                        </a:rPr>
                        <a:t>MET (128 KB drop found)</a:t>
                      </a:r>
                      <a:endParaRPr lang="en-US" sz="1200" b="1">
                        <a:solidFill>
                          <a:srgbClr val="028C66"/>
                        </a:solidFill>
                        <a:latin typeface="Segoe UI" panose="020B0502040204020203" pitchFamily="34" charset="0"/>
                      </a:endParaRPr>
                    </a:p>
                  </a:txBody>
                  <a:tcPr marT="38100" marB="38100">
                    <a:solidFill>
                      <a:srgbClr val="E0F5EE"/>
                    </a:solidFill>
                  </a:tcPr>
                </a:tc>
                <a:extLst>
                  <a:ext uri="{0D108BD9-81ED-4DB2-BD59-A6C34878D82A}">
                    <a16:rowId xmlns:a16="http://schemas.microsoft.com/office/drawing/2014/main" val="732110370"/>
                  </a:ext>
                </a:extLst>
              </a:tr>
              <a:tr h="362857">
                <a:tc>
                  <a:txBody>
                    <a:bodyPr/>
                    <a:lstStyle/>
                    <a:p>
                      <a:r>
                        <a:rPr lang="en-US" sz="1200">
                          <a:solidFill>
                            <a:srgbClr val="1B1B1B"/>
                          </a:solidFill>
                          <a:latin typeface="Segoe UI" panose="020B0502040204020203" pitchFamily="34" charset="0"/>
                        </a:rPr>
                        <a:t>SC-5</a:t>
                      </a:r>
                    </a:p>
                  </a:txBody>
                  <a:tcPr marT="38100" marB="38100">
                    <a:solidFill>
                      <a:srgbClr val="FFFFFF"/>
                    </a:solidFill>
                  </a:tcPr>
                </a:tc>
                <a:tc>
                  <a:txBody>
                    <a:bodyPr/>
                    <a:lstStyle/>
                    <a:p>
                      <a:r>
                        <a:rPr lang="en-US" sz="1200">
                          <a:solidFill>
                            <a:srgbClr val="1B1B1B"/>
                          </a:solidFill>
                          <a:latin typeface="Segoe UI" panose="020B0502040204020203" pitchFamily="34" charset="0"/>
                        </a:rPr>
                        <a:t>Find and fix the cause of the large-payload gap</a:t>
                      </a:r>
                    </a:p>
                  </a:txBody>
                  <a:tcPr marT="38100" marB="38100">
                    <a:solidFill>
                      <a:srgbClr val="FFFFFF"/>
                    </a:solidFill>
                  </a:tcPr>
                </a:tc>
                <a:tc>
                  <a:txBody>
                    <a:bodyPr/>
                    <a:lstStyle/>
                    <a:p>
                      <a:r>
                        <a:rPr lang="da-DK" sz="1200" b="1">
                          <a:solidFill>
                            <a:srgbClr val="028C66"/>
                          </a:solidFill>
                          <a:latin typeface="Segoe UI" panose="020B0502040204020203" pitchFamily="34" charset="0"/>
                        </a:rPr>
                        <a:t>MET (1.80x at 4 MB)</a:t>
                      </a:r>
                      <a:endParaRPr lang="en-US" sz="1200" b="1">
                        <a:solidFill>
                          <a:srgbClr val="028C66"/>
                        </a:solidFill>
                        <a:latin typeface="Segoe UI" panose="020B0502040204020203" pitchFamily="34" charset="0"/>
                      </a:endParaRPr>
                    </a:p>
                  </a:txBody>
                  <a:tcPr marT="38100" marB="38100">
                    <a:solidFill>
                      <a:srgbClr val="E0F5EE"/>
                    </a:solidFill>
                  </a:tcPr>
                </a:tc>
                <a:extLst>
                  <a:ext uri="{0D108BD9-81ED-4DB2-BD59-A6C34878D82A}">
                    <a16:rowId xmlns:a16="http://schemas.microsoft.com/office/drawing/2014/main" val="1272158176"/>
                  </a:ext>
                </a:extLst>
              </a:tr>
              <a:tr h="362857">
                <a:tc>
                  <a:txBody>
                    <a:bodyPr/>
                    <a:lstStyle/>
                    <a:p>
                      <a:r>
                        <a:rPr lang="en-US" sz="1200">
                          <a:solidFill>
                            <a:srgbClr val="1B1B1B"/>
                          </a:solidFill>
                          <a:latin typeface="Segoe UI" panose="020B0502040204020203" pitchFamily="34" charset="0"/>
                        </a:rPr>
                        <a:t>SC-6</a:t>
                      </a:r>
                    </a:p>
                  </a:txBody>
                  <a:tcPr marT="38100" marB="38100">
                    <a:solidFill>
                      <a:srgbClr val="FFFFFF"/>
                    </a:solidFill>
                  </a:tcPr>
                </a:tc>
                <a:tc>
                  <a:txBody>
                    <a:bodyPr/>
                    <a:lstStyle/>
                    <a:p>
                      <a:r>
                        <a:rPr lang="en-US" sz="1200">
                          <a:solidFill>
                            <a:srgbClr val="1B1B1B"/>
                          </a:solidFill>
                          <a:latin typeface="Segoe UI" panose="020B0502040204020203" pitchFamily="34" charset="0"/>
                        </a:rPr>
                        <a:t>Localize whatever remains to a named component</a:t>
                      </a:r>
                    </a:p>
                  </a:txBody>
                  <a:tcPr marT="38100" marB="38100">
                    <a:solidFill>
                      <a:srgbClr val="FFFFFF"/>
                    </a:solidFill>
                  </a:tcPr>
                </a:tc>
                <a:tc>
                  <a:txBody>
                    <a:bodyPr/>
                    <a:lstStyle/>
                    <a:p>
                      <a:r>
                        <a:rPr lang="en-US" sz="1200" b="1">
                          <a:solidFill>
                            <a:srgbClr val="028C66"/>
                          </a:solidFill>
                          <a:latin typeface="Segoe UI" panose="020B0502040204020203" pitchFamily="34" charset="0"/>
                        </a:rPr>
                        <a:t>MET (79 percent inside cuFFT)</a:t>
                      </a:r>
                    </a:p>
                  </a:txBody>
                  <a:tcPr marT="38100" marB="38100">
                    <a:solidFill>
                      <a:srgbClr val="E0F5EE"/>
                    </a:solidFill>
                  </a:tcPr>
                </a:tc>
                <a:extLst>
                  <a:ext uri="{0D108BD9-81ED-4DB2-BD59-A6C34878D82A}">
                    <a16:rowId xmlns:a16="http://schemas.microsoft.com/office/drawing/2014/main" val="2061150751"/>
                  </a:ext>
                </a:extLst>
              </a:tr>
            </a:tbl>
          </a:graphicData>
        </a:graphic>
      </p:graphicFrame>
      <p:sp>
        <p:nvSpPr>
          <p:cNvPr id="10" name="TextBox 9">
            <a:extLst>
              <a:ext uri="{FF2B5EF4-FFF2-40B4-BE49-F238E27FC236}">
                <a16:creationId xmlns:a16="http://schemas.microsoft.com/office/drawing/2014/main" id="{DE246CBE-446F-70D0-0162-3BE8AAC970EC}"/>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Verification status detailed on the conclusions slide.</a:t>
            </a:r>
          </a:p>
        </p:txBody>
      </p:sp>
    </p:spTree>
    <p:extLst>
      <p:ext uri="{BB962C8B-B14F-4D97-AF65-F5344CB8AC3E}">
        <p14:creationId xmlns:p14="http://schemas.microsoft.com/office/powerpoint/2010/main" val="3101216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4D759F-6120-A357-FCCC-22B8E2E02B9C}"/>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21B0ED-6C55-78E7-0200-0F87AFB8EBB2}"/>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CONTEXT</a:t>
            </a:r>
          </a:p>
        </p:txBody>
      </p:sp>
      <p:sp>
        <p:nvSpPr>
          <p:cNvPr id="4" name="TextBox 3">
            <a:extLst>
              <a:ext uri="{FF2B5EF4-FFF2-40B4-BE49-F238E27FC236}">
                <a16:creationId xmlns:a16="http://schemas.microsoft.com/office/drawing/2014/main" id="{CFC40154-74CB-558D-152E-F745B6A54AF7}"/>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Background and Definitions</a:t>
            </a:r>
          </a:p>
        </p:txBody>
      </p:sp>
      <p:sp>
        <p:nvSpPr>
          <p:cNvPr id="5" name="Rectangle 4">
            <a:extLst>
              <a:ext uri="{FF2B5EF4-FFF2-40B4-BE49-F238E27FC236}">
                <a16:creationId xmlns:a16="http://schemas.microsoft.com/office/drawing/2014/main" id="{DEE0F21B-763A-E6ED-3BCB-8F22194086BA}"/>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19A7E8-E889-91CF-E92D-8F3C750FCC82}"/>
              </a:ext>
            </a:extLst>
          </p:cNvPr>
          <p:cNvSpPr txBox="1"/>
          <p:nvPr/>
        </p:nvSpPr>
        <p:spPr>
          <a:xfrm>
            <a:off x="685800" y="1651000"/>
            <a:ext cx="10795000" cy="2995692"/>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Standard gRPC over TCP: general-purpose RPC; kernel, scheduler and serialization overhead dominate small payloads</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gRPC-Direct: NI transport that keeps the gRPC API but swaps TCP for shared memory, low-latency TCP, or RDMA</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NVIDIA DAQiri: purpose-built data-acquisition framework with a kernel-bypass NIC-to-GPU path and a portable socket engine</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Zero-copy: serialize data directly into the transport buffer, removing host-side memory copies</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GPU FFT pipeline: receive buffer -&gt; host-to-device transfer -&gt; cuFFT -&gt; report end-to-end latency</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Metric: p50 (median) end-to-end latency per buffer; delivery = buffers received of those sent</a:t>
            </a:r>
          </a:p>
        </p:txBody>
      </p:sp>
    </p:spTree>
    <p:extLst>
      <p:ext uri="{BB962C8B-B14F-4D97-AF65-F5344CB8AC3E}">
        <p14:creationId xmlns:p14="http://schemas.microsoft.com/office/powerpoint/2010/main" val="3073564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3B6CA7-9977-E619-C4A8-5AFB3DF2953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B2CFAB4-23AA-71A2-DF1D-24A746E3014C}"/>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ARCHITECTURE</a:t>
            </a:r>
          </a:p>
        </p:txBody>
      </p:sp>
      <p:sp>
        <p:nvSpPr>
          <p:cNvPr id="4" name="TextBox 3">
            <a:extLst>
              <a:ext uri="{FF2B5EF4-FFF2-40B4-BE49-F238E27FC236}">
                <a16:creationId xmlns:a16="http://schemas.microsoft.com/office/drawing/2014/main" id="{6BCA1618-3CE4-4656-A7E0-0B6172F7F57A}"/>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System Architecture and Data Path</a:t>
            </a:r>
          </a:p>
        </p:txBody>
      </p:sp>
      <p:sp>
        <p:nvSpPr>
          <p:cNvPr id="5" name="Rectangle 4">
            <a:extLst>
              <a:ext uri="{FF2B5EF4-FFF2-40B4-BE49-F238E27FC236}">
                <a16:creationId xmlns:a16="http://schemas.microsoft.com/office/drawing/2014/main" id="{69249D95-D62A-CDE9-6BED-D61284A57AA6}"/>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11CB596-0B39-6C78-DC54-81EC7D6014F1}"/>
              </a:ext>
            </a:extLst>
          </p:cNvPr>
          <p:cNvSpPr/>
          <p:nvPr/>
        </p:nvSpPr>
        <p:spPr>
          <a:xfrm>
            <a:off x="508000" y="2540000"/>
            <a:ext cx="1905000" cy="889000"/>
          </a:xfrm>
          <a:prstGeom prst="rect">
            <a:avLst/>
          </a:prstGeom>
          <a:solidFill>
            <a:srgbClr val="5A64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B11CE57-225A-4218-AAEF-317F49ABDC84}"/>
              </a:ext>
            </a:extLst>
          </p:cNvPr>
          <p:cNvSpPr txBox="1"/>
          <p:nvPr/>
        </p:nvSpPr>
        <p:spPr>
          <a:xfrm>
            <a:off x="508000" y="2768600"/>
            <a:ext cx="1905000" cy="415498"/>
          </a:xfrm>
          <a:prstGeom prst="rect">
            <a:avLst/>
          </a:prstGeom>
          <a:noFill/>
        </p:spPr>
        <p:txBody>
          <a:bodyPr vert="horz" wrap="square" lIns="0" tIns="0" rIns="0" bIns="0" rtlCol="0">
            <a:spAutoFit/>
          </a:bodyPr>
          <a:lstStyle/>
          <a:p>
            <a:pPr algn="ctr"/>
            <a:r>
              <a:rPr lang="en-US" sz="1300" b="1">
                <a:solidFill>
                  <a:srgbClr val="FFFFFF"/>
                </a:solidFill>
                <a:latin typeface="Segoe UI" panose="020B0502040204020203" pitchFamily="34" charset="0"/>
              </a:rPr>
              <a:t>Instrument /</a:t>
            </a:r>
          </a:p>
          <a:p>
            <a:pPr algn="ctr"/>
            <a:r>
              <a:rPr lang="en-US" sz="1300" b="1">
                <a:solidFill>
                  <a:srgbClr val="FFFFFF"/>
                </a:solidFill>
                <a:latin typeface="Segoe UI" panose="020B0502040204020203" pitchFamily="34" charset="0"/>
              </a:rPr>
              <a:t>Signal source</a:t>
            </a:r>
          </a:p>
        </p:txBody>
      </p:sp>
      <p:sp>
        <p:nvSpPr>
          <p:cNvPr id="8" name="Rectangle 7">
            <a:extLst>
              <a:ext uri="{FF2B5EF4-FFF2-40B4-BE49-F238E27FC236}">
                <a16:creationId xmlns:a16="http://schemas.microsoft.com/office/drawing/2014/main" id="{57417BD5-A006-DC65-62BD-8CFB75222784}"/>
              </a:ext>
            </a:extLst>
          </p:cNvPr>
          <p:cNvSpPr/>
          <p:nvPr/>
        </p:nvSpPr>
        <p:spPr>
          <a:xfrm>
            <a:off x="3048000" y="2540000"/>
            <a:ext cx="2159000" cy="889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28E2C3A-9A98-310D-FD84-74AD6D14035F}"/>
              </a:ext>
            </a:extLst>
          </p:cNvPr>
          <p:cNvSpPr txBox="1"/>
          <p:nvPr/>
        </p:nvSpPr>
        <p:spPr>
          <a:xfrm>
            <a:off x="3048000" y="2692400"/>
            <a:ext cx="2159000" cy="553998"/>
          </a:xfrm>
          <a:prstGeom prst="rect">
            <a:avLst/>
          </a:prstGeom>
          <a:noFill/>
        </p:spPr>
        <p:txBody>
          <a:bodyPr vert="horz" wrap="square" lIns="0" tIns="0" rIns="0" bIns="0" rtlCol="0">
            <a:spAutoFit/>
          </a:bodyPr>
          <a:lstStyle/>
          <a:p>
            <a:pPr algn="ctr"/>
            <a:r>
              <a:rPr lang="en-US" sz="1200" b="1">
                <a:solidFill>
                  <a:srgbClr val="FFFFFF"/>
                </a:solidFill>
                <a:latin typeface="Segoe UI" panose="020B0502040204020203" pitchFamily="34" charset="0"/>
              </a:rPr>
              <a:t>Transport</a:t>
            </a:r>
          </a:p>
          <a:p>
            <a:pPr algn="ctr"/>
            <a:r>
              <a:rPr lang="en-US" sz="1200" b="1">
                <a:solidFill>
                  <a:srgbClr val="FFFFFF"/>
                </a:solidFill>
                <a:latin typeface="Segoe UI" panose="020B0502040204020203" pitchFamily="34" charset="0"/>
              </a:rPr>
              <a:t>(shmem / RDMA /</a:t>
            </a:r>
          </a:p>
          <a:p>
            <a:pPr algn="ctr"/>
            <a:r>
              <a:rPr lang="en-US" sz="1200" b="1">
                <a:solidFill>
                  <a:srgbClr val="FFFFFF"/>
                </a:solidFill>
                <a:latin typeface="Segoe UI" panose="020B0502040204020203" pitchFamily="34" charset="0"/>
              </a:rPr>
              <a:t>DAQiri socket)</a:t>
            </a:r>
          </a:p>
        </p:txBody>
      </p:sp>
      <p:sp>
        <p:nvSpPr>
          <p:cNvPr id="10" name="Rectangle 9">
            <a:extLst>
              <a:ext uri="{FF2B5EF4-FFF2-40B4-BE49-F238E27FC236}">
                <a16:creationId xmlns:a16="http://schemas.microsoft.com/office/drawing/2014/main" id="{42960301-F37D-0F75-FB2A-D505C34B341D}"/>
              </a:ext>
            </a:extLst>
          </p:cNvPr>
          <p:cNvSpPr/>
          <p:nvPr/>
        </p:nvSpPr>
        <p:spPr>
          <a:xfrm>
            <a:off x="5842000" y="2540000"/>
            <a:ext cx="1905000" cy="889000"/>
          </a:xfrm>
          <a:prstGeom prst="rect">
            <a:avLst/>
          </a:prstGeom>
          <a:solidFill>
            <a:srgbClr val="F5A62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52C6E7F-88F3-1A29-C265-B9EF444E0805}"/>
              </a:ext>
            </a:extLst>
          </p:cNvPr>
          <p:cNvSpPr txBox="1"/>
          <p:nvPr/>
        </p:nvSpPr>
        <p:spPr>
          <a:xfrm>
            <a:off x="5842000" y="2692400"/>
            <a:ext cx="1905000" cy="553998"/>
          </a:xfrm>
          <a:prstGeom prst="rect">
            <a:avLst/>
          </a:prstGeom>
          <a:noFill/>
        </p:spPr>
        <p:txBody>
          <a:bodyPr vert="horz" wrap="square" lIns="0" tIns="0" rIns="0" bIns="0" rtlCol="0">
            <a:spAutoFit/>
          </a:bodyPr>
          <a:lstStyle/>
          <a:p>
            <a:pPr algn="ctr"/>
            <a:r>
              <a:rPr lang="en-US" sz="1200" b="1">
                <a:solidFill>
                  <a:srgbClr val="FFFFFF"/>
                </a:solidFill>
                <a:latin typeface="Segoe UI" panose="020B0502040204020203" pitchFamily="34" charset="0"/>
              </a:rPr>
              <a:t>Host to device</a:t>
            </a:r>
          </a:p>
          <a:p>
            <a:pPr algn="ctr"/>
            <a:r>
              <a:rPr lang="en-US" sz="1200" b="1">
                <a:solidFill>
                  <a:srgbClr val="FFFFFF"/>
                </a:solidFill>
                <a:latin typeface="Segoe UI" panose="020B0502040204020203" pitchFamily="34" charset="0"/>
              </a:rPr>
              <a:t>transfer</a:t>
            </a:r>
          </a:p>
          <a:p>
            <a:pPr algn="ctr"/>
            <a:r>
              <a:rPr lang="en-US" sz="1200" b="1">
                <a:solidFill>
                  <a:srgbClr val="FFFFFF"/>
                </a:solidFill>
                <a:latin typeface="Segoe UI" panose="020B0502040204020203" pitchFamily="34" charset="0"/>
              </a:rPr>
              <a:t>(H2D copy)</a:t>
            </a:r>
          </a:p>
        </p:txBody>
      </p:sp>
      <p:sp>
        <p:nvSpPr>
          <p:cNvPr id="12" name="Rectangle 11">
            <a:extLst>
              <a:ext uri="{FF2B5EF4-FFF2-40B4-BE49-F238E27FC236}">
                <a16:creationId xmlns:a16="http://schemas.microsoft.com/office/drawing/2014/main" id="{FD2DAB1B-93E6-0C8C-5F8D-F8BAF370CE46}"/>
              </a:ext>
            </a:extLst>
          </p:cNvPr>
          <p:cNvSpPr/>
          <p:nvPr/>
        </p:nvSpPr>
        <p:spPr>
          <a:xfrm>
            <a:off x="8382000" y="2540000"/>
            <a:ext cx="1905000" cy="889000"/>
          </a:xfrm>
          <a:prstGeom prst="rect">
            <a:avLst/>
          </a:prstGeom>
          <a:solidFill>
            <a:srgbClr val="028C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1612ED6-4C44-90DC-171E-9481F5B2CCD5}"/>
              </a:ext>
            </a:extLst>
          </p:cNvPr>
          <p:cNvSpPr txBox="1"/>
          <p:nvPr/>
        </p:nvSpPr>
        <p:spPr>
          <a:xfrm>
            <a:off x="8382000" y="2768600"/>
            <a:ext cx="1905000" cy="415498"/>
          </a:xfrm>
          <a:prstGeom prst="rect">
            <a:avLst/>
          </a:prstGeom>
          <a:noFill/>
        </p:spPr>
        <p:txBody>
          <a:bodyPr vert="horz" wrap="square" lIns="0" tIns="0" rIns="0" bIns="0" rtlCol="0">
            <a:spAutoFit/>
          </a:bodyPr>
          <a:lstStyle/>
          <a:p>
            <a:pPr algn="ctr"/>
            <a:r>
              <a:rPr lang="en-US" sz="1300" b="1">
                <a:solidFill>
                  <a:srgbClr val="FFFFFF"/>
                </a:solidFill>
                <a:latin typeface="Segoe UI" panose="020B0502040204020203" pitchFamily="34" charset="0"/>
              </a:rPr>
              <a:t>GPU FFT</a:t>
            </a:r>
          </a:p>
          <a:p>
            <a:pPr algn="ctr"/>
            <a:r>
              <a:rPr lang="en-US" sz="1300" b="1">
                <a:solidFill>
                  <a:srgbClr val="FFFFFF"/>
                </a:solidFill>
                <a:latin typeface="Segoe UI" panose="020B0502040204020203" pitchFamily="34" charset="0"/>
              </a:rPr>
              <a:t>(cuFFT)</a:t>
            </a:r>
          </a:p>
        </p:txBody>
      </p:sp>
      <p:sp>
        <p:nvSpPr>
          <p:cNvPr id="14" name="TextBox 13">
            <a:extLst>
              <a:ext uri="{FF2B5EF4-FFF2-40B4-BE49-F238E27FC236}">
                <a16:creationId xmlns:a16="http://schemas.microsoft.com/office/drawing/2014/main" id="{0B667537-7883-BE46-E9EE-1882A6282942}"/>
              </a:ext>
            </a:extLst>
          </p:cNvPr>
          <p:cNvSpPr txBox="1"/>
          <p:nvPr/>
        </p:nvSpPr>
        <p:spPr>
          <a:xfrm>
            <a:off x="2476500" y="2819400"/>
            <a:ext cx="558800" cy="461665"/>
          </a:xfrm>
          <a:prstGeom prst="rect">
            <a:avLst/>
          </a:prstGeom>
          <a:noFill/>
        </p:spPr>
        <p:txBody>
          <a:bodyPr vert="horz" wrap="square" lIns="0" tIns="0" rIns="0" bIns="0" rtlCol="0">
            <a:spAutoFit/>
          </a:bodyPr>
          <a:lstStyle/>
          <a:p>
            <a:pPr algn="ctr"/>
            <a:r>
              <a:rPr lang="en-US" sz="3000" b="1">
                <a:solidFill>
                  <a:srgbClr val="5A6470"/>
                </a:solidFill>
                <a:latin typeface="Segoe UI" panose="020B0502040204020203" pitchFamily="34" charset="0"/>
              </a:rPr>
              <a:t>&gt;</a:t>
            </a:r>
          </a:p>
        </p:txBody>
      </p:sp>
      <p:sp>
        <p:nvSpPr>
          <p:cNvPr id="15" name="TextBox 14">
            <a:extLst>
              <a:ext uri="{FF2B5EF4-FFF2-40B4-BE49-F238E27FC236}">
                <a16:creationId xmlns:a16="http://schemas.microsoft.com/office/drawing/2014/main" id="{8ADC1AFB-84B2-71F5-4D77-9F5270F4240C}"/>
              </a:ext>
            </a:extLst>
          </p:cNvPr>
          <p:cNvSpPr txBox="1"/>
          <p:nvPr/>
        </p:nvSpPr>
        <p:spPr>
          <a:xfrm>
            <a:off x="5270500" y="2819400"/>
            <a:ext cx="558800" cy="461665"/>
          </a:xfrm>
          <a:prstGeom prst="rect">
            <a:avLst/>
          </a:prstGeom>
          <a:noFill/>
        </p:spPr>
        <p:txBody>
          <a:bodyPr vert="horz" wrap="square" lIns="0" tIns="0" rIns="0" bIns="0" rtlCol="0">
            <a:spAutoFit/>
          </a:bodyPr>
          <a:lstStyle/>
          <a:p>
            <a:pPr algn="ctr"/>
            <a:r>
              <a:rPr lang="en-US" sz="3000" b="1">
                <a:solidFill>
                  <a:srgbClr val="5A6470"/>
                </a:solidFill>
                <a:latin typeface="Segoe UI" panose="020B0502040204020203" pitchFamily="34" charset="0"/>
              </a:rPr>
              <a:t>&gt;</a:t>
            </a:r>
          </a:p>
        </p:txBody>
      </p:sp>
      <p:sp>
        <p:nvSpPr>
          <p:cNvPr id="16" name="TextBox 15">
            <a:extLst>
              <a:ext uri="{FF2B5EF4-FFF2-40B4-BE49-F238E27FC236}">
                <a16:creationId xmlns:a16="http://schemas.microsoft.com/office/drawing/2014/main" id="{9E5E83E4-EC5D-EDD7-DAF7-E84FE144BA70}"/>
              </a:ext>
            </a:extLst>
          </p:cNvPr>
          <p:cNvSpPr txBox="1"/>
          <p:nvPr/>
        </p:nvSpPr>
        <p:spPr>
          <a:xfrm>
            <a:off x="7810500" y="2819400"/>
            <a:ext cx="558800" cy="461665"/>
          </a:xfrm>
          <a:prstGeom prst="rect">
            <a:avLst/>
          </a:prstGeom>
          <a:noFill/>
        </p:spPr>
        <p:txBody>
          <a:bodyPr vert="horz" wrap="square" lIns="0" tIns="0" rIns="0" bIns="0" rtlCol="0">
            <a:spAutoFit/>
          </a:bodyPr>
          <a:lstStyle/>
          <a:p>
            <a:pPr algn="ctr"/>
            <a:r>
              <a:rPr lang="en-US" sz="3000" b="1">
                <a:solidFill>
                  <a:srgbClr val="5A6470"/>
                </a:solidFill>
                <a:latin typeface="Segoe UI" panose="020B0502040204020203" pitchFamily="34" charset="0"/>
              </a:rPr>
              <a:t>&gt;</a:t>
            </a:r>
          </a:p>
        </p:txBody>
      </p:sp>
      <p:sp>
        <p:nvSpPr>
          <p:cNvPr id="17" name="TextBox 16">
            <a:extLst>
              <a:ext uri="{FF2B5EF4-FFF2-40B4-BE49-F238E27FC236}">
                <a16:creationId xmlns:a16="http://schemas.microsoft.com/office/drawing/2014/main" id="{257C4978-F934-DF73-4990-3CE003476D5B}"/>
              </a:ext>
            </a:extLst>
          </p:cNvPr>
          <p:cNvSpPr txBox="1"/>
          <p:nvPr/>
        </p:nvSpPr>
        <p:spPr>
          <a:xfrm>
            <a:off x="685800" y="3937000"/>
            <a:ext cx="10795000" cy="1241365"/>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600">
                <a:solidFill>
                  <a:srgbClr val="1B1B1B"/>
                </a:solidFill>
                <a:latin typeface="Segoe UI" panose="020B0502040204020203" pitchFamily="34" charset="0"/>
              </a:rPr>
              <a:t>Zero-copy removes the large host-side CPU copy at the transport boundary</a:t>
            </a:r>
          </a:p>
          <a:p>
            <a:pPr marL="342900" indent="-342900">
              <a:spcAft>
                <a:spcPts val="1000"/>
              </a:spcAft>
              <a:buClr>
                <a:srgbClr val="03B585"/>
              </a:buClr>
              <a:buFont typeface="+mj-lt"/>
              <a:buChar char="•"/>
            </a:pPr>
            <a:r>
              <a:rPr lang="en-US" sz="1600">
                <a:solidFill>
                  <a:srgbClr val="1B1B1B"/>
                </a:solidFill>
                <a:latin typeface="Segoe UI" panose="020B0502040204020203" pitchFamily="34" charset="0"/>
              </a:rPr>
              <a:t>gRPC-Direct zero-copy still performs one small device-side realign copy where required; DAQiri buffers are already aligned</a:t>
            </a:r>
          </a:p>
          <a:p>
            <a:pPr marL="342900" indent="-342900">
              <a:spcAft>
                <a:spcPts val="1000"/>
              </a:spcAft>
              <a:buClr>
                <a:srgbClr val="03B585"/>
              </a:buClr>
              <a:buFont typeface="+mj-lt"/>
              <a:buChar char="•"/>
            </a:pPr>
            <a:r>
              <a:rPr lang="en-US" sz="1600">
                <a:solidFill>
                  <a:srgbClr val="1B1B1B"/>
                </a:solidFill>
                <a:latin typeface="Segoe UI" panose="020B0502040204020203" pitchFamily="34" charset="0"/>
              </a:rPr>
              <a:t>Both pipelines are paced identically so the GPU sees the same duty cycle (clock-fair comparison)</a:t>
            </a:r>
          </a:p>
        </p:txBody>
      </p:sp>
      <p:sp>
        <p:nvSpPr>
          <p:cNvPr id="18" name="TextBox 17">
            <a:extLst>
              <a:ext uri="{FF2B5EF4-FFF2-40B4-BE49-F238E27FC236}">
                <a16:creationId xmlns:a16="http://schemas.microsoft.com/office/drawing/2014/main" id="{8185F32D-5D1C-EED7-5FE6-64D39CA8BE6F}"/>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Timing window for p50 excludes transport receive; it spans H2D transfer through FFT completion.</a:t>
            </a:r>
          </a:p>
        </p:txBody>
      </p:sp>
    </p:spTree>
    <p:extLst>
      <p:ext uri="{BB962C8B-B14F-4D97-AF65-F5344CB8AC3E}">
        <p14:creationId xmlns:p14="http://schemas.microsoft.com/office/powerpoint/2010/main" val="4096690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4CFDC9-6BBE-9373-45DD-31837B0669FD}"/>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818699A-C640-D048-9469-9882004A0913}"/>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MIL-STD TEST SETUP</a:t>
            </a:r>
          </a:p>
        </p:txBody>
      </p:sp>
      <p:sp>
        <p:nvSpPr>
          <p:cNvPr id="4" name="TextBox 3">
            <a:extLst>
              <a:ext uri="{FF2B5EF4-FFF2-40B4-BE49-F238E27FC236}">
                <a16:creationId xmlns:a16="http://schemas.microsoft.com/office/drawing/2014/main" id="{9ABA2914-CB3F-7ADE-B372-CBCCD2E0F48D}"/>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Test Configuration</a:t>
            </a:r>
          </a:p>
        </p:txBody>
      </p:sp>
      <p:sp>
        <p:nvSpPr>
          <p:cNvPr id="5" name="Rectangle 4">
            <a:extLst>
              <a:ext uri="{FF2B5EF4-FFF2-40B4-BE49-F238E27FC236}">
                <a16:creationId xmlns:a16="http://schemas.microsoft.com/office/drawing/2014/main" id="{3DB1F929-ADDD-EE59-4C31-1DB20D88448B}"/>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C7A32213-D901-ADB6-B489-B5BF4C429BD7}"/>
              </a:ext>
            </a:extLst>
          </p:cNvPr>
          <p:cNvGraphicFramePr>
            <a:graphicFrameLocks noGrp="1"/>
          </p:cNvGraphicFramePr>
          <p:nvPr>
            <p:extLst>
              <p:ext uri="{D42A27DB-BD31-4B8C-83A1-F6EECF244321}">
                <p14:modId xmlns:p14="http://schemas.microsoft.com/office/powerpoint/2010/main" val="213002675"/>
              </p:ext>
            </p:extLst>
          </p:nvPr>
        </p:nvGraphicFramePr>
        <p:xfrm>
          <a:off x="685800" y="1549400"/>
          <a:ext cx="10795000" cy="3810000"/>
        </p:xfrm>
        <a:graphic>
          <a:graphicData uri="http://schemas.openxmlformats.org/drawingml/2006/table">
            <a:tbl>
              <a:tblPr firstRow="1" bandRow="1">
                <a:tableStyleId>{5C22544A-7EE6-4342-B048-85BDC9FD1C3A}</a:tableStyleId>
              </a:tblPr>
              <a:tblGrid>
                <a:gridCol w="5397500">
                  <a:extLst>
                    <a:ext uri="{9D8B030D-6E8A-4147-A177-3AD203B41FA5}">
                      <a16:colId xmlns:a16="http://schemas.microsoft.com/office/drawing/2014/main" val="1080148110"/>
                    </a:ext>
                  </a:extLst>
                </a:gridCol>
                <a:gridCol w="5397500">
                  <a:extLst>
                    <a:ext uri="{9D8B030D-6E8A-4147-A177-3AD203B41FA5}">
                      <a16:colId xmlns:a16="http://schemas.microsoft.com/office/drawing/2014/main" val="3829565315"/>
                    </a:ext>
                  </a:extLst>
                </a:gridCol>
              </a:tblGrid>
              <a:tr h="476250">
                <a:tc>
                  <a:txBody>
                    <a:bodyPr/>
                    <a:lstStyle/>
                    <a:p>
                      <a:r>
                        <a:rPr lang="en-US" sz="1200" b="1">
                          <a:solidFill>
                            <a:srgbClr val="FFFFFF"/>
                          </a:solidFill>
                          <a:latin typeface="Segoe UI" panose="020B0502040204020203" pitchFamily="34" charset="0"/>
                        </a:rPr>
                        <a:t>Item</a:t>
                      </a:r>
                    </a:p>
                  </a:txBody>
                  <a:tcPr marT="38100" marB="38100">
                    <a:solidFill>
                      <a:srgbClr val="03B585"/>
                    </a:solidFill>
                  </a:tcPr>
                </a:tc>
                <a:tc>
                  <a:txBody>
                    <a:bodyPr/>
                    <a:lstStyle/>
                    <a:p>
                      <a:r>
                        <a:rPr lang="en-US" sz="1200" b="1">
                          <a:solidFill>
                            <a:srgbClr val="FFFFFF"/>
                          </a:solidFill>
                          <a:latin typeface="Segoe UI" panose="020B0502040204020203" pitchFamily="34" charset="0"/>
                        </a:rPr>
                        <a:t>Configuration</a:t>
                      </a:r>
                    </a:p>
                  </a:txBody>
                  <a:tcPr marT="38100" marB="38100">
                    <a:solidFill>
                      <a:srgbClr val="03B585"/>
                    </a:solidFill>
                  </a:tcPr>
                </a:tc>
                <a:extLst>
                  <a:ext uri="{0D108BD9-81ED-4DB2-BD59-A6C34878D82A}">
                    <a16:rowId xmlns:a16="http://schemas.microsoft.com/office/drawing/2014/main" val="3411111502"/>
                  </a:ext>
                </a:extLst>
              </a:tr>
              <a:tr h="476250">
                <a:tc>
                  <a:txBody>
                    <a:bodyPr/>
                    <a:lstStyle/>
                    <a:p>
                      <a:r>
                        <a:rPr lang="en-US" sz="1200">
                          <a:solidFill>
                            <a:srgbClr val="1B1B1B"/>
                          </a:solidFill>
                          <a:latin typeface="Segoe UI" panose="020B0502040204020203" pitchFamily="34" charset="0"/>
                        </a:rPr>
                        <a:t>Compute node</a:t>
                      </a:r>
                    </a:p>
                  </a:txBody>
                  <a:tcPr marT="38100" marB="38100">
                    <a:solidFill>
                      <a:srgbClr val="FFFFFF"/>
                    </a:solidFill>
                  </a:tcPr>
                </a:tc>
                <a:tc>
                  <a:txBody>
                    <a:bodyPr/>
                    <a:lstStyle/>
                    <a:p>
                      <a:r>
                        <a:rPr lang="en-US" sz="1200">
                          <a:solidFill>
                            <a:srgbClr val="1B1B1B"/>
                          </a:solidFill>
                          <a:latin typeface="Segoe UI" panose="020B0502040204020203" pitchFamily="34" charset="0"/>
                        </a:rPr>
                        <a:t>NVIDIA DGX Spark (spark-ac69), Grace-Blackwell GB10, unified memory</a:t>
                      </a:r>
                    </a:p>
                  </a:txBody>
                  <a:tcPr marT="38100" marB="38100">
                    <a:solidFill>
                      <a:srgbClr val="FFFFFF"/>
                    </a:solidFill>
                  </a:tcPr>
                </a:tc>
                <a:extLst>
                  <a:ext uri="{0D108BD9-81ED-4DB2-BD59-A6C34878D82A}">
                    <a16:rowId xmlns:a16="http://schemas.microsoft.com/office/drawing/2014/main" val="1904924870"/>
                  </a:ext>
                </a:extLst>
              </a:tr>
              <a:tr h="476250">
                <a:tc>
                  <a:txBody>
                    <a:bodyPr/>
                    <a:lstStyle/>
                    <a:p>
                      <a:r>
                        <a:rPr lang="en-US" sz="1200">
                          <a:solidFill>
                            <a:srgbClr val="1B1B1B"/>
                          </a:solidFill>
                          <a:latin typeface="Segoe UI" panose="020B0502040204020203" pitchFamily="34" charset="0"/>
                        </a:rPr>
                        <a:t>Second node</a:t>
                      </a:r>
                    </a:p>
                  </a:txBody>
                  <a:tcPr marT="38100" marB="38100">
                    <a:solidFill>
                      <a:srgbClr val="FFFFFF"/>
                    </a:solidFill>
                  </a:tcPr>
                </a:tc>
                <a:tc>
                  <a:txBody>
                    <a:bodyPr/>
                    <a:lstStyle/>
                    <a:p>
                      <a:r>
                        <a:rPr lang="fr-FR" sz="1200">
                          <a:solidFill>
                            <a:srgbClr val="1B1B1B"/>
                          </a:solidFill>
                          <a:latin typeface="Segoe UI" panose="020B0502040204020203" pitchFamily="34" charset="0"/>
                        </a:rPr>
                        <a:t>NI PXIe-8881, x86_64, NI Linux Real-Time</a:t>
                      </a:r>
                      <a:endParaRPr lang="en-US" sz="1200">
                        <a:solidFill>
                          <a:srgbClr val="1B1B1B"/>
                        </a:solidFill>
                        <a:latin typeface="Segoe UI" panose="020B0502040204020203" pitchFamily="34" charset="0"/>
                      </a:endParaRPr>
                    </a:p>
                  </a:txBody>
                  <a:tcPr marT="38100" marB="38100">
                    <a:solidFill>
                      <a:srgbClr val="FFFFFF"/>
                    </a:solidFill>
                  </a:tcPr>
                </a:tc>
                <a:extLst>
                  <a:ext uri="{0D108BD9-81ED-4DB2-BD59-A6C34878D82A}">
                    <a16:rowId xmlns:a16="http://schemas.microsoft.com/office/drawing/2014/main" val="254393855"/>
                  </a:ext>
                </a:extLst>
              </a:tr>
              <a:tr h="476250">
                <a:tc>
                  <a:txBody>
                    <a:bodyPr/>
                    <a:lstStyle/>
                    <a:p>
                      <a:r>
                        <a:rPr lang="en-US" sz="1200">
                          <a:solidFill>
                            <a:srgbClr val="1B1B1B"/>
                          </a:solidFill>
                          <a:latin typeface="Segoe UI" panose="020B0502040204020203" pitchFamily="34" charset="0"/>
                        </a:rPr>
                        <a:t>Interconnect</a:t>
                      </a:r>
                    </a:p>
                  </a:txBody>
                  <a:tcPr marT="38100" marB="38100">
                    <a:solidFill>
                      <a:srgbClr val="FFFFFF"/>
                    </a:solidFill>
                  </a:tcPr>
                </a:tc>
                <a:tc>
                  <a:txBody>
                    <a:bodyPr/>
                    <a:lstStyle/>
                    <a:p>
                      <a:r>
                        <a:rPr lang="en-US" sz="1200">
                          <a:solidFill>
                            <a:srgbClr val="1B1B1B"/>
                          </a:solidFill>
                          <a:latin typeface="Segoe UI" panose="020B0502040204020203" pitchFamily="34" charset="0"/>
                        </a:rPr>
                        <a:t>50G RoCE dedicated link + 10G L2 management network</a:t>
                      </a:r>
                    </a:p>
                  </a:txBody>
                  <a:tcPr marT="38100" marB="38100">
                    <a:solidFill>
                      <a:srgbClr val="FFFFFF"/>
                    </a:solidFill>
                  </a:tcPr>
                </a:tc>
                <a:extLst>
                  <a:ext uri="{0D108BD9-81ED-4DB2-BD59-A6C34878D82A}">
                    <a16:rowId xmlns:a16="http://schemas.microsoft.com/office/drawing/2014/main" val="4271268285"/>
                  </a:ext>
                </a:extLst>
              </a:tr>
              <a:tr h="476250">
                <a:tc>
                  <a:txBody>
                    <a:bodyPr/>
                    <a:lstStyle/>
                    <a:p>
                      <a:r>
                        <a:rPr lang="en-US" sz="1200">
                          <a:solidFill>
                            <a:srgbClr val="1B1B1B"/>
                          </a:solidFill>
                          <a:latin typeface="Segoe UI" panose="020B0502040204020203" pitchFamily="34" charset="0"/>
                        </a:rPr>
                        <a:t>GPU / FFT</a:t>
                      </a:r>
                    </a:p>
                  </a:txBody>
                  <a:tcPr marT="38100" marB="38100">
                    <a:solidFill>
                      <a:srgbClr val="FFFFFF"/>
                    </a:solidFill>
                  </a:tcPr>
                </a:tc>
                <a:tc>
                  <a:txBody>
                    <a:bodyPr/>
                    <a:lstStyle/>
                    <a:p>
                      <a:r>
                        <a:rPr lang="en-US" sz="1200">
                          <a:solidFill>
                            <a:srgbClr val="1B1B1B"/>
                          </a:solidFill>
                          <a:latin typeface="Segoe UI" panose="020B0502040204020203" pitchFamily="34" charset="0"/>
                        </a:rPr>
                        <a:t>cuFFT R2C, CUDA 13; 16-byte-aligned input</a:t>
                      </a:r>
                    </a:p>
                  </a:txBody>
                  <a:tcPr marT="38100" marB="38100">
                    <a:solidFill>
                      <a:srgbClr val="FFFFFF"/>
                    </a:solidFill>
                  </a:tcPr>
                </a:tc>
                <a:extLst>
                  <a:ext uri="{0D108BD9-81ED-4DB2-BD59-A6C34878D82A}">
                    <a16:rowId xmlns:a16="http://schemas.microsoft.com/office/drawing/2014/main" val="672608122"/>
                  </a:ext>
                </a:extLst>
              </a:tr>
              <a:tr h="476250">
                <a:tc>
                  <a:txBody>
                    <a:bodyPr/>
                    <a:lstStyle/>
                    <a:p>
                      <a:r>
                        <a:rPr lang="en-US" sz="1200">
                          <a:solidFill>
                            <a:srgbClr val="1B1B1B"/>
                          </a:solidFill>
                          <a:latin typeface="Segoe UI" panose="020B0502040204020203" pitchFamily="34" charset="0"/>
                        </a:rPr>
                        <a:t>Signal</a:t>
                      </a:r>
                    </a:p>
                  </a:txBody>
                  <a:tcPr marT="38100" marB="38100">
                    <a:solidFill>
                      <a:srgbClr val="FFFFFF"/>
                    </a:solidFill>
                  </a:tcPr>
                </a:tc>
                <a:tc>
                  <a:txBody>
                    <a:bodyPr/>
                    <a:lstStyle/>
                    <a:p>
                      <a:r>
                        <a:rPr lang="en-US" sz="1200">
                          <a:solidFill>
                            <a:srgbClr val="1B1B1B"/>
                          </a:solidFill>
                          <a:latin typeface="Segoe UI" panose="020B0502040204020203" pitchFamily="34" charset="0"/>
                        </a:rPr>
                        <a:t>Sum of sines (500/1200/2500 Hz) + noise, 1 MHz sample rate</a:t>
                      </a:r>
                    </a:p>
                  </a:txBody>
                  <a:tcPr marT="38100" marB="38100">
                    <a:solidFill>
                      <a:srgbClr val="FFFFFF"/>
                    </a:solidFill>
                  </a:tcPr>
                </a:tc>
                <a:extLst>
                  <a:ext uri="{0D108BD9-81ED-4DB2-BD59-A6C34878D82A}">
                    <a16:rowId xmlns:a16="http://schemas.microsoft.com/office/drawing/2014/main" val="3086126768"/>
                  </a:ext>
                </a:extLst>
              </a:tr>
              <a:tr h="476250">
                <a:tc>
                  <a:txBody>
                    <a:bodyPr/>
                    <a:lstStyle/>
                    <a:p>
                      <a:r>
                        <a:rPr lang="en-US" sz="1200">
                          <a:solidFill>
                            <a:srgbClr val="1B1B1B"/>
                          </a:solidFill>
                          <a:latin typeface="Segoe UI" panose="020B0502040204020203" pitchFamily="34" charset="0"/>
                        </a:rPr>
                        <a:t>Transports</a:t>
                      </a:r>
                    </a:p>
                  </a:txBody>
                  <a:tcPr marT="38100" marB="38100">
                    <a:solidFill>
                      <a:srgbClr val="FFFFFF"/>
                    </a:solidFill>
                  </a:tcPr>
                </a:tc>
                <a:tc>
                  <a:txBody>
                    <a:bodyPr/>
                    <a:lstStyle/>
                    <a:p>
                      <a:r>
                        <a:rPr lang="en-US" sz="1200">
                          <a:solidFill>
                            <a:srgbClr val="1B1B1B"/>
                          </a:solidFill>
                          <a:latin typeface="Segoe UI" panose="020B0502040204020203" pitchFamily="34" charset="0"/>
                        </a:rPr>
                        <a:t>standard gRPC, gRPC-Direct shmem / TCP-LL / RDMA, DAQiri socket</a:t>
                      </a:r>
                    </a:p>
                  </a:txBody>
                  <a:tcPr marT="38100" marB="38100">
                    <a:solidFill>
                      <a:srgbClr val="FFFFFF"/>
                    </a:solidFill>
                  </a:tcPr>
                </a:tc>
                <a:extLst>
                  <a:ext uri="{0D108BD9-81ED-4DB2-BD59-A6C34878D82A}">
                    <a16:rowId xmlns:a16="http://schemas.microsoft.com/office/drawing/2014/main" val="1921056855"/>
                  </a:ext>
                </a:extLst>
              </a:tr>
              <a:tr h="476250">
                <a:tc>
                  <a:txBody>
                    <a:bodyPr/>
                    <a:lstStyle/>
                    <a:p>
                      <a:r>
                        <a:rPr lang="en-US" sz="1200">
                          <a:solidFill>
                            <a:srgbClr val="1B1B1B"/>
                          </a:solidFill>
                          <a:latin typeface="Segoe UI" panose="020B0502040204020203" pitchFamily="34" charset="0"/>
                        </a:rPr>
                        <a:t>Payloads</a:t>
                      </a:r>
                    </a:p>
                  </a:txBody>
                  <a:tcPr marT="38100" marB="38100">
                    <a:solidFill>
                      <a:srgbClr val="FFFFFF"/>
                    </a:solidFill>
                  </a:tcPr>
                </a:tc>
                <a:tc>
                  <a:txBody>
                    <a:bodyPr/>
                    <a:lstStyle/>
                    <a:p>
                      <a:r>
                        <a:rPr lang="nn-NO" sz="1200">
                          <a:solidFill>
                            <a:srgbClr val="1B1B1B"/>
                          </a:solidFill>
                          <a:latin typeface="Segoe UI" panose="020B0502040204020203" pitchFamily="34" charset="0"/>
                        </a:rPr>
                        <a:t>4K/8K/16K/32K samples = 16 / 32 / 64 / 128 KB</a:t>
                      </a:r>
                      <a:endParaRPr lang="en-US" sz="1200">
                        <a:solidFill>
                          <a:srgbClr val="1B1B1B"/>
                        </a:solidFill>
                        <a:latin typeface="Segoe UI" panose="020B0502040204020203" pitchFamily="34" charset="0"/>
                      </a:endParaRPr>
                    </a:p>
                  </a:txBody>
                  <a:tcPr marT="38100" marB="38100">
                    <a:solidFill>
                      <a:srgbClr val="FFFFFF"/>
                    </a:solidFill>
                  </a:tcPr>
                </a:tc>
                <a:extLst>
                  <a:ext uri="{0D108BD9-81ED-4DB2-BD59-A6C34878D82A}">
                    <a16:rowId xmlns:a16="http://schemas.microsoft.com/office/drawing/2014/main" val="854531543"/>
                  </a:ext>
                </a:extLst>
              </a:tr>
            </a:tbl>
          </a:graphicData>
        </a:graphic>
      </p:graphicFrame>
      <p:sp>
        <p:nvSpPr>
          <p:cNvPr id="7" name="TextBox 6">
            <a:extLst>
              <a:ext uri="{FF2B5EF4-FFF2-40B4-BE49-F238E27FC236}">
                <a16:creationId xmlns:a16="http://schemas.microsoft.com/office/drawing/2014/main" id="{3B1A048E-B8BF-D6AC-63A0-04154A1C0457}"/>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GPU clocks are not lockable on this platform (&gt;10x DVFS swing); addressed by pacing (see methodology).</a:t>
            </a:r>
          </a:p>
        </p:txBody>
      </p:sp>
    </p:spTree>
    <p:extLst>
      <p:ext uri="{BB962C8B-B14F-4D97-AF65-F5344CB8AC3E}">
        <p14:creationId xmlns:p14="http://schemas.microsoft.com/office/powerpoint/2010/main" val="2732468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1A9EDE-C0EB-3CAF-EA58-F945774E100D}"/>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23D8458-4336-F9F3-6F64-5D663C90AE81}"/>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METHOD</a:t>
            </a:r>
          </a:p>
        </p:txBody>
      </p:sp>
      <p:sp>
        <p:nvSpPr>
          <p:cNvPr id="4" name="TextBox 3">
            <a:extLst>
              <a:ext uri="{FF2B5EF4-FFF2-40B4-BE49-F238E27FC236}">
                <a16:creationId xmlns:a16="http://schemas.microsoft.com/office/drawing/2014/main" id="{78427AAC-A78C-5F93-B62A-BEE5B35F70EE}"/>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Measurement Methodology (Airtight A/B)</a:t>
            </a:r>
          </a:p>
        </p:txBody>
      </p:sp>
      <p:sp>
        <p:nvSpPr>
          <p:cNvPr id="5" name="Rectangle 4">
            <a:extLst>
              <a:ext uri="{FF2B5EF4-FFF2-40B4-BE49-F238E27FC236}">
                <a16:creationId xmlns:a16="http://schemas.microsoft.com/office/drawing/2014/main" id="{0F63E9BD-EB54-D97C-36FF-7B51254BCE84}"/>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E741F43-271D-1D3D-EEAE-4B94EEDF7717}"/>
              </a:ext>
            </a:extLst>
          </p:cNvPr>
          <p:cNvSpPr txBox="1"/>
          <p:nvPr/>
        </p:nvSpPr>
        <p:spPr>
          <a:xfrm>
            <a:off x="685800" y="1651000"/>
            <a:ext cx="10795000" cy="2210862"/>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Matched-pair design: both pipelines run the identical workload and payload sweep</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Identical pacing at 400 microseconds per buffer to neutralize GPU frequency scaling (DVFS)</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On-GPU FFT execution time used as a clock-match probe; near-equal FFT p50 confirms fair clocks</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1000 measured buffers per run, 100 warmup discarded, 5 trials per cell</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Report the median-of-trials of each per-run p50; latency and delivery reported separately</a:t>
            </a:r>
          </a:p>
          <a:p>
            <a:pPr marL="342900" indent="-342900">
              <a:spcAft>
                <a:spcPts val="1000"/>
              </a:spcAft>
              <a:buClr>
                <a:srgbClr val="03B585"/>
              </a:buClr>
              <a:buFont typeface="+mj-lt"/>
              <a:buChar char="•"/>
            </a:pPr>
            <a:r>
              <a:rPr lang="en-US" sz="1700">
                <a:solidFill>
                  <a:srgbClr val="1B1B1B"/>
                </a:solidFill>
                <a:latin typeface="Segoe UI" panose="020B0502040204020203" pitchFamily="34" charset="0"/>
              </a:rPr>
              <a:t>CPU pinning applied; server processes isolated to avoid scheduler cross-talk</a:t>
            </a:r>
          </a:p>
        </p:txBody>
      </p:sp>
      <p:sp>
        <p:nvSpPr>
          <p:cNvPr id="7" name="TextBox 6">
            <a:extLst>
              <a:ext uri="{FF2B5EF4-FFF2-40B4-BE49-F238E27FC236}">
                <a16:creationId xmlns:a16="http://schemas.microsoft.com/office/drawing/2014/main" id="{53D0DD36-7FF9-56CE-7727-2C687AAA3F17}"/>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Rationale: clocks cannot be locked, so pacing equalizes duty cycle and FFT time verifies the match.</a:t>
            </a:r>
          </a:p>
        </p:txBody>
      </p:sp>
    </p:spTree>
    <p:extLst>
      <p:ext uri="{BB962C8B-B14F-4D97-AF65-F5344CB8AC3E}">
        <p14:creationId xmlns:p14="http://schemas.microsoft.com/office/powerpoint/2010/main" val="2077543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B656F3-E0C8-6BAC-68EB-A0B840AD887B}"/>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3F23E55-6ECE-F18C-1219-44CD6E741B7F}"/>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RESULTS / TRANSPORT</a:t>
            </a:r>
          </a:p>
        </p:txBody>
      </p:sp>
      <p:sp>
        <p:nvSpPr>
          <p:cNvPr id="4" name="TextBox 3">
            <a:extLst>
              <a:ext uri="{FF2B5EF4-FFF2-40B4-BE49-F238E27FC236}">
                <a16:creationId xmlns:a16="http://schemas.microsoft.com/office/drawing/2014/main" id="{4C54E7BF-C29D-1211-421E-51F7530231DA}"/>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Phase 1 - Small-Payload Latency</a:t>
            </a:r>
          </a:p>
        </p:txBody>
      </p:sp>
      <p:sp>
        <p:nvSpPr>
          <p:cNvPr id="5" name="Rectangle 4">
            <a:extLst>
              <a:ext uri="{FF2B5EF4-FFF2-40B4-BE49-F238E27FC236}">
                <a16:creationId xmlns:a16="http://schemas.microsoft.com/office/drawing/2014/main" id="{4570BFC1-344F-C47B-73F4-17F687ACA917}"/>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7812AFD-4E92-4207-1269-504C24C97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980096"/>
            <a:ext cx="7112000" cy="3863008"/>
          </a:xfrm>
          <a:prstGeom prst="rect">
            <a:avLst/>
          </a:prstGeom>
        </p:spPr>
      </p:pic>
      <p:sp>
        <p:nvSpPr>
          <p:cNvPr id="8" name="TextBox 7">
            <a:extLst>
              <a:ext uri="{FF2B5EF4-FFF2-40B4-BE49-F238E27FC236}">
                <a16:creationId xmlns:a16="http://schemas.microsoft.com/office/drawing/2014/main" id="{97C0A0CA-6F4B-C873-A761-BFD6CBF9B70D}"/>
              </a:ext>
            </a:extLst>
          </p:cNvPr>
          <p:cNvSpPr txBox="1"/>
          <p:nvPr/>
        </p:nvSpPr>
        <p:spPr>
          <a:xfrm>
            <a:off x="7874000" y="1905000"/>
            <a:ext cx="3810000" cy="1897955"/>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Standard gRPC baseline ~1,000 us (p50)</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shmem: 3.3 us  = 281x faster</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TCP low-latency: 21.2 us = 44x</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RDMA (50G): 36.8 us = 29x</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Same gRPC API; only the transport changes</a:t>
            </a:r>
          </a:p>
        </p:txBody>
      </p:sp>
      <p:sp>
        <p:nvSpPr>
          <p:cNvPr id="9" name="TextBox 8">
            <a:extLst>
              <a:ext uri="{FF2B5EF4-FFF2-40B4-BE49-F238E27FC236}">
                <a16:creationId xmlns:a16="http://schemas.microsoft.com/office/drawing/2014/main" id="{29838426-A040-A37D-63A3-37526351B32F}"/>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Echo round-trip p50, C++ interceptor path.</a:t>
            </a:r>
          </a:p>
        </p:txBody>
      </p:sp>
    </p:spTree>
    <p:extLst>
      <p:ext uri="{BB962C8B-B14F-4D97-AF65-F5344CB8AC3E}">
        <p14:creationId xmlns:p14="http://schemas.microsoft.com/office/powerpoint/2010/main" val="1003200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9E39D6-BDD8-1B6B-586D-64EB0619E49B}"/>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B1FFEEE-002D-33CE-AADD-96622F75742F}"/>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RESULTS / TRANSPORT</a:t>
            </a:r>
          </a:p>
        </p:txBody>
      </p:sp>
      <p:sp>
        <p:nvSpPr>
          <p:cNvPr id="4" name="TextBox 3">
            <a:extLst>
              <a:ext uri="{FF2B5EF4-FFF2-40B4-BE49-F238E27FC236}">
                <a16:creationId xmlns:a16="http://schemas.microsoft.com/office/drawing/2014/main" id="{D5EEB7F0-9C30-39B0-AC3E-6BCD919DE265}"/>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Phase 1 - Zero-Copy Streaming Throughput</a:t>
            </a:r>
          </a:p>
        </p:txBody>
      </p:sp>
      <p:sp>
        <p:nvSpPr>
          <p:cNvPr id="5" name="Rectangle 4">
            <a:extLst>
              <a:ext uri="{FF2B5EF4-FFF2-40B4-BE49-F238E27FC236}">
                <a16:creationId xmlns:a16="http://schemas.microsoft.com/office/drawing/2014/main" id="{BC0D5C8F-3AA4-82FA-24AC-C5C6A566DF7C}"/>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3A0D0A9-F715-40E0-8E9F-6D817B85F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751200"/>
            <a:ext cx="6604000" cy="4320799"/>
          </a:xfrm>
          <a:prstGeom prst="rect">
            <a:avLst/>
          </a:prstGeom>
        </p:spPr>
      </p:pic>
      <p:sp>
        <p:nvSpPr>
          <p:cNvPr id="8" name="TextBox 7">
            <a:extLst>
              <a:ext uri="{FF2B5EF4-FFF2-40B4-BE49-F238E27FC236}">
                <a16:creationId xmlns:a16="http://schemas.microsoft.com/office/drawing/2014/main" id="{1DBC2480-4178-A3E2-9139-EF9A47144898}"/>
              </a:ext>
            </a:extLst>
          </p:cNvPr>
          <p:cNvSpPr txBox="1"/>
          <p:nvPr/>
        </p:nvSpPr>
        <p:spPr>
          <a:xfrm>
            <a:off x="7493000" y="2032000"/>
            <a:ext cx="4191000" cy="2000548"/>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Standard gRPC copy path: 1.78 GB/s</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gRPC-Direct shmem zero-copy: 23.59 GB/s</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3.9x gain from removing two heap copies per message</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Zero-copy effective in C++ (loan buffer + in-place serialization); Python retains a residual copy</a:t>
            </a:r>
          </a:p>
        </p:txBody>
      </p:sp>
      <p:sp>
        <p:nvSpPr>
          <p:cNvPr id="9" name="TextBox 8">
            <a:extLst>
              <a:ext uri="{FF2B5EF4-FFF2-40B4-BE49-F238E27FC236}">
                <a16:creationId xmlns:a16="http://schemas.microsoft.com/office/drawing/2014/main" id="{7831F4DF-85BB-9625-41BE-D2EBA7EE8D34}"/>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ReadContinuously streaming, steady state.</a:t>
            </a:r>
          </a:p>
        </p:txBody>
      </p:sp>
    </p:spTree>
    <p:extLst>
      <p:ext uri="{BB962C8B-B14F-4D97-AF65-F5344CB8AC3E}">
        <p14:creationId xmlns:p14="http://schemas.microsoft.com/office/powerpoint/2010/main" val="3706348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11F090-C80F-27E3-478B-4322C40CE2A8}"/>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8780934-547A-5C8F-4BF5-103741DD9655}"/>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RESULTS / TRANSPORT</a:t>
            </a:r>
          </a:p>
        </p:txBody>
      </p:sp>
      <p:sp>
        <p:nvSpPr>
          <p:cNvPr id="4" name="TextBox 3">
            <a:extLst>
              <a:ext uri="{FF2B5EF4-FFF2-40B4-BE49-F238E27FC236}">
                <a16:creationId xmlns:a16="http://schemas.microsoft.com/office/drawing/2014/main" id="{FD3385BC-6FAA-CC20-12DB-F9EAB199C0DE}"/>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Phase 1 - RDMA vs Line Rate</a:t>
            </a:r>
          </a:p>
        </p:txBody>
      </p:sp>
      <p:sp>
        <p:nvSpPr>
          <p:cNvPr id="5" name="Rectangle 4">
            <a:extLst>
              <a:ext uri="{FF2B5EF4-FFF2-40B4-BE49-F238E27FC236}">
                <a16:creationId xmlns:a16="http://schemas.microsoft.com/office/drawing/2014/main" id="{01030FB4-1004-F6C5-9B1A-702492339E51}"/>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FA5F8B0-CE9F-B6DF-4BBD-AEE778DD1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749711"/>
            <a:ext cx="6604000" cy="4323777"/>
          </a:xfrm>
          <a:prstGeom prst="rect">
            <a:avLst/>
          </a:prstGeom>
        </p:spPr>
      </p:pic>
      <p:sp>
        <p:nvSpPr>
          <p:cNvPr id="8" name="TextBox 7">
            <a:extLst>
              <a:ext uri="{FF2B5EF4-FFF2-40B4-BE49-F238E27FC236}">
                <a16:creationId xmlns:a16="http://schemas.microsoft.com/office/drawing/2014/main" id="{B9139A81-FCDF-C51A-F5A6-90460BD3A9F0}"/>
              </a:ext>
            </a:extLst>
          </p:cNvPr>
          <p:cNvSpPr txBox="1"/>
          <p:nvPr/>
        </p:nvSpPr>
        <p:spPr>
          <a:xfrm>
            <a:off x="7493000" y="2032000"/>
            <a:ext cx="4191000" cy="2821285"/>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The first run measured 5.786 GB/s and was read as a fabric limit</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It was a 1024-byte RoCE MTU, a misconfiguration, not the API</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Same link at MTU 4096: 6.127 GB/s = 98.0% of 50G line rate</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A 2-byte control did not move, which attributes the gain to the MTU</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The old DAQiri bar is removed: it was the same misconfigured fabric</a:t>
            </a:r>
          </a:p>
        </p:txBody>
      </p:sp>
      <p:sp>
        <p:nvSpPr>
          <p:cNvPr id="9" name="TextBox 8">
            <a:extLst>
              <a:ext uri="{FF2B5EF4-FFF2-40B4-BE49-F238E27FC236}">
                <a16:creationId xmlns:a16="http://schemas.microsoft.com/office/drawing/2014/main" id="{F6531BF2-60B1-6C8C-53CA-BA3A006B32B1}"/>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Raw ib_write_bw, 4 MB, PXI writing into the Spark. The DAQiri tie this slide used to assert is retracted; see handoff 7p.</a:t>
            </a:r>
          </a:p>
        </p:txBody>
      </p:sp>
    </p:spTree>
    <p:extLst>
      <p:ext uri="{BB962C8B-B14F-4D97-AF65-F5344CB8AC3E}">
        <p14:creationId xmlns:p14="http://schemas.microsoft.com/office/powerpoint/2010/main" val="851354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6B661C-D435-471F-8F77-534D6524A1B6}"/>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FBD27D8-C126-C1BB-740F-9771737B6501}"/>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RESULTS / GPU PIPELINE</a:t>
            </a:r>
          </a:p>
        </p:txBody>
      </p:sp>
      <p:sp>
        <p:nvSpPr>
          <p:cNvPr id="4" name="TextBox 3">
            <a:extLst>
              <a:ext uri="{FF2B5EF4-FFF2-40B4-BE49-F238E27FC236}">
                <a16:creationId xmlns:a16="http://schemas.microsoft.com/office/drawing/2014/main" id="{457248F7-725A-6B1C-67D5-0479153ACA9E}"/>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Phase 2 - GPU Pipeline Latency (Zero-Copy)</a:t>
            </a:r>
          </a:p>
        </p:txBody>
      </p:sp>
      <p:sp>
        <p:nvSpPr>
          <p:cNvPr id="5" name="Rectangle 4">
            <a:extLst>
              <a:ext uri="{FF2B5EF4-FFF2-40B4-BE49-F238E27FC236}">
                <a16:creationId xmlns:a16="http://schemas.microsoft.com/office/drawing/2014/main" id="{6D6C5DC2-A895-2FB2-839E-9632D3122628}"/>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FEFE328-CAD4-978A-64C1-EFEBBD99AF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914540"/>
            <a:ext cx="7366000" cy="3994121"/>
          </a:xfrm>
          <a:prstGeom prst="rect">
            <a:avLst/>
          </a:prstGeom>
        </p:spPr>
      </p:pic>
      <p:sp>
        <p:nvSpPr>
          <p:cNvPr id="8" name="TextBox 7">
            <a:extLst>
              <a:ext uri="{FF2B5EF4-FFF2-40B4-BE49-F238E27FC236}">
                <a16:creationId xmlns:a16="http://schemas.microsoft.com/office/drawing/2014/main" id="{EFF8A23A-6917-7B70-4F3A-44DC06C7121F}"/>
              </a:ext>
            </a:extLst>
          </p:cNvPr>
          <p:cNvSpPr txBox="1"/>
          <p:nvPr/>
        </p:nvSpPr>
        <p:spPr>
          <a:xfrm>
            <a:off x="8128000" y="2032000"/>
            <a:ext cx="3683000" cy="1538883"/>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DAQiri lower p50 at every payload</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Advantage: +64% (16 KB) to +27% (128 KB)</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FFT p50 matched A vs B: clocks fair</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Median of 5 trials, paced 400 us</a:t>
            </a:r>
          </a:p>
        </p:txBody>
      </p:sp>
      <p:sp>
        <p:nvSpPr>
          <p:cNvPr id="9" name="TextBox 8">
            <a:extLst>
              <a:ext uri="{FF2B5EF4-FFF2-40B4-BE49-F238E27FC236}">
                <a16:creationId xmlns:a16="http://schemas.microsoft.com/office/drawing/2014/main" id="{F8C2CDB7-93C8-BE85-3078-20DBDD62BF33}"/>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End-to-end p50; transport receive excluded from timing window.</a:t>
            </a:r>
          </a:p>
        </p:txBody>
      </p:sp>
    </p:spTree>
    <p:extLst>
      <p:ext uri="{BB962C8B-B14F-4D97-AF65-F5344CB8AC3E}">
        <p14:creationId xmlns:p14="http://schemas.microsoft.com/office/powerpoint/2010/main" val="987456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80179D-ABDA-ED6E-8D1C-14A5CAF96639}"/>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0F2FA69-F8BF-A31C-7417-30C2F291FFE5}"/>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RESULTS / GPU PIPELINE</a:t>
            </a:r>
          </a:p>
        </p:txBody>
      </p:sp>
      <p:sp>
        <p:nvSpPr>
          <p:cNvPr id="4" name="TextBox 3">
            <a:extLst>
              <a:ext uri="{FF2B5EF4-FFF2-40B4-BE49-F238E27FC236}">
                <a16:creationId xmlns:a16="http://schemas.microsoft.com/office/drawing/2014/main" id="{121323E3-5AE2-B98E-1239-21DF188288B2}"/>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Phase 2 - Removing the CPU Copy</a:t>
            </a:r>
          </a:p>
        </p:txBody>
      </p:sp>
      <p:sp>
        <p:nvSpPr>
          <p:cNvPr id="5" name="Rectangle 4">
            <a:extLst>
              <a:ext uri="{FF2B5EF4-FFF2-40B4-BE49-F238E27FC236}">
                <a16:creationId xmlns:a16="http://schemas.microsoft.com/office/drawing/2014/main" id="{E0464A29-17BA-C6C5-FA22-3EC65D8AFA2E}"/>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D75EBE8-AB59-E6FF-A493-45208C584D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919880"/>
            <a:ext cx="7366000" cy="3983439"/>
          </a:xfrm>
          <a:prstGeom prst="rect">
            <a:avLst/>
          </a:prstGeom>
        </p:spPr>
      </p:pic>
      <p:sp>
        <p:nvSpPr>
          <p:cNvPr id="8" name="TextBox 7">
            <a:extLst>
              <a:ext uri="{FF2B5EF4-FFF2-40B4-BE49-F238E27FC236}">
                <a16:creationId xmlns:a16="http://schemas.microsoft.com/office/drawing/2014/main" id="{142FB56B-ED07-DB1B-ABDD-07D5FB2B92C2}"/>
              </a:ext>
            </a:extLst>
          </p:cNvPr>
          <p:cNvSpPr txBox="1"/>
          <p:nvPr/>
        </p:nvSpPr>
        <p:spPr>
          <a:xfrm>
            <a:off x="8128000" y="2032000"/>
            <a:ext cx="3683000" cy="1538883"/>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Copy path pays ~117-131 us host staging</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Zero-copy removes the large CPU copy</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gRPC-Direct copy p50: 136-160 us</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gRPC-Direct zero-copy p50: 17-26 us</a:t>
            </a:r>
          </a:p>
        </p:txBody>
      </p:sp>
      <p:sp>
        <p:nvSpPr>
          <p:cNvPr id="9" name="TextBox 8">
            <a:extLst>
              <a:ext uri="{FF2B5EF4-FFF2-40B4-BE49-F238E27FC236}">
                <a16:creationId xmlns:a16="http://schemas.microsoft.com/office/drawing/2014/main" id="{F83FCAF1-4DE9-CB81-9C80-29B800E4C2A8}"/>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One small device-side realign copy remains in zero-copy mode.</a:t>
            </a:r>
          </a:p>
        </p:txBody>
      </p:sp>
    </p:spTree>
    <p:extLst>
      <p:ext uri="{BB962C8B-B14F-4D97-AF65-F5344CB8AC3E}">
        <p14:creationId xmlns:p14="http://schemas.microsoft.com/office/powerpoint/2010/main" val="1786297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A7FC8D-BEBB-09B2-778F-81E624C949C3}"/>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975101B-9C67-3FCB-CA93-93D4DBE2E930}"/>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RESULTS / GPU PIPELINE</a:t>
            </a:r>
          </a:p>
        </p:txBody>
      </p:sp>
      <p:sp>
        <p:nvSpPr>
          <p:cNvPr id="4" name="TextBox 3">
            <a:extLst>
              <a:ext uri="{FF2B5EF4-FFF2-40B4-BE49-F238E27FC236}">
                <a16:creationId xmlns:a16="http://schemas.microsoft.com/office/drawing/2014/main" id="{B695F8BA-C35A-4BF1-2AA1-6C571AC20532}"/>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Phase 2 - Four-Way Head-to-Head</a:t>
            </a:r>
          </a:p>
        </p:txBody>
      </p:sp>
      <p:sp>
        <p:nvSpPr>
          <p:cNvPr id="5" name="Rectangle 4">
            <a:extLst>
              <a:ext uri="{FF2B5EF4-FFF2-40B4-BE49-F238E27FC236}">
                <a16:creationId xmlns:a16="http://schemas.microsoft.com/office/drawing/2014/main" id="{BAB33187-1ADA-C231-FD32-8B690B1707AE}"/>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EA6C586-03AB-4672-8385-91208DB5F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3541" y="1498600"/>
            <a:ext cx="9404919" cy="4953000"/>
          </a:xfrm>
          <a:prstGeom prst="rect">
            <a:avLst/>
          </a:prstGeom>
        </p:spPr>
      </p:pic>
      <p:sp>
        <p:nvSpPr>
          <p:cNvPr id="8" name="TextBox 7">
            <a:extLst>
              <a:ext uri="{FF2B5EF4-FFF2-40B4-BE49-F238E27FC236}">
                <a16:creationId xmlns:a16="http://schemas.microsoft.com/office/drawing/2014/main" id="{9B79867F-007F-4432-29B5-59996079E97E}"/>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DAQiri copy is far cheaper than gRPC copy (no host staging); zero-copy narrows but DAQiri still leads.</a:t>
            </a:r>
          </a:p>
        </p:txBody>
      </p:sp>
    </p:spTree>
    <p:extLst>
      <p:ext uri="{BB962C8B-B14F-4D97-AF65-F5344CB8AC3E}">
        <p14:creationId xmlns:p14="http://schemas.microsoft.com/office/powerpoint/2010/main" val="16064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A45594-488E-2F78-FB1F-6E80371A845F}"/>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702CAA9-044C-9FCB-0D76-CE1AFF60DE95}"/>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RESULTS / GPU PIPELINE</a:t>
            </a:r>
          </a:p>
        </p:txBody>
      </p:sp>
      <p:sp>
        <p:nvSpPr>
          <p:cNvPr id="4" name="TextBox 3">
            <a:extLst>
              <a:ext uri="{FF2B5EF4-FFF2-40B4-BE49-F238E27FC236}">
                <a16:creationId xmlns:a16="http://schemas.microsoft.com/office/drawing/2014/main" id="{EDCB9EB9-0BFB-BF7A-6EF5-5C958899855A}"/>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Phase 2 - Delivery and the 128 KB Drop</a:t>
            </a:r>
          </a:p>
        </p:txBody>
      </p:sp>
      <p:sp>
        <p:nvSpPr>
          <p:cNvPr id="5" name="Rectangle 4">
            <a:extLst>
              <a:ext uri="{FF2B5EF4-FFF2-40B4-BE49-F238E27FC236}">
                <a16:creationId xmlns:a16="http://schemas.microsoft.com/office/drawing/2014/main" id="{C892D6B4-C743-B22B-9C62-BBF214D85DF9}"/>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F89B652-777E-7F8A-9C0F-09B547A17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0" y="1831094"/>
            <a:ext cx="7366000" cy="4161011"/>
          </a:xfrm>
          <a:prstGeom prst="rect">
            <a:avLst/>
          </a:prstGeom>
        </p:spPr>
      </p:pic>
      <p:sp>
        <p:nvSpPr>
          <p:cNvPr id="8" name="TextBox 7">
            <a:extLst>
              <a:ext uri="{FF2B5EF4-FFF2-40B4-BE49-F238E27FC236}">
                <a16:creationId xmlns:a16="http://schemas.microsoft.com/office/drawing/2014/main" id="{B5CF1B8A-A37A-8476-15CF-0693660C27FB}"/>
              </a:ext>
            </a:extLst>
          </p:cNvPr>
          <p:cNvSpPr txBox="1"/>
          <p:nvPr/>
        </p:nvSpPr>
        <p:spPr>
          <a:xfrm>
            <a:off x="8128000" y="1905000"/>
            <a:ext cx="3683000" cy="1667123"/>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16-64 KB: full delivery (~1000)</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128 KB DAQiri copy: ~124 delivered</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128 KB DAQiri zero-copy: ~240</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gRPC-Direct: ~973 at all sizes</a:t>
            </a:r>
          </a:p>
          <a:p>
            <a:pPr marL="342900" indent="-342900">
              <a:spcAft>
                <a:spcPts val="1000"/>
              </a:spcAft>
              <a:buClr>
                <a:srgbClr val="03B585"/>
              </a:buClr>
              <a:buFont typeface="+mj-lt"/>
              <a:buChar char="•"/>
            </a:pPr>
            <a:r>
              <a:rPr lang="en-US" sz="1500">
                <a:solidFill>
                  <a:srgbClr val="1B1B1B"/>
                </a:solidFill>
                <a:latin typeface="Segoe UI" panose="020B0502040204020203" pitchFamily="34" charset="0"/>
              </a:rPr>
              <a:t>Latency of delivered buffers stays valid</a:t>
            </a:r>
          </a:p>
        </p:txBody>
      </p:sp>
      <p:sp>
        <p:nvSpPr>
          <p:cNvPr id="9" name="TextBox 8">
            <a:extLst>
              <a:ext uri="{FF2B5EF4-FFF2-40B4-BE49-F238E27FC236}">
                <a16:creationId xmlns:a16="http://schemas.microsoft.com/office/drawing/2014/main" id="{C7FFA4E1-5940-CB4E-94B9-BE81CD85175F}"/>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128 KB = 32768 samples x 4 bytes = 131072 B (fits under configured max payload 131136 B).</a:t>
            </a:r>
          </a:p>
        </p:txBody>
      </p:sp>
    </p:spTree>
    <p:extLst>
      <p:ext uri="{BB962C8B-B14F-4D97-AF65-F5344CB8AC3E}">
        <p14:creationId xmlns:p14="http://schemas.microsoft.com/office/powerpoint/2010/main" val="96566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E865D1-72E2-7484-8171-03B2647292B8}"/>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59BD5CB-939B-AEB6-CA7D-35B70C9D086B}"/>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 LOCALIZING</a:t>
            </a:r>
          </a:p>
        </p:txBody>
      </p:sp>
      <p:sp>
        <p:nvSpPr>
          <p:cNvPr id="4" name="TextBox 3">
            <a:extLst>
              <a:ext uri="{FF2B5EF4-FFF2-40B4-BE49-F238E27FC236}">
                <a16:creationId xmlns:a16="http://schemas.microsoft.com/office/drawing/2014/main" id="{31C20853-3EEF-1A24-5541-68DA7C55015B}"/>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Where the Gap Was, and How We Found It</a:t>
            </a:r>
          </a:p>
        </p:txBody>
      </p:sp>
      <p:sp>
        <p:nvSpPr>
          <p:cNvPr id="5" name="Rectangle 4">
            <a:extLst>
              <a:ext uri="{FF2B5EF4-FFF2-40B4-BE49-F238E27FC236}">
                <a16:creationId xmlns:a16="http://schemas.microsoft.com/office/drawing/2014/main" id="{34B612B5-3021-64E6-E754-990D02E9E16F}"/>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656DD97-9C6C-9D90-2FBD-2A9B12FE2E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 y="1816100"/>
            <a:ext cx="7112000" cy="4267200"/>
          </a:xfrm>
          <a:prstGeom prst="rect">
            <a:avLst/>
          </a:prstGeom>
        </p:spPr>
      </p:pic>
      <p:sp>
        <p:nvSpPr>
          <p:cNvPr id="8" name="TextBox 7">
            <a:extLst>
              <a:ext uri="{FF2B5EF4-FFF2-40B4-BE49-F238E27FC236}">
                <a16:creationId xmlns:a16="http://schemas.microsoft.com/office/drawing/2014/main" id="{895450B9-F8E5-8309-DE6E-2973D5115107}"/>
              </a:ext>
            </a:extLst>
          </p:cNvPr>
          <p:cNvSpPr txBox="1"/>
          <p:nvPr/>
        </p:nvSpPr>
        <p:spPr>
          <a:xfrm>
            <a:off x="7797800" y="1752600"/>
            <a:ext cx="3937000" cy="3011081"/>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Residual = end-to-end minus the measured transform time</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A cost that does not change with payload is fixed overhead</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A cost that grows with the byte count means something is touching every byte</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DAQiri stays flat, 4.87 to 5.13 us, across a 256x range of payload</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gRPC-Direct climbs to 81.88 us at 4 MB</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The shape identified a per-byte cost before we knew what it was</a:t>
            </a:r>
          </a:p>
        </p:txBody>
      </p:sp>
      <p:sp>
        <p:nvSpPr>
          <p:cNvPr id="9" name="TextBox 8">
            <a:extLst>
              <a:ext uri="{FF2B5EF4-FFF2-40B4-BE49-F238E27FC236}">
                <a16:creationId xmlns:a16="http://schemas.microsoft.com/office/drawing/2014/main" id="{5FE025E0-E406-7055-D4DD-C7D8E34FDCC2}"/>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Source: data/headline_runs.csv, 9 payload sizes, 2 reps per cell. The 4 MB effect is roughly 20x the measured noise floor.</a:t>
            </a:r>
          </a:p>
        </p:txBody>
      </p:sp>
    </p:spTree>
    <p:extLst>
      <p:ext uri="{BB962C8B-B14F-4D97-AF65-F5344CB8AC3E}">
        <p14:creationId xmlns:p14="http://schemas.microsoft.com/office/powerpoint/2010/main" val="1246096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519EA9-00B6-53D5-BC32-D942D8188C02}"/>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5FD75EB-EAC4-75C0-6579-1EF990597918}"/>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 ROOT CAUSE</a:t>
            </a:r>
          </a:p>
        </p:txBody>
      </p:sp>
      <p:sp>
        <p:nvSpPr>
          <p:cNvPr id="4" name="TextBox 3">
            <a:extLst>
              <a:ext uri="{FF2B5EF4-FFF2-40B4-BE49-F238E27FC236}">
                <a16:creationId xmlns:a16="http://schemas.microsoft.com/office/drawing/2014/main" id="{3E8474F2-A01C-D531-8BDD-6536F30224C3}"/>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Root Cause: an Alignment Test That Could Not Pass</a:t>
            </a:r>
          </a:p>
        </p:txBody>
      </p:sp>
      <p:sp>
        <p:nvSpPr>
          <p:cNvPr id="5" name="Rectangle 4">
            <a:extLst>
              <a:ext uri="{FF2B5EF4-FFF2-40B4-BE49-F238E27FC236}">
                <a16:creationId xmlns:a16="http://schemas.microsoft.com/office/drawing/2014/main" id="{42656DE3-02FC-6668-82E3-2438F5112951}"/>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D13C3DA-CB15-1396-F8EC-80AD5E5FD5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 y="1806575"/>
            <a:ext cx="6350000" cy="4286250"/>
          </a:xfrm>
          <a:prstGeom prst="rect">
            <a:avLst/>
          </a:prstGeom>
        </p:spPr>
      </p:pic>
      <p:sp>
        <p:nvSpPr>
          <p:cNvPr id="8" name="TextBox 7">
            <a:extLst>
              <a:ext uri="{FF2B5EF4-FFF2-40B4-BE49-F238E27FC236}">
                <a16:creationId xmlns:a16="http://schemas.microsoft.com/office/drawing/2014/main" id="{AA0E6363-A532-D9E2-44D3-2E887B8CBEBF}"/>
              </a:ext>
            </a:extLst>
          </p:cNvPr>
          <p:cNvSpPr txBox="1"/>
          <p:nvPr/>
        </p:nvSpPr>
        <p:spPr>
          <a:xfrm>
            <a:off x="7061200" y="1676400"/>
            <a:ext cx="4673600" cy="2323713"/>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protobuf guarantees 8-byte alignment for its arena buffers</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The zero-copy path tested for 16-byte alignment before using the buffer in place</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Every message failed that test and took a staging copy that cuFFT never required</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It hid because the timer around cudaMemcpyAsync read 3.5 us: that call only enqueues, so the cost landed outside the window being measured</a:t>
            </a:r>
          </a:p>
        </p:txBody>
      </p:sp>
      <p:sp>
        <p:nvSpPr>
          <p:cNvPr id="9" name="Rectangle 8">
            <a:extLst>
              <a:ext uri="{FF2B5EF4-FFF2-40B4-BE49-F238E27FC236}">
                <a16:creationId xmlns:a16="http://schemas.microsoft.com/office/drawing/2014/main" id="{AC7BAB7A-89EC-363E-8EA6-AD3D5EAA0DE6}"/>
              </a:ext>
            </a:extLst>
          </p:cNvPr>
          <p:cNvSpPr/>
          <p:nvPr/>
        </p:nvSpPr>
        <p:spPr>
          <a:xfrm>
            <a:off x="7061200" y="5664200"/>
            <a:ext cx="4673600" cy="787400"/>
          </a:xfrm>
          <a:prstGeom prst="rect">
            <a:avLst/>
          </a:prstGeom>
          <a:solidFill>
            <a:srgbClr val="E0F5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A15BC48-CCB3-DF89-0458-8FABC8AD96E2}"/>
              </a:ext>
            </a:extLst>
          </p:cNvPr>
          <p:cNvSpPr txBox="1"/>
          <p:nvPr/>
        </p:nvSpPr>
        <p:spPr>
          <a:xfrm>
            <a:off x="7239000" y="5791200"/>
            <a:ext cx="4318000" cy="623248"/>
          </a:xfrm>
          <a:prstGeom prst="rect">
            <a:avLst/>
          </a:prstGeom>
          <a:noFill/>
        </p:spPr>
        <p:txBody>
          <a:bodyPr vert="horz" wrap="square" lIns="0" tIns="0" rIns="0" bIns="0" rtlCol="0">
            <a:spAutoFit/>
          </a:bodyPr>
          <a:lstStyle/>
          <a:p>
            <a:r>
              <a:rPr lang="en-US" sz="1300" b="1">
                <a:solidFill>
                  <a:srgbClr val="028C66"/>
                </a:solidFill>
                <a:latin typeface="Segoe UI" panose="020B0502040204020203" pitchFamily="34" charset="0"/>
              </a:rPr>
              <a:t>Copy measured directly: 77.01 us.  Residual gap predicted: 76.53 us.  Two independent measurements of the same cost.</a:t>
            </a:r>
          </a:p>
        </p:txBody>
      </p:sp>
      <p:sp>
        <p:nvSpPr>
          <p:cNvPr id="11" name="TextBox 10">
            <a:extLst>
              <a:ext uri="{FF2B5EF4-FFF2-40B4-BE49-F238E27FC236}">
                <a16:creationId xmlns:a16="http://schemas.microsoft.com/office/drawing/2014/main" id="{29DB1BE4-A94D-0598-D36B-1E351AB11201}"/>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4 MB payload. DAQiri shown as a reference line, not a competitor: the claim on this slide is what the fix did to gRPC-Direct.</a:t>
            </a:r>
          </a:p>
        </p:txBody>
      </p:sp>
    </p:spTree>
    <p:extLst>
      <p:ext uri="{BB962C8B-B14F-4D97-AF65-F5344CB8AC3E}">
        <p14:creationId xmlns:p14="http://schemas.microsoft.com/office/powerpoint/2010/main" val="1192925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1562D7-3FAA-CBAB-0029-9779CCF54E7D}"/>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7CDABCA-17E0-ED59-B07F-060541F3C599}"/>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 THE REMAINDER</a:t>
            </a:r>
          </a:p>
        </p:txBody>
      </p:sp>
      <p:sp>
        <p:nvSpPr>
          <p:cNvPr id="4" name="TextBox 3">
            <a:extLst>
              <a:ext uri="{FF2B5EF4-FFF2-40B4-BE49-F238E27FC236}">
                <a16:creationId xmlns:a16="http://schemas.microsoft.com/office/drawing/2014/main" id="{75C2B893-7E8B-D507-8CAE-8167E1C96381}"/>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What Was Left, and Where It Lives</a:t>
            </a:r>
          </a:p>
        </p:txBody>
      </p:sp>
      <p:sp>
        <p:nvSpPr>
          <p:cNvPr id="5" name="Rectangle 4">
            <a:extLst>
              <a:ext uri="{FF2B5EF4-FFF2-40B4-BE49-F238E27FC236}">
                <a16:creationId xmlns:a16="http://schemas.microsoft.com/office/drawing/2014/main" id="{121AE440-24D0-46F5-8719-10E97D767080}"/>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7BEA7B9-AB98-E5BB-3EC3-526411686D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 y="1864895"/>
            <a:ext cx="7112000" cy="4042611"/>
          </a:xfrm>
          <a:prstGeom prst="rect">
            <a:avLst/>
          </a:prstGeom>
        </p:spPr>
      </p:pic>
      <p:sp>
        <p:nvSpPr>
          <p:cNvPr id="8" name="TextBox 7">
            <a:extLst>
              <a:ext uri="{FF2B5EF4-FFF2-40B4-BE49-F238E27FC236}">
                <a16:creationId xmlns:a16="http://schemas.microsoft.com/office/drawing/2014/main" id="{A640CE88-3673-72A6-B54D-0CBB61126D36}"/>
              </a:ext>
            </a:extLst>
          </p:cNvPr>
          <p:cNvSpPr txBox="1"/>
          <p:nvPr/>
        </p:nvSpPr>
        <p:spPr>
          <a:xfrm>
            <a:off x="7797800" y="1752600"/>
            <a:ext cx="3937000" cy="2882840"/>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After the fix, gRPC-Direct is still about 8 us behind at 4 MB</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Split that remainder into the part inside cuFFT and the part outside it</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Kernel launch overhead does not depend on payload, so a remainder that grows with the byte count is not launch overhead</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At 4 MB, 6.40 us of 8.10 us, about 79 percent, is inside cuFFT itself</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Same GPU, same plan, same transform size. What differs is where the input buffer lives</a:t>
            </a:r>
          </a:p>
        </p:txBody>
      </p:sp>
      <p:sp>
        <p:nvSpPr>
          <p:cNvPr id="9" name="TextBox 8">
            <a:extLst>
              <a:ext uri="{FF2B5EF4-FFF2-40B4-BE49-F238E27FC236}">
                <a16:creationId xmlns:a16="http://schemas.microsoft.com/office/drawing/2014/main" id="{702F09EB-E3DA-3F18-4128-67C7EE19963A}"/>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Source: data/headline_runs.csv, 2 reps per cell. The dips at 128 KB and 512 KB are rep-to-rep noise at that count, not structure.</a:t>
            </a:r>
          </a:p>
        </p:txBody>
      </p:sp>
    </p:spTree>
    <p:extLst>
      <p:ext uri="{BB962C8B-B14F-4D97-AF65-F5344CB8AC3E}">
        <p14:creationId xmlns:p14="http://schemas.microsoft.com/office/powerpoint/2010/main" val="3225938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9DEAF-C62E-FE8C-0982-80E52AFF5703}"/>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22CABF7-2EC3-8128-CB1F-9C7B0C921BF1}"/>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 SCOPING</a:t>
            </a:r>
          </a:p>
        </p:txBody>
      </p:sp>
      <p:sp>
        <p:nvSpPr>
          <p:cNvPr id="4" name="TextBox 3">
            <a:extLst>
              <a:ext uri="{FF2B5EF4-FFF2-40B4-BE49-F238E27FC236}">
                <a16:creationId xmlns:a16="http://schemas.microsoft.com/office/drawing/2014/main" id="{580DF03F-276C-67F2-13AA-10441A07FD45}"/>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The Memory Finding: a Result That Inverted</a:t>
            </a:r>
          </a:p>
        </p:txBody>
      </p:sp>
      <p:sp>
        <p:nvSpPr>
          <p:cNvPr id="5" name="Rectangle 4">
            <a:extLst>
              <a:ext uri="{FF2B5EF4-FFF2-40B4-BE49-F238E27FC236}">
                <a16:creationId xmlns:a16="http://schemas.microsoft.com/office/drawing/2014/main" id="{C5BD44DC-EABB-39EE-554F-634779382A7A}"/>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C0D6133-AFDF-C6DC-A378-56AE521694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 y="1692383"/>
            <a:ext cx="6858000" cy="3778034"/>
          </a:xfrm>
          <a:prstGeom prst="rect">
            <a:avLst/>
          </a:prstGeom>
        </p:spPr>
      </p:pic>
      <p:sp>
        <p:nvSpPr>
          <p:cNvPr id="8" name="TextBox 7">
            <a:extLst>
              <a:ext uri="{FF2B5EF4-FFF2-40B4-BE49-F238E27FC236}">
                <a16:creationId xmlns:a16="http://schemas.microsoft.com/office/drawing/2014/main" id="{CE25F624-4A0C-4850-B15E-E68C3BA3AAF5}"/>
              </a:ext>
            </a:extLst>
          </p:cNvPr>
          <p:cNvSpPr txBox="1"/>
          <p:nvPr/>
        </p:nvSpPr>
        <p:spPr>
          <a:xfrm>
            <a:off x="7518400" y="1625600"/>
            <a:ext cx="4216400" cy="2785378"/>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300">
                <a:solidFill>
                  <a:srgbClr val="1B1B1B"/>
                </a:solidFill>
                <a:latin typeface="Segoe UI" panose="020B0502040204020203" pitchFamily="34" charset="0"/>
              </a:rPr>
              <a:t>Two ways to get host memory the GPU can read: allocated by cudaHostAlloc, or adopted by registering pages the process already owns</a:t>
            </a:r>
          </a:p>
          <a:p>
            <a:pPr marL="342900" indent="-342900">
              <a:spcAft>
                <a:spcPts val="1000"/>
              </a:spcAft>
              <a:buClr>
                <a:srgbClr val="03B585"/>
              </a:buClr>
              <a:buFont typeface="+mj-lt"/>
              <a:buChar char="•"/>
            </a:pPr>
            <a:r>
              <a:rPr lang="en-US" sz="1300">
                <a:solidFill>
                  <a:srgbClr val="1B1B1B"/>
                </a:solidFill>
                <a:latin typeface="Segoe UI" panose="020B0502040204020203" pitchFamily="34" charset="0"/>
              </a:rPr>
              <a:t>Adopted measured slower every way it was tried: 7.3 us in the chart at left, and 10.94 us in a separate 15-rep rotation across page sizes</a:t>
            </a:r>
          </a:p>
          <a:p>
            <a:pPr marL="342900" indent="-342900">
              <a:spcAft>
                <a:spcPts val="1000"/>
              </a:spcAft>
              <a:buClr>
                <a:srgbClr val="03B585"/>
              </a:buClr>
              <a:buFont typeface="+mj-lt"/>
              <a:buChar char="•"/>
            </a:pPr>
            <a:r>
              <a:rPr lang="en-US" sz="1300">
                <a:solidFill>
                  <a:srgbClr val="1B1B1B"/>
                </a:solidFill>
                <a:latin typeface="Segoe UI" panose="020B0502040204020203" pitchFamily="34" charset="0"/>
              </a:rPr>
              <a:t>Then the CPU write that filled the buffer was removed, and the sign inverted: adopted became 11.2 us faster</a:t>
            </a:r>
          </a:p>
          <a:p>
            <a:pPr marL="342900" indent="-342900">
              <a:spcAft>
                <a:spcPts val="1000"/>
              </a:spcAft>
              <a:buClr>
                <a:srgbClr val="03B585"/>
              </a:buClr>
              <a:buFont typeface="+mj-lt"/>
              <a:buChar char="•"/>
            </a:pPr>
            <a:r>
              <a:rPr lang="en-US" sz="1300">
                <a:solidFill>
                  <a:srgbClr val="1B1B1B"/>
                </a:solidFill>
                <a:latin typeface="Segoe UI" panose="020B0502040204020203" pitchFamily="34" charset="0"/>
              </a:rPr>
              <a:t>Confirmed in the real RDMA receiver, where the NIC writes and the CPU never touches the buffer: the two are indistinguishable, p = 1.0</a:t>
            </a:r>
          </a:p>
        </p:txBody>
      </p:sp>
      <p:sp>
        <p:nvSpPr>
          <p:cNvPr id="9" name="Rectangle 8">
            <a:extLst>
              <a:ext uri="{FF2B5EF4-FFF2-40B4-BE49-F238E27FC236}">
                <a16:creationId xmlns:a16="http://schemas.microsoft.com/office/drawing/2014/main" id="{302F2CD2-D251-1DFB-AFBC-5E383930D675}"/>
              </a:ext>
            </a:extLst>
          </p:cNvPr>
          <p:cNvSpPr/>
          <p:nvPr/>
        </p:nvSpPr>
        <p:spPr>
          <a:xfrm>
            <a:off x="431800" y="5867400"/>
            <a:ext cx="11303000" cy="609600"/>
          </a:xfrm>
          <a:prstGeom prst="rect">
            <a:avLst/>
          </a:prstGeom>
          <a:solidFill>
            <a:srgbClr val="FCF0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30163AE-DB66-DCD5-12AD-C95FD417FB58}"/>
              </a:ext>
            </a:extLst>
          </p:cNvPr>
          <p:cNvSpPr txBox="1"/>
          <p:nvPr/>
        </p:nvSpPr>
        <p:spPr>
          <a:xfrm>
            <a:off x="609600" y="5994400"/>
            <a:ext cx="10947400" cy="415498"/>
          </a:xfrm>
          <a:prstGeom prst="rect">
            <a:avLst/>
          </a:prstGeom>
          <a:noFill/>
        </p:spPr>
        <p:txBody>
          <a:bodyPr vert="horz" wrap="square" lIns="0" tIns="0" rIns="0" bIns="0" rtlCol="0">
            <a:spAutoFit/>
          </a:bodyPr>
          <a:lstStyle/>
          <a:p>
            <a:r>
              <a:rPr lang="en-US" sz="1300" b="1">
                <a:solidFill>
                  <a:srgbClr val="1B1B1B"/>
                </a:solidFill>
                <a:latin typeface="Segoe UI" panose="020B0502040204020203" pitchFamily="34" charset="0"/>
              </a:rPr>
              <a:t>Both measurements were correct about what they measured. The error available here was carrying one of them into a configuration it had not measured, which is the configuration that ships.</a:t>
            </a:r>
          </a:p>
        </p:txBody>
      </p:sp>
      <p:sp>
        <p:nvSpPr>
          <p:cNvPr id="11" name="TextBox 10">
            <a:extLst>
              <a:ext uri="{FF2B5EF4-FFF2-40B4-BE49-F238E27FC236}">
                <a16:creationId xmlns:a16="http://schemas.microsoft.com/office/drawing/2014/main" id="{D1B2DD0E-6ECA-0C4A-AECA-3247C3A5E19D}"/>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Sources: data/memsrc_2x2_1048576.csv, data/memsrc_2x2_nowrite_1048576.csv, data/pagesize_rot.csv. 4 MiB payload. Error bars are distribution-free intervals of the median.</a:t>
            </a:r>
          </a:p>
        </p:txBody>
      </p:sp>
    </p:spTree>
    <p:extLst>
      <p:ext uri="{BB962C8B-B14F-4D97-AF65-F5344CB8AC3E}">
        <p14:creationId xmlns:p14="http://schemas.microsoft.com/office/powerpoint/2010/main" val="157076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6247B3-62D7-C205-0171-6BCA1B96E9EA}"/>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93EDE5D-1416-27CD-728F-68DA2CBA285E}"/>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 THE TRANSPORT</a:t>
            </a:r>
          </a:p>
        </p:txBody>
      </p:sp>
      <p:sp>
        <p:nvSpPr>
          <p:cNvPr id="4" name="TextBox 3">
            <a:extLst>
              <a:ext uri="{FF2B5EF4-FFF2-40B4-BE49-F238E27FC236}">
                <a16:creationId xmlns:a16="http://schemas.microsoft.com/office/drawing/2014/main" id="{30E50F99-F093-8A23-013F-746B2386E18B}"/>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What Got Built: RDMA Straight into GPU-Readable Memory</a:t>
            </a:r>
          </a:p>
        </p:txBody>
      </p:sp>
      <p:sp>
        <p:nvSpPr>
          <p:cNvPr id="5" name="Rectangle 4">
            <a:extLst>
              <a:ext uri="{FF2B5EF4-FFF2-40B4-BE49-F238E27FC236}">
                <a16:creationId xmlns:a16="http://schemas.microsoft.com/office/drawing/2014/main" id="{22B0E756-BF7D-E073-13A8-87B9674AF996}"/>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2B81B5B-9632-4895-9585-81DA5262AD92}"/>
              </a:ext>
            </a:extLst>
          </p:cNvPr>
          <p:cNvSpPr/>
          <p:nvPr/>
        </p:nvSpPr>
        <p:spPr>
          <a:xfrm>
            <a:off x="533400" y="1905000"/>
            <a:ext cx="1676400" cy="787400"/>
          </a:xfrm>
          <a:prstGeom prst="rect">
            <a:avLst/>
          </a:prstGeom>
          <a:solidFill>
            <a:srgbClr val="5A64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5B439AD-A201-37B7-C701-BF913E2A4F7A}"/>
              </a:ext>
            </a:extLst>
          </p:cNvPr>
          <p:cNvSpPr txBox="1"/>
          <p:nvPr/>
        </p:nvSpPr>
        <p:spPr>
          <a:xfrm>
            <a:off x="635000" y="2082800"/>
            <a:ext cx="1473200" cy="415498"/>
          </a:xfrm>
          <a:prstGeom prst="rect">
            <a:avLst/>
          </a:prstGeom>
          <a:noFill/>
        </p:spPr>
        <p:txBody>
          <a:bodyPr vert="horz" wrap="square" lIns="0" tIns="0" rIns="0" bIns="0" rtlCol="0">
            <a:spAutoFit/>
          </a:bodyPr>
          <a:lstStyle/>
          <a:p>
            <a:pPr algn="ctr"/>
            <a:r>
              <a:rPr lang="en-US" sz="1300" b="1">
                <a:solidFill>
                  <a:srgbClr val="FFFFFF"/>
                </a:solidFill>
                <a:latin typeface="Segoe UI" panose="020B0502040204020203" pitchFamily="34" charset="0"/>
              </a:rPr>
              <a:t>PXI chassis</a:t>
            </a:r>
          </a:p>
          <a:p>
            <a:pPr algn="ctr"/>
            <a:r>
              <a:rPr lang="en-US" sz="1300" b="1">
                <a:solidFill>
                  <a:srgbClr val="FFFFFF"/>
                </a:solidFill>
                <a:latin typeface="Segoe UI" panose="020B0502040204020203" pitchFamily="34" charset="0"/>
              </a:rPr>
              <a:t>(no CUDA)</a:t>
            </a:r>
          </a:p>
        </p:txBody>
      </p:sp>
      <p:sp>
        <p:nvSpPr>
          <p:cNvPr id="8" name="Rectangle 7">
            <a:extLst>
              <a:ext uri="{FF2B5EF4-FFF2-40B4-BE49-F238E27FC236}">
                <a16:creationId xmlns:a16="http://schemas.microsoft.com/office/drawing/2014/main" id="{87296B03-426E-7B8C-9F17-52D505BC21F8}"/>
              </a:ext>
            </a:extLst>
          </p:cNvPr>
          <p:cNvSpPr/>
          <p:nvPr/>
        </p:nvSpPr>
        <p:spPr>
          <a:xfrm>
            <a:off x="2514600" y="1905000"/>
            <a:ext cx="1676400" cy="787400"/>
          </a:xfrm>
          <a:prstGeom prst="rect">
            <a:avLst/>
          </a:prstGeom>
          <a:solidFill>
            <a:srgbClr val="028C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171C7AF-D910-DA83-B046-9CFAAEFCA773}"/>
              </a:ext>
            </a:extLst>
          </p:cNvPr>
          <p:cNvSpPr txBox="1"/>
          <p:nvPr/>
        </p:nvSpPr>
        <p:spPr>
          <a:xfrm>
            <a:off x="2616200" y="2082800"/>
            <a:ext cx="1473200" cy="415498"/>
          </a:xfrm>
          <a:prstGeom prst="rect">
            <a:avLst/>
          </a:prstGeom>
          <a:noFill/>
        </p:spPr>
        <p:txBody>
          <a:bodyPr vert="horz" wrap="square" lIns="0" tIns="0" rIns="0" bIns="0" rtlCol="0">
            <a:spAutoFit/>
          </a:bodyPr>
          <a:lstStyle/>
          <a:p>
            <a:pPr algn="ctr"/>
            <a:r>
              <a:rPr lang="en-US" sz="1300" b="1">
                <a:solidFill>
                  <a:srgbClr val="FFFFFF"/>
                </a:solidFill>
                <a:latin typeface="Segoe UI" panose="020B0502040204020203" pitchFamily="34" charset="0"/>
              </a:rPr>
              <a:t>50G RoCE</a:t>
            </a:r>
          </a:p>
          <a:p>
            <a:pPr algn="ctr"/>
            <a:r>
              <a:rPr lang="en-US" sz="1300" b="1">
                <a:solidFill>
                  <a:srgbClr val="FFFFFF"/>
                </a:solidFill>
                <a:latin typeface="Segoe UI" panose="020B0502040204020203" pitchFamily="34" charset="0"/>
              </a:rPr>
              <a:t>link</a:t>
            </a:r>
          </a:p>
        </p:txBody>
      </p:sp>
      <p:sp>
        <p:nvSpPr>
          <p:cNvPr id="10" name="Rectangle 9">
            <a:extLst>
              <a:ext uri="{FF2B5EF4-FFF2-40B4-BE49-F238E27FC236}">
                <a16:creationId xmlns:a16="http://schemas.microsoft.com/office/drawing/2014/main" id="{F01ABFF9-7302-EDC9-842B-2D888F8E9140}"/>
              </a:ext>
            </a:extLst>
          </p:cNvPr>
          <p:cNvSpPr/>
          <p:nvPr/>
        </p:nvSpPr>
        <p:spPr>
          <a:xfrm>
            <a:off x="4495800" y="1905000"/>
            <a:ext cx="1676400" cy="787400"/>
          </a:xfrm>
          <a:prstGeom prst="rect">
            <a:avLst/>
          </a:prstGeom>
          <a:solidFill>
            <a:srgbClr val="028C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EECC1A4-2F44-1ADB-1F09-BC348B10537F}"/>
              </a:ext>
            </a:extLst>
          </p:cNvPr>
          <p:cNvSpPr txBox="1"/>
          <p:nvPr/>
        </p:nvSpPr>
        <p:spPr>
          <a:xfrm>
            <a:off x="4597400" y="2082800"/>
            <a:ext cx="1473200" cy="415498"/>
          </a:xfrm>
          <a:prstGeom prst="rect">
            <a:avLst/>
          </a:prstGeom>
          <a:noFill/>
        </p:spPr>
        <p:txBody>
          <a:bodyPr vert="horz" wrap="square" lIns="0" tIns="0" rIns="0" bIns="0" rtlCol="0">
            <a:spAutoFit/>
          </a:bodyPr>
          <a:lstStyle/>
          <a:p>
            <a:pPr algn="ctr"/>
            <a:r>
              <a:rPr lang="en-US" sz="1300" b="1">
                <a:solidFill>
                  <a:srgbClr val="FFFFFF"/>
                </a:solidFill>
                <a:latin typeface="Segoe UI" panose="020B0502040204020203" pitchFamily="34" charset="0"/>
              </a:rPr>
              <a:t>NIC writes</a:t>
            </a:r>
          </a:p>
          <a:p>
            <a:pPr algn="ctr"/>
            <a:r>
              <a:rPr lang="en-US" sz="1300" b="1">
                <a:solidFill>
                  <a:srgbClr val="FFFFFF"/>
                </a:solidFill>
                <a:latin typeface="Segoe UI" panose="020B0502040204020203" pitchFamily="34" charset="0"/>
              </a:rPr>
              <a:t>by DMA</a:t>
            </a:r>
          </a:p>
        </p:txBody>
      </p:sp>
      <p:sp>
        <p:nvSpPr>
          <p:cNvPr id="12" name="Rectangle 11">
            <a:extLst>
              <a:ext uri="{FF2B5EF4-FFF2-40B4-BE49-F238E27FC236}">
                <a16:creationId xmlns:a16="http://schemas.microsoft.com/office/drawing/2014/main" id="{6CE98567-0E64-3081-80C8-46844A91195F}"/>
              </a:ext>
            </a:extLst>
          </p:cNvPr>
          <p:cNvSpPr/>
          <p:nvPr/>
        </p:nvSpPr>
        <p:spPr>
          <a:xfrm>
            <a:off x="6477000" y="1905000"/>
            <a:ext cx="2184400" cy="7874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E38B870-ACB3-5DAC-7EAD-7223BBE5EADF}"/>
              </a:ext>
            </a:extLst>
          </p:cNvPr>
          <p:cNvSpPr txBox="1"/>
          <p:nvPr/>
        </p:nvSpPr>
        <p:spPr>
          <a:xfrm>
            <a:off x="6578600" y="2006600"/>
            <a:ext cx="1981200" cy="553998"/>
          </a:xfrm>
          <a:prstGeom prst="rect">
            <a:avLst/>
          </a:prstGeom>
          <a:noFill/>
        </p:spPr>
        <p:txBody>
          <a:bodyPr vert="horz" wrap="square" lIns="0" tIns="0" rIns="0" bIns="0" rtlCol="0">
            <a:spAutoFit/>
          </a:bodyPr>
          <a:lstStyle/>
          <a:p>
            <a:pPr algn="ctr"/>
            <a:r>
              <a:rPr lang="en-US" sz="1200" b="1">
                <a:solidFill>
                  <a:srgbClr val="FFFFFF"/>
                </a:solidFill>
                <a:latin typeface="Segoe UI" panose="020B0502040204020203" pitchFamily="34" charset="0"/>
              </a:rPr>
              <a:t>One host buffer:</a:t>
            </a:r>
          </a:p>
          <a:p>
            <a:pPr algn="ctr"/>
            <a:r>
              <a:rPr lang="en-US" sz="1200" b="1">
                <a:solidFill>
                  <a:srgbClr val="FFFFFF"/>
                </a:solidFill>
                <a:latin typeface="Segoe UI" panose="020B0502040204020203" pitchFamily="34" charset="0"/>
              </a:rPr>
              <a:t>cudaHostAlloc + ibv_reg_mr</a:t>
            </a:r>
          </a:p>
        </p:txBody>
      </p:sp>
      <p:sp>
        <p:nvSpPr>
          <p:cNvPr id="14" name="Rectangle 13">
            <a:extLst>
              <a:ext uri="{FF2B5EF4-FFF2-40B4-BE49-F238E27FC236}">
                <a16:creationId xmlns:a16="http://schemas.microsoft.com/office/drawing/2014/main" id="{42A82080-2887-856A-721D-77089E68AFC6}"/>
              </a:ext>
            </a:extLst>
          </p:cNvPr>
          <p:cNvSpPr/>
          <p:nvPr/>
        </p:nvSpPr>
        <p:spPr>
          <a:xfrm>
            <a:off x="8966200" y="1905000"/>
            <a:ext cx="1676400" cy="787400"/>
          </a:xfrm>
          <a:prstGeom prst="rect">
            <a:avLst/>
          </a:prstGeom>
          <a:solidFill>
            <a:srgbClr val="1B1B1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D979ABD-D6F8-2D63-E470-D3908AF7127D}"/>
              </a:ext>
            </a:extLst>
          </p:cNvPr>
          <p:cNvSpPr txBox="1"/>
          <p:nvPr/>
        </p:nvSpPr>
        <p:spPr>
          <a:xfrm>
            <a:off x="9067800" y="2082800"/>
            <a:ext cx="1473200" cy="415498"/>
          </a:xfrm>
          <a:prstGeom prst="rect">
            <a:avLst/>
          </a:prstGeom>
          <a:noFill/>
        </p:spPr>
        <p:txBody>
          <a:bodyPr vert="horz" wrap="square" lIns="0" tIns="0" rIns="0" bIns="0" rtlCol="0">
            <a:spAutoFit/>
          </a:bodyPr>
          <a:lstStyle/>
          <a:p>
            <a:pPr algn="ctr"/>
            <a:r>
              <a:rPr lang="en-US" sz="1300" b="1">
                <a:solidFill>
                  <a:srgbClr val="FFFFFF"/>
                </a:solidFill>
                <a:latin typeface="Segoe UI" panose="020B0502040204020203" pitchFamily="34" charset="0"/>
              </a:rPr>
              <a:t>cuFFT reads</a:t>
            </a:r>
          </a:p>
          <a:p>
            <a:pPr algn="ctr"/>
            <a:r>
              <a:rPr lang="en-US" sz="1300" b="1">
                <a:solidFill>
                  <a:srgbClr val="FFFFFF"/>
                </a:solidFill>
                <a:latin typeface="Segoe UI" panose="020B0502040204020203" pitchFamily="34" charset="0"/>
              </a:rPr>
              <a:t>in place</a:t>
            </a:r>
          </a:p>
        </p:txBody>
      </p:sp>
      <p:sp>
        <p:nvSpPr>
          <p:cNvPr id="16" name="TextBox 15">
            <a:extLst>
              <a:ext uri="{FF2B5EF4-FFF2-40B4-BE49-F238E27FC236}">
                <a16:creationId xmlns:a16="http://schemas.microsoft.com/office/drawing/2014/main" id="{B7CCD055-0B46-68F6-5FB6-3FE027A8178D}"/>
              </a:ext>
            </a:extLst>
          </p:cNvPr>
          <p:cNvSpPr txBox="1"/>
          <p:nvPr/>
        </p:nvSpPr>
        <p:spPr>
          <a:xfrm>
            <a:off x="533400" y="2946400"/>
            <a:ext cx="11176000" cy="215444"/>
          </a:xfrm>
          <a:prstGeom prst="rect">
            <a:avLst/>
          </a:prstGeom>
          <a:noFill/>
        </p:spPr>
        <p:txBody>
          <a:bodyPr vert="horz" wrap="square" lIns="0" tIns="0" rIns="0" bIns="0" rtlCol="0">
            <a:spAutoFit/>
          </a:bodyPr>
          <a:lstStyle/>
          <a:p>
            <a:r>
              <a:rPr lang="en-US" sz="1400" b="1">
                <a:solidFill>
                  <a:srgbClr val="028C66"/>
                </a:solidFill>
                <a:latin typeface="Segoe UI" panose="020B0502040204020203" pitchFamily="34" charset="0"/>
              </a:rPr>
              <a:t>No staging copy anywhere on this path. The NIC and the GPU address the same allocation.</a:t>
            </a:r>
          </a:p>
        </p:txBody>
      </p:sp>
      <p:sp>
        <p:nvSpPr>
          <p:cNvPr id="17" name="TextBox 16">
            <a:extLst>
              <a:ext uri="{FF2B5EF4-FFF2-40B4-BE49-F238E27FC236}">
                <a16:creationId xmlns:a16="http://schemas.microsoft.com/office/drawing/2014/main" id="{E31CC5D0-A27C-CE55-5EF6-2A026495C166}"/>
              </a:ext>
            </a:extLst>
          </p:cNvPr>
          <p:cNvSpPr txBox="1"/>
          <p:nvPr/>
        </p:nvSpPr>
        <p:spPr>
          <a:xfrm>
            <a:off x="2209800" y="2108200"/>
            <a:ext cx="304800" cy="400110"/>
          </a:xfrm>
          <a:prstGeom prst="rect">
            <a:avLst/>
          </a:prstGeom>
          <a:noFill/>
        </p:spPr>
        <p:txBody>
          <a:bodyPr vert="horz" wrap="square" lIns="0" tIns="0" rIns="0" bIns="0" rtlCol="0">
            <a:spAutoFit/>
          </a:bodyPr>
          <a:lstStyle/>
          <a:p>
            <a:pPr algn="ctr"/>
            <a:r>
              <a:rPr lang="en-US" sz="2600" b="1">
                <a:solidFill>
                  <a:srgbClr val="5A6470"/>
                </a:solidFill>
                <a:latin typeface="Segoe UI" panose="020B0502040204020203" pitchFamily="34" charset="0"/>
              </a:rPr>
              <a:t>&gt;</a:t>
            </a:r>
          </a:p>
        </p:txBody>
      </p:sp>
      <p:sp>
        <p:nvSpPr>
          <p:cNvPr id="18" name="TextBox 17">
            <a:extLst>
              <a:ext uri="{FF2B5EF4-FFF2-40B4-BE49-F238E27FC236}">
                <a16:creationId xmlns:a16="http://schemas.microsoft.com/office/drawing/2014/main" id="{04F6ABE5-3CE8-FCD6-209C-D0DFCE3803D9}"/>
              </a:ext>
            </a:extLst>
          </p:cNvPr>
          <p:cNvSpPr txBox="1"/>
          <p:nvPr/>
        </p:nvSpPr>
        <p:spPr>
          <a:xfrm>
            <a:off x="4191000" y="2108200"/>
            <a:ext cx="304800" cy="400110"/>
          </a:xfrm>
          <a:prstGeom prst="rect">
            <a:avLst/>
          </a:prstGeom>
          <a:noFill/>
        </p:spPr>
        <p:txBody>
          <a:bodyPr vert="horz" wrap="square" lIns="0" tIns="0" rIns="0" bIns="0" rtlCol="0">
            <a:spAutoFit/>
          </a:bodyPr>
          <a:lstStyle/>
          <a:p>
            <a:pPr algn="ctr"/>
            <a:r>
              <a:rPr lang="en-US" sz="2600" b="1">
                <a:solidFill>
                  <a:srgbClr val="5A6470"/>
                </a:solidFill>
                <a:latin typeface="Segoe UI" panose="020B0502040204020203" pitchFamily="34" charset="0"/>
              </a:rPr>
              <a:t>&gt;</a:t>
            </a:r>
          </a:p>
        </p:txBody>
      </p:sp>
      <p:sp>
        <p:nvSpPr>
          <p:cNvPr id="19" name="TextBox 18">
            <a:extLst>
              <a:ext uri="{FF2B5EF4-FFF2-40B4-BE49-F238E27FC236}">
                <a16:creationId xmlns:a16="http://schemas.microsoft.com/office/drawing/2014/main" id="{B37001C3-EFC7-035A-7F10-386B08045A2E}"/>
              </a:ext>
            </a:extLst>
          </p:cNvPr>
          <p:cNvSpPr txBox="1"/>
          <p:nvPr/>
        </p:nvSpPr>
        <p:spPr>
          <a:xfrm>
            <a:off x="6172200" y="2108200"/>
            <a:ext cx="304800" cy="400110"/>
          </a:xfrm>
          <a:prstGeom prst="rect">
            <a:avLst/>
          </a:prstGeom>
          <a:noFill/>
        </p:spPr>
        <p:txBody>
          <a:bodyPr vert="horz" wrap="square" lIns="0" tIns="0" rIns="0" bIns="0" rtlCol="0">
            <a:spAutoFit/>
          </a:bodyPr>
          <a:lstStyle/>
          <a:p>
            <a:pPr algn="ctr"/>
            <a:r>
              <a:rPr lang="en-US" sz="2600" b="1">
                <a:solidFill>
                  <a:srgbClr val="5A6470"/>
                </a:solidFill>
                <a:latin typeface="Segoe UI" panose="020B0502040204020203" pitchFamily="34" charset="0"/>
              </a:rPr>
              <a:t>&gt;</a:t>
            </a:r>
          </a:p>
        </p:txBody>
      </p:sp>
      <p:sp>
        <p:nvSpPr>
          <p:cNvPr id="20" name="TextBox 19">
            <a:extLst>
              <a:ext uri="{FF2B5EF4-FFF2-40B4-BE49-F238E27FC236}">
                <a16:creationId xmlns:a16="http://schemas.microsoft.com/office/drawing/2014/main" id="{F35F93CF-7351-1E47-F6B5-EC9AEFC42555}"/>
              </a:ext>
            </a:extLst>
          </p:cNvPr>
          <p:cNvSpPr txBox="1"/>
          <p:nvPr/>
        </p:nvSpPr>
        <p:spPr>
          <a:xfrm>
            <a:off x="8661400" y="2108200"/>
            <a:ext cx="304800" cy="400110"/>
          </a:xfrm>
          <a:prstGeom prst="rect">
            <a:avLst/>
          </a:prstGeom>
          <a:noFill/>
        </p:spPr>
        <p:txBody>
          <a:bodyPr vert="horz" wrap="square" lIns="0" tIns="0" rIns="0" bIns="0" rtlCol="0">
            <a:spAutoFit/>
          </a:bodyPr>
          <a:lstStyle/>
          <a:p>
            <a:pPr algn="ctr"/>
            <a:r>
              <a:rPr lang="en-US" sz="2600" b="1">
                <a:solidFill>
                  <a:srgbClr val="5A6470"/>
                </a:solidFill>
                <a:latin typeface="Segoe UI" panose="020B0502040204020203" pitchFamily="34" charset="0"/>
              </a:rPr>
              <a:t>&gt;</a:t>
            </a:r>
          </a:p>
        </p:txBody>
      </p:sp>
      <p:sp>
        <p:nvSpPr>
          <p:cNvPr id="21" name="TextBox 20">
            <a:extLst>
              <a:ext uri="{FF2B5EF4-FFF2-40B4-BE49-F238E27FC236}">
                <a16:creationId xmlns:a16="http://schemas.microsoft.com/office/drawing/2014/main" id="{DF751E6A-D27A-E162-7DC6-14E2EAACED39}"/>
              </a:ext>
            </a:extLst>
          </p:cNvPr>
          <p:cNvSpPr txBox="1"/>
          <p:nvPr/>
        </p:nvSpPr>
        <p:spPr>
          <a:xfrm>
            <a:off x="533400" y="3479800"/>
            <a:ext cx="5461000" cy="1333698"/>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GPUDirect RDMA is not available on GB10: unified memory means there is no separate GPU aperture for the NIC to target</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Registering a cudaHostAlloc buffer with the NIC is the supported route on this hardware</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The receiver runs the transform on a dedicated CUDA stream</a:t>
            </a:r>
          </a:p>
        </p:txBody>
      </p:sp>
      <p:sp>
        <p:nvSpPr>
          <p:cNvPr id="22" name="TextBox 21">
            <a:extLst>
              <a:ext uri="{FF2B5EF4-FFF2-40B4-BE49-F238E27FC236}">
                <a16:creationId xmlns:a16="http://schemas.microsoft.com/office/drawing/2014/main" id="{CC6488FE-56FB-A3B6-6A95-810E12777029}"/>
              </a:ext>
            </a:extLst>
          </p:cNvPr>
          <p:cNvSpPr txBox="1"/>
          <p:nvPr/>
        </p:nvSpPr>
        <p:spPr>
          <a:xfrm>
            <a:off x="6350000" y="3479800"/>
            <a:ext cx="5384800" cy="1333698"/>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Measured at 98.0 percent of 50G line rate, once the RoCE MTU was corrected</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Runs PXI to Spark. DAQiri cannot: it requires CUDA on both ends, and the PXI chassis has no GPU</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That is a capability difference, not a latency difference</a:t>
            </a:r>
          </a:p>
        </p:txBody>
      </p:sp>
      <p:sp>
        <p:nvSpPr>
          <p:cNvPr id="23" name="TextBox 22">
            <a:extLst>
              <a:ext uri="{FF2B5EF4-FFF2-40B4-BE49-F238E27FC236}">
                <a16:creationId xmlns:a16="http://schemas.microsoft.com/office/drawing/2014/main" id="{7CFACF1F-A17C-13A6-A5B9-A887143883C1}"/>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Throughput from ib_write_bw, 4 MB writes, PXI to Spark. Latency numbers for this transport are on the next slide.</a:t>
            </a:r>
          </a:p>
        </p:txBody>
      </p:sp>
    </p:spTree>
    <p:extLst>
      <p:ext uri="{BB962C8B-B14F-4D97-AF65-F5344CB8AC3E}">
        <p14:creationId xmlns:p14="http://schemas.microsoft.com/office/powerpoint/2010/main" val="4152124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939DA6-2303-4E2A-DB17-6794A9FEA89A}"/>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3E4772F-41FD-F6CC-0CE6-41FF916D73CC}"/>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 RESULT</a:t>
            </a:r>
          </a:p>
        </p:txBody>
      </p:sp>
      <p:sp>
        <p:nvSpPr>
          <p:cNvPr id="4" name="TextBox 3">
            <a:extLst>
              <a:ext uri="{FF2B5EF4-FFF2-40B4-BE49-F238E27FC236}">
                <a16:creationId xmlns:a16="http://schemas.microsoft.com/office/drawing/2014/main" id="{30AD9D6D-BD61-0C74-289F-FF55E7FDCCD8}"/>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Where It Ended: Four Arms at 4 MiB</a:t>
            </a:r>
          </a:p>
        </p:txBody>
      </p:sp>
      <p:sp>
        <p:nvSpPr>
          <p:cNvPr id="5" name="Rectangle 4">
            <a:extLst>
              <a:ext uri="{FF2B5EF4-FFF2-40B4-BE49-F238E27FC236}">
                <a16:creationId xmlns:a16="http://schemas.microsoft.com/office/drawing/2014/main" id="{382861C5-82D1-0C35-C3A4-B5CFAA6AF1DA}"/>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5927A84-8E46-AD9F-ECE4-276A9D8853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0" y="1790031"/>
            <a:ext cx="7112000" cy="4192337"/>
          </a:xfrm>
          <a:prstGeom prst="rect">
            <a:avLst/>
          </a:prstGeom>
        </p:spPr>
      </p:pic>
      <p:sp>
        <p:nvSpPr>
          <p:cNvPr id="8" name="TextBox 7">
            <a:extLst>
              <a:ext uri="{FF2B5EF4-FFF2-40B4-BE49-F238E27FC236}">
                <a16:creationId xmlns:a16="http://schemas.microsoft.com/office/drawing/2014/main" id="{D6A87182-8B30-1140-EAD5-2456734E8A40}"/>
              </a:ext>
            </a:extLst>
          </p:cNvPr>
          <p:cNvSpPr txBox="1"/>
          <p:nvPr/>
        </p:nvSpPr>
        <p:spPr>
          <a:xfrm>
            <a:off x="7797800" y="1676400"/>
            <a:ext cx="3937000" cy="3313728"/>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300">
                <a:solidFill>
                  <a:srgbClr val="1B1B1B"/>
                </a:solidFill>
                <a:latin typeface="Segoe UI" panose="020B0502040204020203" pitchFamily="34" charset="0"/>
              </a:rPr>
              <a:t>12 reps per arm, each arm rotated through all four running positions</a:t>
            </a:r>
          </a:p>
          <a:p>
            <a:pPr marL="342900" indent="-342900">
              <a:spcAft>
                <a:spcPts val="1000"/>
              </a:spcAft>
              <a:buClr>
                <a:srgbClr val="03B585"/>
              </a:buClr>
              <a:buFont typeface="+mj-lt"/>
              <a:buChar char="•"/>
            </a:pPr>
            <a:r>
              <a:rPr lang="en-US" sz="1300">
                <a:solidFill>
                  <a:srgbClr val="1B1B1B"/>
                </a:solidFill>
                <a:latin typeface="Segoe UI" panose="020B0502040204020203" pitchFamily="34" charset="0"/>
              </a:rPr>
              <a:t>Error bars are distribution-free intervals of the median, so the chart shows what the measurement can and cannot resolve</a:t>
            </a:r>
          </a:p>
          <a:p>
            <a:pPr marL="342900" indent="-342900">
              <a:spcAft>
                <a:spcPts val="1000"/>
              </a:spcAft>
              <a:buClr>
                <a:srgbClr val="03B585"/>
              </a:buClr>
              <a:buFont typeface="+mj-lt"/>
              <a:buChar char="•"/>
            </a:pPr>
            <a:r>
              <a:rPr lang="en-US" sz="1300">
                <a:solidFill>
                  <a:srgbClr val="1B1B1B"/>
                </a:solidFill>
                <a:latin typeface="Segoe UI" panose="020B0502040204020203" pitchFamily="34" charset="0"/>
              </a:rPr>
              <a:t>gRPC-Direct is 1.71x faster than it was, and now sits 6.96 us behind DAQiri (12 of 12 reps, interval 5.31 to 9.41 us)</a:t>
            </a:r>
          </a:p>
          <a:p>
            <a:pPr marL="342900" indent="-342900">
              <a:spcAft>
                <a:spcPts val="1000"/>
              </a:spcAft>
              <a:buClr>
                <a:srgbClr val="03B585"/>
              </a:buClr>
              <a:buFont typeface="+mj-lt"/>
              <a:buChar char="•"/>
            </a:pPr>
            <a:r>
              <a:rPr lang="en-US" sz="1300">
                <a:solidFill>
                  <a:srgbClr val="1B1B1B"/>
                </a:solidFill>
                <a:latin typeface="Segoe UI" panose="020B0502040204020203" pitchFamily="34" charset="0"/>
              </a:rPr>
              <a:t>That 6.96 us does not depend on how hard the arms are driven: the same test at an eight times lower offered rate gives 7.02 us</a:t>
            </a:r>
          </a:p>
          <a:p>
            <a:pPr marL="342900" indent="-342900">
              <a:spcAft>
                <a:spcPts val="1000"/>
              </a:spcAft>
              <a:buClr>
                <a:srgbClr val="03B585"/>
              </a:buClr>
              <a:buFont typeface="+mj-lt"/>
              <a:buChar char="•"/>
            </a:pPr>
            <a:r>
              <a:rPr lang="en-US" sz="1300">
                <a:solidFill>
                  <a:srgbClr val="1B1B1B"/>
                </a:solidFill>
                <a:latin typeface="Segoe UI" panose="020B0502040204020203" pitchFamily="34" charset="0"/>
              </a:rPr>
              <a:t>The before arm has the fastest transform because it reads device memory after paying a 77 us copy to get there</a:t>
            </a:r>
          </a:p>
        </p:txBody>
      </p:sp>
      <p:sp>
        <p:nvSpPr>
          <p:cNvPr id="9" name="Rectangle 8">
            <a:extLst>
              <a:ext uri="{FF2B5EF4-FFF2-40B4-BE49-F238E27FC236}">
                <a16:creationId xmlns:a16="http://schemas.microsoft.com/office/drawing/2014/main" id="{2A0B5033-894D-30B6-D922-C5D4C81A5D26}"/>
              </a:ext>
            </a:extLst>
          </p:cNvPr>
          <p:cNvSpPr/>
          <p:nvPr/>
        </p:nvSpPr>
        <p:spPr>
          <a:xfrm>
            <a:off x="7797800" y="5562600"/>
            <a:ext cx="3937000" cy="889000"/>
          </a:xfrm>
          <a:prstGeom prst="rect">
            <a:avLst/>
          </a:prstGeom>
          <a:solidFill>
            <a:srgbClr val="FCF0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F68CAD4-3E00-4691-3DA4-BE0CA401D41F}"/>
              </a:ext>
            </a:extLst>
          </p:cNvPr>
          <p:cNvSpPr txBox="1"/>
          <p:nvPr/>
        </p:nvSpPr>
        <p:spPr>
          <a:xfrm>
            <a:off x="7950200" y="5664200"/>
            <a:ext cx="3632200" cy="553998"/>
          </a:xfrm>
          <a:prstGeom prst="rect">
            <a:avLst/>
          </a:prstGeom>
          <a:noFill/>
        </p:spPr>
        <p:txBody>
          <a:bodyPr vert="horz" wrap="square" lIns="0" tIns="0" rIns="0" bIns="0" rtlCol="0">
            <a:spAutoFit/>
          </a:bodyPr>
          <a:lstStyle/>
          <a:p>
            <a:r>
              <a:rPr lang="en-US" sz="1200" b="1">
                <a:solidFill>
                  <a:srgbClr val="1B1B1B"/>
                </a:solidFill>
                <a:latin typeface="Segoe UI" panose="020B0502040204020203" pitchFamily="34" charset="0"/>
              </a:rPr>
              <a:t>Only the RDMA arm cares about offered rate: 23 us between the two pacing regimes, against under 2 us for every other arm.</a:t>
            </a:r>
          </a:p>
        </p:txBody>
      </p:sp>
      <p:sp>
        <p:nvSpPr>
          <p:cNvPr id="11" name="TextBox 10">
            <a:extLst>
              <a:ext uri="{FF2B5EF4-FFF2-40B4-BE49-F238E27FC236}">
                <a16:creationId xmlns:a16="http://schemas.microsoft.com/office/drawing/2014/main" id="{C24618DA-D669-9194-9ABA-A528F917309A}"/>
              </a:ext>
            </a:extLst>
          </p:cNvPr>
          <p:cNvSpPr txBox="1"/>
          <p:nvPr/>
        </p:nvSpPr>
        <p:spPr>
          <a:xfrm>
            <a:off x="685800" y="6553200"/>
            <a:ext cx="10795000" cy="307777"/>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Source: data/deck_4arm_4mib.csv, saturated regime. 4 MiB payload, 1000 messages per cell, SM clock gated at 2400 MHz and recorded per cell. The unsaturated regime was measured at the same rep count and is the sensitivity result quoted above.</a:t>
            </a:r>
          </a:p>
        </p:txBody>
      </p:sp>
    </p:spTree>
    <p:extLst>
      <p:ext uri="{BB962C8B-B14F-4D97-AF65-F5344CB8AC3E}">
        <p14:creationId xmlns:p14="http://schemas.microsoft.com/office/powerpoint/2010/main" val="3193484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141112-D489-B8A3-E592-6723552B8FDD}"/>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6F38B4A-9BFB-3172-1F27-84A8A5A87751}"/>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OPEN ITEM</a:t>
            </a:r>
          </a:p>
        </p:txBody>
      </p:sp>
      <p:sp>
        <p:nvSpPr>
          <p:cNvPr id="4" name="TextBox 3">
            <a:extLst>
              <a:ext uri="{FF2B5EF4-FFF2-40B4-BE49-F238E27FC236}">
                <a16:creationId xmlns:a16="http://schemas.microsoft.com/office/drawing/2014/main" id="{F58711B0-3A7C-D12A-4C27-8AB86882CF6C}"/>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Open Issue: 128 KB Delivery Analysis</a:t>
            </a:r>
          </a:p>
        </p:txBody>
      </p:sp>
      <p:sp>
        <p:nvSpPr>
          <p:cNvPr id="5" name="Rectangle 4">
            <a:extLst>
              <a:ext uri="{FF2B5EF4-FFF2-40B4-BE49-F238E27FC236}">
                <a16:creationId xmlns:a16="http://schemas.microsoft.com/office/drawing/2014/main" id="{80F97024-E36E-26B4-0903-A4D8F71343DF}"/>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F3378DF-15BF-B064-85A5-8C02D6B3B40B}"/>
              </a:ext>
            </a:extLst>
          </p:cNvPr>
          <p:cNvSpPr/>
          <p:nvPr/>
        </p:nvSpPr>
        <p:spPr>
          <a:xfrm>
            <a:off x="10160000" y="381000"/>
            <a:ext cx="1219200" cy="304800"/>
          </a:xfrm>
          <a:prstGeom prst="rect">
            <a:avLst/>
          </a:prstGeom>
          <a:solidFill>
            <a:srgbClr val="F5A62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5A40817-5B76-6CE2-F87D-2C8C5D012CAF}"/>
              </a:ext>
            </a:extLst>
          </p:cNvPr>
          <p:cNvSpPr txBox="1"/>
          <p:nvPr/>
        </p:nvSpPr>
        <p:spPr>
          <a:xfrm>
            <a:off x="10160000" y="419100"/>
            <a:ext cx="1219200" cy="169277"/>
          </a:xfrm>
          <a:prstGeom prst="rect">
            <a:avLst/>
          </a:prstGeom>
          <a:noFill/>
        </p:spPr>
        <p:txBody>
          <a:bodyPr vert="horz" wrap="square" lIns="0" tIns="0" rIns="0" bIns="0" rtlCol="0">
            <a:spAutoFit/>
          </a:bodyPr>
          <a:lstStyle/>
          <a:p>
            <a:pPr algn="ctr"/>
            <a:r>
              <a:rPr lang="en-US" sz="1100" b="1">
                <a:solidFill>
                  <a:srgbClr val="FFFFFF"/>
                </a:solidFill>
                <a:latin typeface="Segoe UI" panose="020B0502040204020203" pitchFamily="34" charset="0"/>
              </a:rPr>
              <a:t>OPEN</a:t>
            </a:r>
          </a:p>
        </p:txBody>
      </p:sp>
      <p:sp>
        <p:nvSpPr>
          <p:cNvPr id="8" name="TextBox 7">
            <a:extLst>
              <a:ext uri="{FF2B5EF4-FFF2-40B4-BE49-F238E27FC236}">
                <a16:creationId xmlns:a16="http://schemas.microsoft.com/office/drawing/2014/main" id="{EAEE919B-CCED-789F-04F2-6385773E5F9C}"/>
              </a:ext>
            </a:extLst>
          </p:cNvPr>
          <p:cNvSpPr txBox="1"/>
          <p:nvPr/>
        </p:nvSpPr>
        <p:spPr>
          <a:xfrm>
            <a:off x="685800" y="1524000"/>
            <a:ext cx="10795000" cy="215444"/>
          </a:xfrm>
          <a:prstGeom prst="rect">
            <a:avLst/>
          </a:prstGeom>
          <a:noFill/>
        </p:spPr>
        <p:txBody>
          <a:bodyPr vert="horz" wrap="square" lIns="0" tIns="0" rIns="0" bIns="0" rtlCol="0">
            <a:spAutoFit/>
          </a:bodyPr>
          <a:lstStyle/>
          <a:p>
            <a:r>
              <a:rPr lang="en-US" sz="1400" b="1">
                <a:solidFill>
                  <a:srgbClr val="028C66"/>
                </a:solidFill>
                <a:latin typeface="Segoe UI" panose="020B0502040204020203" pitchFamily="34" charset="0"/>
              </a:rPr>
              <a:t>Observation</a:t>
            </a:r>
          </a:p>
        </p:txBody>
      </p:sp>
      <p:sp>
        <p:nvSpPr>
          <p:cNvPr id="9" name="TextBox 8">
            <a:extLst>
              <a:ext uri="{FF2B5EF4-FFF2-40B4-BE49-F238E27FC236}">
                <a16:creationId xmlns:a16="http://schemas.microsoft.com/office/drawing/2014/main" id="{7D0073C4-5C1F-698A-1F02-8B2D75F8C365}"/>
              </a:ext>
            </a:extLst>
          </p:cNvPr>
          <p:cNvSpPr txBox="1"/>
          <p:nvPr/>
        </p:nvSpPr>
        <p:spPr>
          <a:xfrm>
            <a:off x="685800" y="1803400"/>
            <a:ext cx="10795000" cy="215444"/>
          </a:xfrm>
          <a:prstGeom prst="rect">
            <a:avLst/>
          </a:prstGeom>
          <a:noFill/>
        </p:spPr>
        <p:txBody>
          <a:bodyPr vert="horz" wrap="square" lIns="0" tIns="0" rIns="0" bIns="0" rtlCol="0">
            <a:spAutoFit/>
          </a:bodyPr>
          <a:lstStyle/>
          <a:p>
            <a:r>
              <a:rPr lang="en-US" sz="1400">
                <a:solidFill>
                  <a:srgbClr val="1B1B1B"/>
                </a:solidFill>
                <a:latin typeface="Segoe UI" panose="020B0502040204020203" pitchFamily="34" charset="0"/>
              </a:rPr>
              <a:t>DAQiri delivers only ~12-24% of buffers at 128 KB over the TCP loopback socket engine; gRPC-Direct is unaffected.</a:t>
            </a:r>
          </a:p>
        </p:txBody>
      </p:sp>
      <p:sp>
        <p:nvSpPr>
          <p:cNvPr id="10" name="TextBox 9">
            <a:extLst>
              <a:ext uri="{FF2B5EF4-FFF2-40B4-BE49-F238E27FC236}">
                <a16:creationId xmlns:a16="http://schemas.microsoft.com/office/drawing/2014/main" id="{17CC2D55-1182-612F-505C-947B8AA74509}"/>
              </a:ext>
            </a:extLst>
          </p:cNvPr>
          <p:cNvSpPr txBox="1"/>
          <p:nvPr/>
        </p:nvSpPr>
        <p:spPr>
          <a:xfrm>
            <a:off x="685800" y="2362200"/>
            <a:ext cx="10795000" cy="215444"/>
          </a:xfrm>
          <a:prstGeom prst="rect">
            <a:avLst/>
          </a:prstGeom>
          <a:noFill/>
        </p:spPr>
        <p:txBody>
          <a:bodyPr vert="horz" wrap="square" lIns="0" tIns="0" rIns="0" bIns="0" rtlCol="0">
            <a:spAutoFit/>
          </a:bodyPr>
          <a:lstStyle/>
          <a:p>
            <a:r>
              <a:rPr lang="en-US" sz="1400" b="1">
                <a:solidFill>
                  <a:srgbClr val="028C66"/>
                </a:solidFill>
                <a:latin typeface="Segoe UI" panose="020B0502040204020203" pitchFamily="34" charset="0"/>
              </a:rPr>
              <a:t>Candidate hypotheses (to test)</a:t>
            </a:r>
          </a:p>
        </p:txBody>
      </p:sp>
      <p:sp>
        <p:nvSpPr>
          <p:cNvPr id="11" name="TextBox 10">
            <a:extLst>
              <a:ext uri="{FF2B5EF4-FFF2-40B4-BE49-F238E27FC236}">
                <a16:creationId xmlns:a16="http://schemas.microsoft.com/office/drawing/2014/main" id="{D44BE21B-4297-6ED0-EEA0-280F3F038710}"/>
              </a:ext>
            </a:extLst>
          </p:cNvPr>
          <p:cNvSpPr txBox="1"/>
          <p:nvPr/>
        </p:nvSpPr>
        <p:spPr>
          <a:xfrm>
            <a:off x="685800" y="2641600"/>
            <a:ext cx="10795000" cy="1246495"/>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Send-side vs receive-side: capture TX-sent vs RX-received counts (the binary prints both plus engine stats)</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Socket buffer limits: raise SO_SNDBUF / SO_RCVBUF via DAQiri socket_setsockopt (no sudo required)</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Configuration: revisit num_bufs, batch_size, and max_payload_size headroom in the YAML</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Transport ceiling: a genuine TCP-loopback limit at this payload (flagship kernel-bypass path would differ)</a:t>
            </a:r>
          </a:p>
        </p:txBody>
      </p:sp>
      <p:sp>
        <p:nvSpPr>
          <p:cNvPr id="12" name="TextBox 11">
            <a:extLst>
              <a:ext uri="{FF2B5EF4-FFF2-40B4-BE49-F238E27FC236}">
                <a16:creationId xmlns:a16="http://schemas.microsoft.com/office/drawing/2014/main" id="{731E0833-2BFC-3260-33EF-086E5AC9FEAB}"/>
              </a:ext>
            </a:extLst>
          </p:cNvPr>
          <p:cNvSpPr txBox="1"/>
          <p:nvPr/>
        </p:nvSpPr>
        <p:spPr>
          <a:xfrm>
            <a:off x="685800" y="4978400"/>
            <a:ext cx="10795000" cy="215444"/>
          </a:xfrm>
          <a:prstGeom prst="rect">
            <a:avLst/>
          </a:prstGeom>
          <a:noFill/>
        </p:spPr>
        <p:txBody>
          <a:bodyPr vert="horz" wrap="square" lIns="0" tIns="0" rIns="0" bIns="0" rtlCol="0">
            <a:spAutoFit/>
          </a:bodyPr>
          <a:lstStyle/>
          <a:p>
            <a:r>
              <a:rPr lang="en-US" sz="1400" b="1">
                <a:solidFill>
                  <a:srgbClr val="028C66"/>
                </a:solidFill>
                <a:latin typeface="Segoe UI" panose="020B0502040204020203" pitchFamily="34" charset="0"/>
              </a:rPr>
              <a:t>Diagnostic plan</a:t>
            </a:r>
          </a:p>
        </p:txBody>
      </p:sp>
      <p:sp>
        <p:nvSpPr>
          <p:cNvPr id="13" name="TextBox 12">
            <a:extLst>
              <a:ext uri="{FF2B5EF4-FFF2-40B4-BE49-F238E27FC236}">
                <a16:creationId xmlns:a16="http://schemas.microsoft.com/office/drawing/2014/main" id="{AFFDF251-257A-35BB-7EF3-F3AF04977F00}"/>
              </a:ext>
            </a:extLst>
          </p:cNvPr>
          <p:cNvSpPr txBox="1"/>
          <p:nvPr/>
        </p:nvSpPr>
        <p:spPr>
          <a:xfrm>
            <a:off x="685800" y="5257800"/>
            <a:ext cx="10795000" cy="559127"/>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Foreground 128 KB run capturing full summary to isolate send vs receive (Step 1)</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Apply no-sudo socket tuning symmetrically, re-run (Step 2); if drops persist, document as transport ceiling (Step 3)</a:t>
            </a:r>
          </a:p>
        </p:txBody>
      </p:sp>
      <p:sp>
        <p:nvSpPr>
          <p:cNvPr id="14" name="TextBox 13">
            <a:extLst>
              <a:ext uri="{FF2B5EF4-FFF2-40B4-BE49-F238E27FC236}">
                <a16:creationId xmlns:a16="http://schemas.microsoft.com/office/drawing/2014/main" id="{2F140D83-C205-8925-812C-CBE50433C69C}"/>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Blocked on test-hardware availability; hardware relocated 2026-07.</a:t>
            </a:r>
          </a:p>
        </p:txBody>
      </p:sp>
    </p:spTree>
    <p:extLst>
      <p:ext uri="{BB962C8B-B14F-4D97-AF65-F5344CB8AC3E}">
        <p14:creationId xmlns:p14="http://schemas.microsoft.com/office/powerpoint/2010/main" val="768393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1EF642-A8E9-30F2-BA24-9E078A7577E4}"/>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B25AD41-F805-0150-AD90-F0959B6774AE}"/>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MIL-STD RISK</a:t>
            </a:r>
          </a:p>
        </p:txBody>
      </p:sp>
      <p:sp>
        <p:nvSpPr>
          <p:cNvPr id="4" name="TextBox 3">
            <a:extLst>
              <a:ext uri="{FF2B5EF4-FFF2-40B4-BE49-F238E27FC236}">
                <a16:creationId xmlns:a16="http://schemas.microsoft.com/office/drawing/2014/main" id="{C03166BF-54D8-5554-A022-66AA8DD44447}"/>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Risk and Limitations</a:t>
            </a:r>
          </a:p>
        </p:txBody>
      </p:sp>
      <p:sp>
        <p:nvSpPr>
          <p:cNvPr id="5" name="Rectangle 4">
            <a:extLst>
              <a:ext uri="{FF2B5EF4-FFF2-40B4-BE49-F238E27FC236}">
                <a16:creationId xmlns:a16="http://schemas.microsoft.com/office/drawing/2014/main" id="{B58766AB-AAFB-2F63-906E-BFAC23001EAC}"/>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A80810C3-B3BD-D256-1483-F3B940B89A66}"/>
              </a:ext>
            </a:extLst>
          </p:cNvPr>
          <p:cNvGraphicFramePr>
            <a:graphicFrameLocks noGrp="1"/>
          </p:cNvGraphicFramePr>
          <p:nvPr>
            <p:extLst>
              <p:ext uri="{D42A27DB-BD31-4B8C-83A1-F6EECF244321}">
                <p14:modId xmlns:p14="http://schemas.microsoft.com/office/powerpoint/2010/main" val="3185946541"/>
              </p:ext>
            </p:extLst>
          </p:nvPr>
        </p:nvGraphicFramePr>
        <p:xfrm>
          <a:off x="685800" y="1549400"/>
          <a:ext cx="10795000" cy="2921000"/>
        </p:xfrm>
        <a:graphic>
          <a:graphicData uri="http://schemas.openxmlformats.org/drawingml/2006/table">
            <a:tbl>
              <a:tblPr firstRow="1" bandRow="1">
                <a:tableStyleId>{5C22544A-7EE6-4342-B048-85BDC9FD1C3A}</a:tableStyleId>
              </a:tblPr>
              <a:tblGrid>
                <a:gridCol w="3598333">
                  <a:extLst>
                    <a:ext uri="{9D8B030D-6E8A-4147-A177-3AD203B41FA5}">
                      <a16:colId xmlns:a16="http://schemas.microsoft.com/office/drawing/2014/main" val="2743763786"/>
                    </a:ext>
                  </a:extLst>
                </a:gridCol>
                <a:gridCol w="3598333">
                  <a:extLst>
                    <a:ext uri="{9D8B030D-6E8A-4147-A177-3AD203B41FA5}">
                      <a16:colId xmlns:a16="http://schemas.microsoft.com/office/drawing/2014/main" val="10278834"/>
                    </a:ext>
                  </a:extLst>
                </a:gridCol>
                <a:gridCol w="3598333">
                  <a:extLst>
                    <a:ext uri="{9D8B030D-6E8A-4147-A177-3AD203B41FA5}">
                      <a16:colId xmlns:a16="http://schemas.microsoft.com/office/drawing/2014/main" val="3239161915"/>
                    </a:ext>
                  </a:extLst>
                </a:gridCol>
              </a:tblGrid>
              <a:tr h="486833">
                <a:tc>
                  <a:txBody>
                    <a:bodyPr/>
                    <a:lstStyle/>
                    <a:p>
                      <a:r>
                        <a:rPr lang="en-US" sz="1200" b="1">
                          <a:solidFill>
                            <a:srgbClr val="FFFFFF"/>
                          </a:solidFill>
                          <a:latin typeface="Segoe UI" panose="020B0502040204020203" pitchFamily="34" charset="0"/>
                        </a:rPr>
                        <a:t>Area</a:t>
                      </a:r>
                    </a:p>
                  </a:txBody>
                  <a:tcPr marT="38100" marB="38100">
                    <a:solidFill>
                      <a:srgbClr val="03B585"/>
                    </a:solidFill>
                  </a:tcPr>
                </a:tc>
                <a:tc>
                  <a:txBody>
                    <a:bodyPr/>
                    <a:lstStyle/>
                    <a:p>
                      <a:r>
                        <a:rPr lang="en-US" sz="1200" b="1">
                          <a:solidFill>
                            <a:srgbClr val="FFFFFF"/>
                          </a:solidFill>
                          <a:latin typeface="Segoe UI" panose="020B0502040204020203" pitchFamily="34" charset="0"/>
                        </a:rPr>
                        <a:t>Limitation</a:t>
                      </a:r>
                    </a:p>
                  </a:txBody>
                  <a:tcPr marT="38100" marB="38100">
                    <a:solidFill>
                      <a:srgbClr val="03B585"/>
                    </a:solidFill>
                  </a:tcPr>
                </a:tc>
                <a:tc>
                  <a:txBody>
                    <a:bodyPr/>
                    <a:lstStyle/>
                    <a:p>
                      <a:r>
                        <a:rPr lang="en-US" sz="1200" b="1">
                          <a:solidFill>
                            <a:srgbClr val="FFFFFF"/>
                          </a:solidFill>
                          <a:latin typeface="Segoe UI" panose="020B0502040204020203" pitchFamily="34" charset="0"/>
                        </a:rPr>
                        <a:t>Mitigation</a:t>
                      </a:r>
                    </a:p>
                  </a:txBody>
                  <a:tcPr marT="38100" marB="38100">
                    <a:solidFill>
                      <a:srgbClr val="03B585"/>
                    </a:solidFill>
                  </a:tcPr>
                </a:tc>
                <a:extLst>
                  <a:ext uri="{0D108BD9-81ED-4DB2-BD59-A6C34878D82A}">
                    <a16:rowId xmlns:a16="http://schemas.microsoft.com/office/drawing/2014/main" val="654397347"/>
                  </a:ext>
                </a:extLst>
              </a:tr>
              <a:tr h="486833">
                <a:tc>
                  <a:txBody>
                    <a:bodyPr/>
                    <a:lstStyle/>
                    <a:p>
                      <a:r>
                        <a:rPr lang="en-US" sz="1200">
                          <a:solidFill>
                            <a:srgbClr val="1B1B1B"/>
                          </a:solidFill>
                          <a:latin typeface="Segoe UI" panose="020B0502040204020203" pitchFamily="34" charset="0"/>
                        </a:rPr>
                        <a:t>GPU clocks</a:t>
                      </a:r>
                    </a:p>
                  </a:txBody>
                  <a:tcPr marT="38100" marB="38100">
                    <a:solidFill>
                      <a:srgbClr val="FFFFFF"/>
                    </a:solidFill>
                  </a:tcPr>
                </a:tc>
                <a:tc>
                  <a:txBody>
                    <a:bodyPr/>
                    <a:lstStyle/>
                    <a:p>
                      <a:r>
                        <a:rPr lang="en-US" sz="1200">
                          <a:solidFill>
                            <a:srgbClr val="1B1B1B"/>
                          </a:solidFill>
                          <a:latin typeface="Segoe UI" panose="020B0502040204020203" pitchFamily="34" charset="0"/>
                        </a:rPr>
                        <a:t>Not lockable, &gt;10x DVFS swing</a:t>
                      </a:r>
                    </a:p>
                  </a:txBody>
                  <a:tcPr marT="38100" marB="38100">
                    <a:solidFill>
                      <a:srgbClr val="FFFFFF"/>
                    </a:solidFill>
                  </a:tcPr>
                </a:tc>
                <a:tc>
                  <a:txBody>
                    <a:bodyPr/>
                    <a:lstStyle/>
                    <a:p>
                      <a:r>
                        <a:rPr lang="en-US" sz="1200">
                          <a:solidFill>
                            <a:srgbClr val="1B1B1B"/>
                          </a:solidFill>
                          <a:latin typeface="Segoe UI" panose="020B0502040204020203" pitchFamily="34" charset="0"/>
                        </a:rPr>
                        <a:t>Clocks warmed to 2400 MHz and recorded per cell</a:t>
                      </a:r>
                    </a:p>
                  </a:txBody>
                  <a:tcPr marT="38100" marB="38100">
                    <a:solidFill>
                      <a:srgbClr val="FFFFFF"/>
                    </a:solidFill>
                  </a:tcPr>
                </a:tc>
                <a:extLst>
                  <a:ext uri="{0D108BD9-81ED-4DB2-BD59-A6C34878D82A}">
                    <a16:rowId xmlns:a16="http://schemas.microsoft.com/office/drawing/2014/main" val="1033535987"/>
                  </a:ext>
                </a:extLst>
              </a:tr>
              <a:tr h="486833">
                <a:tc>
                  <a:txBody>
                    <a:bodyPr/>
                    <a:lstStyle/>
                    <a:p>
                      <a:r>
                        <a:rPr lang="en-US" sz="1200">
                          <a:solidFill>
                            <a:srgbClr val="1B1B1B"/>
                          </a:solidFill>
                          <a:latin typeface="Segoe UI" panose="020B0502040204020203" pitchFamily="34" charset="0"/>
                        </a:rPr>
                        <a:t>Topology</a:t>
                      </a:r>
                    </a:p>
                  </a:txBody>
                  <a:tcPr marT="38100" marB="38100">
                    <a:solidFill>
                      <a:srgbClr val="FFFFFF"/>
                    </a:solidFill>
                  </a:tcPr>
                </a:tc>
                <a:tc>
                  <a:txBody>
                    <a:bodyPr/>
                    <a:lstStyle/>
                    <a:p>
                      <a:r>
                        <a:rPr lang="en-US" sz="1200">
                          <a:solidFill>
                            <a:srgbClr val="1B1B1B"/>
                          </a:solidFill>
                          <a:latin typeface="Segoe UI" panose="020B0502040204020203" pitchFamily="34" charset="0"/>
                        </a:rPr>
                        <a:t>Part 3 arms all run same-box, DAQiri as an RC loopback</a:t>
                      </a:r>
                    </a:p>
                  </a:txBody>
                  <a:tcPr marT="38100" marB="38100">
                    <a:solidFill>
                      <a:srgbClr val="FFFFFF"/>
                    </a:solidFill>
                  </a:tcPr>
                </a:tc>
                <a:tc>
                  <a:txBody>
                    <a:bodyPr/>
                    <a:lstStyle/>
                    <a:p>
                      <a:r>
                        <a:rPr lang="en-US" sz="1200">
                          <a:solidFill>
                            <a:srgbClr val="1B1B1B"/>
                          </a:solidFill>
                          <a:latin typeface="Segoe UI" panose="020B0502040204020203" pitchFamily="34" charset="0"/>
                        </a:rPr>
                        <a:t>Same for every arm, which is what makes them comparable</a:t>
                      </a:r>
                    </a:p>
                  </a:txBody>
                  <a:tcPr marT="38100" marB="38100">
                    <a:solidFill>
                      <a:srgbClr val="FFFFFF"/>
                    </a:solidFill>
                  </a:tcPr>
                </a:tc>
                <a:extLst>
                  <a:ext uri="{0D108BD9-81ED-4DB2-BD59-A6C34878D82A}">
                    <a16:rowId xmlns:a16="http://schemas.microsoft.com/office/drawing/2014/main" val="877369759"/>
                  </a:ext>
                </a:extLst>
              </a:tr>
              <a:tr h="486833">
                <a:tc>
                  <a:txBody>
                    <a:bodyPr/>
                    <a:lstStyle/>
                    <a:p>
                      <a:r>
                        <a:rPr lang="en-US" sz="1200">
                          <a:solidFill>
                            <a:srgbClr val="1B1B1B"/>
                          </a:solidFill>
                          <a:latin typeface="Segoe UI" panose="020B0502040204020203" pitchFamily="34" charset="0"/>
                        </a:rPr>
                        <a:t>Offered rate</a:t>
                      </a:r>
                    </a:p>
                  </a:txBody>
                  <a:tcPr marT="38100" marB="38100">
                    <a:solidFill>
                      <a:srgbClr val="FFFFFF"/>
                    </a:solidFill>
                  </a:tcPr>
                </a:tc>
                <a:tc>
                  <a:txBody>
                    <a:bodyPr/>
                    <a:lstStyle/>
                    <a:p>
                      <a:r>
                        <a:rPr lang="en-US" sz="1200">
                          <a:solidFill>
                            <a:srgbClr val="1B1B1B"/>
                          </a:solidFill>
                          <a:latin typeface="Segoe UI" panose="020B0502040204020203" pitchFamily="34" charset="0"/>
                        </a:rPr>
                        <a:t>The RDMA arm moves 23 us between pacing regimes; no other arm moves more than 2 us</a:t>
                      </a:r>
                    </a:p>
                  </a:txBody>
                  <a:tcPr marT="38100" marB="38100">
                    <a:solidFill>
                      <a:srgbClr val="FFFFFF"/>
                    </a:solidFill>
                  </a:tcPr>
                </a:tc>
                <a:tc>
                  <a:txBody>
                    <a:bodyPr/>
                    <a:lstStyle/>
                    <a:p>
                      <a:r>
                        <a:rPr lang="en-US" sz="1200">
                          <a:solidFill>
                            <a:srgbClr val="1B1B1B"/>
                          </a:solidFill>
                          <a:latin typeface="Segoe UI" panose="020B0502040204020203" pitchFamily="34" charset="0"/>
                        </a:rPr>
                        <a:t>Both regimes measured at 12 reps; the headline names the one it uses</a:t>
                      </a:r>
                    </a:p>
                  </a:txBody>
                  <a:tcPr marT="38100" marB="38100">
                    <a:solidFill>
                      <a:srgbClr val="FFFFFF"/>
                    </a:solidFill>
                  </a:tcPr>
                </a:tc>
                <a:extLst>
                  <a:ext uri="{0D108BD9-81ED-4DB2-BD59-A6C34878D82A}">
                    <a16:rowId xmlns:a16="http://schemas.microsoft.com/office/drawing/2014/main" val="185194244"/>
                  </a:ext>
                </a:extLst>
              </a:tr>
              <a:tr h="486833">
                <a:tc>
                  <a:txBody>
                    <a:bodyPr/>
                    <a:lstStyle/>
                    <a:p>
                      <a:r>
                        <a:rPr lang="en-US" sz="1200">
                          <a:solidFill>
                            <a:srgbClr val="1B1B1B"/>
                          </a:solidFill>
                          <a:latin typeface="Segoe UI" panose="020B0502040204020203" pitchFamily="34" charset="0"/>
                        </a:rPr>
                        <a:t>Delivery</a:t>
                      </a:r>
                    </a:p>
                  </a:txBody>
                  <a:tcPr marT="38100" marB="38100">
                    <a:solidFill>
                      <a:srgbClr val="FFFFFF"/>
                    </a:solidFill>
                  </a:tcPr>
                </a:tc>
                <a:tc>
                  <a:txBody>
                    <a:bodyPr/>
                    <a:lstStyle/>
                    <a:p>
                      <a:r>
                        <a:rPr lang="en-US" sz="1200">
                          <a:solidFill>
                            <a:srgbClr val="1B1B1B"/>
                          </a:solidFill>
                          <a:latin typeface="Segoe UI" panose="020B0502040204020203" pitchFamily="34" charset="0"/>
                        </a:rPr>
                        <a:t>128 KB drop on DAQiri (open)</a:t>
                      </a:r>
                    </a:p>
                  </a:txBody>
                  <a:tcPr marT="38100" marB="38100">
                    <a:solidFill>
                      <a:srgbClr val="FFFFFF"/>
                    </a:solidFill>
                  </a:tcPr>
                </a:tc>
                <a:tc>
                  <a:txBody>
                    <a:bodyPr/>
                    <a:lstStyle/>
                    <a:p>
                      <a:r>
                        <a:rPr lang="en-US" sz="1200">
                          <a:solidFill>
                            <a:srgbClr val="1B1B1B"/>
                          </a:solidFill>
                          <a:latin typeface="Segoe UI" panose="020B0502040204020203" pitchFamily="34" charset="0"/>
                        </a:rPr>
                        <a:t>Diagnostic plan defined; latency unaffected</a:t>
                      </a:r>
                    </a:p>
                  </a:txBody>
                  <a:tcPr marT="38100" marB="38100">
                    <a:solidFill>
                      <a:srgbClr val="FFFFFF"/>
                    </a:solidFill>
                  </a:tcPr>
                </a:tc>
                <a:extLst>
                  <a:ext uri="{0D108BD9-81ED-4DB2-BD59-A6C34878D82A}">
                    <a16:rowId xmlns:a16="http://schemas.microsoft.com/office/drawing/2014/main" val="3398863917"/>
                  </a:ext>
                </a:extLst>
              </a:tr>
              <a:tr h="486833">
                <a:tc>
                  <a:txBody>
                    <a:bodyPr/>
                    <a:lstStyle/>
                    <a:p>
                      <a:r>
                        <a:rPr lang="en-US" sz="1200">
                          <a:solidFill>
                            <a:srgbClr val="1B1B1B"/>
                          </a:solidFill>
                          <a:latin typeface="Segoe UI" panose="020B0502040204020203" pitchFamily="34" charset="0"/>
                        </a:rPr>
                        <a:t>Rep count</a:t>
                      </a:r>
                    </a:p>
                  </a:txBody>
                  <a:tcPr marT="38100" marB="38100">
                    <a:solidFill>
                      <a:srgbClr val="FFFFFF"/>
                    </a:solidFill>
                  </a:tcPr>
                </a:tc>
                <a:tc>
                  <a:txBody>
                    <a:bodyPr/>
                    <a:lstStyle/>
                    <a:p>
                      <a:r>
                        <a:rPr lang="en-US" sz="1200">
                          <a:solidFill>
                            <a:srgbClr val="1B1B1B"/>
                          </a:solidFill>
                          <a:latin typeface="Segoe UI" panose="020B0502040204020203" pitchFamily="34" charset="0"/>
                        </a:rPr>
                        <a:t>Slides on payload shape rest on 2 reps per cell</a:t>
                      </a:r>
                    </a:p>
                  </a:txBody>
                  <a:tcPr marT="38100" marB="38100">
                    <a:solidFill>
                      <a:srgbClr val="FFFFFF"/>
                    </a:solidFill>
                  </a:tcPr>
                </a:tc>
                <a:tc>
                  <a:txBody>
                    <a:bodyPr/>
                    <a:lstStyle/>
                    <a:p>
                      <a:r>
                        <a:rPr lang="en-US" sz="1200">
                          <a:solidFill>
                            <a:srgbClr val="1B1B1B"/>
                          </a:solidFill>
                          <a:latin typeface="Segoe UI" panose="020B0502040204020203" pitchFamily="34" charset="0"/>
                        </a:rPr>
                        <a:t>Rep count printed on those slides; 4 MiB conclusions use 12</a:t>
                      </a:r>
                    </a:p>
                  </a:txBody>
                  <a:tcPr marT="38100" marB="38100">
                    <a:solidFill>
                      <a:srgbClr val="FFFFFF"/>
                    </a:solidFill>
                  </a:tcPr>
                </a:tc>
                <a:extLst>
                  <a:ext uri="{0D108BD9-81ED-4DB2-BD59-A6C34878D82A}">
                    <a16:rowId xmlns:a16="http://schemas.microsoft.com/office/drawing/2014/main" val="1897105549"/>
                  </a:ext>
                </a:extLst>
              </a:tr>
            </a:tbl>
          </a:graphicData>
        </a:graphic>
      </p:graphicFrame>
      <p:sp>
        <p:nvSpPr>
          <p:cNvPr id="7" name="TextBox 6">
            <a:extLst>
              <a:ext uri="{FF2B5EF4-FFF2-40B4-BE49-F238E27FC236}">
                <a16:creationId xmlns:a16="http://schemas.microsoft.com/office/drawing/2014/main" id="{90AB8D63-6B5E-834A-DD12-CB1EA06E6564}"/>
              </a:ext>
            </a:extLst>
          </p:cNvPr>
          <p:cNvSpPr txBox="1"/>
          <p:nvPr/>
        </p:nvSpPr>
        <p:spPr>
          <a:xfrm>
            <a:off x="685800" y="4673600"/>
            <a:ext cx="10795000" cy="559127"/>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Latency medians are robust to the drop (drops reduce sample count, not the median of delivered buffers)</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Throughput and reliability at 128 KB is the only affected result and is flagged as open</a:t>
            </a:r>
          </a:p>
        </p:txBody>
      </p:sp>
    </p:spTree>
    <p:extLst>
      <p:ext uri="{BB962C8B-B14F-4D97-AF65-F5344CB8AC3E}">
        <p14:creationId xmlns:p14="http://schemas.microsoft.com/office/powerpoint/2010/main" val="467244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13BABA-5C70-6069-4802-4FE0C6DA44FA}"/>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526057C-D2D2-5404-2E54-4CF0427BCADC}"/>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CLOSURE</a:t>
            </a:r>
          </a:p>
        </p:txBody>
      </p:sp>
      <p:sp>
        <p:nvSpPr>
          <p:cNvPr id="4" name="TextBox 3">
            <a:extLst>
              <a:ext uri="{FF2B5EF4-FFF2-40B4-BE49-F238E27FC236}">
                <a16:creationId xmlns:a16="http://schemas.microsoft.com/office/drawing/2014/main" id="{7B5FEB5A-04A5-BA04-3D2A-1092F099A14D}"/>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Conclusions and Verification Status</a:t>
            </a:r>
          </a:p>
        </p:txBody>
      </p:sp>
      <p:sp>
        <p:nvSpPr>
          <p:cNvPr id="5" name="Rectangle 4">
            <a:extLst>
              <a:ext uri="{FF2B5EF4-FFF2-40B4-BE49-F238E27FC236}">
                <a16:creationId xmlns:a16="http://schemas.microsoft.com/office/drawing/2014/main" id="{03154E07-231E-9795-F217-E0E07C8914BD}"/>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989196B3-2DB7-0C98-9233-10AC5F5D2DAE}"/>
              </a:ext>
            </a:extLst>
          </p:cNvPr>
          <p:cNvGraphicFramePr>
            <a:graphicFrameLocks noGrp="1"/>
          </p:cNvGraphicFramePr>
          <p:nvPr>
            <p:extLst>
              <p:ext uri="{D42A27DB-BD31-4B8C-83A1-F6EECF244321}">
                <p14:modId xmlns:p14="http://schemas.microsoft.com/office/powerpoint/2010/main" val="3852062253"/>
              </p:ext>
            </p:extLst>
          </p:nvPr>
        </p:nvGraphicFramePr>
        <p:xfrm>
          <a:off x="685800" y="1498600"/>
          <a:ext cx="10795000" cy="3403600"/>
        </p:xfrm>
        <a:graphic>
          <a:graphicData uri="http://schemas.openxmlformats.org/drawingml/2006/table">
            <a:tbl>
              <a:tblPr firstRow="1" bandRow="1">
                <a:tableStyleId>{5C22544A-7EE6-4342-B048-85BDC9FD1C3A}</a:tableStyleId>
              </a:tblPr>
              <a:tblGrid>
                <a:gridCol w="5397500">
                  <a:extLst>
                    <a:ext uri="{9D8B030D-6E8A-4147-A177-3AD203B41FA5}">
                      <a16:colId xmlns:a16="http://schemas.microsoft.com/office/drawing/2014/main" val="3290755867"/>
                    </a:ext>
                  </a:extLst>
                </a:gridCol>
                <a:gridCol w="5397500">
                  <a:extLst>
                    <a:ext uri="{9D8B030D-6E8A-4147-A177-3AD203B41FA5}">
                      <a16:colId xmlns:a16="http://schemas.microsoft.com/office/drawing/2014/main" val="3451038195"/>
                    </a:ext>
                  </a:extLst>
                </a:gridCol>
              </a:tblGrid>
              <a:tr h="378178">
                <a:tc>
                  <a:txBody>
                    <a:bodyPr/>
                    <a:lstStyle/>
                    <a:p>
                      <a:r>
                        <a:rPr lang="en-US" sz="1200" b="1">
                          <a:solidFill>
                            <a:srgbClr val="FFFFFF"/>
                          </a:solidFill>
                          <a:latin typeface="Segoe UI" panose="020B0502040204020203" pitchFamily="34" charset="0"/>
                        </a:rPr>
                        <a:t>Finding</a:t>
                      </a:r>
                    </a:p>
                  </a:txBody>
                  <a:tcPr marT="38100" marB="38100">
                    <a:solidFill>
                      <a:srgbClr val="03B585"/>
                    </a:solidFill>
                  </a:tcPr>
                </a:tc>
                <a:tc>
                  <a:txBody>
                    <a:bodyPr/>
                    <a:lstStyle/>
                    <a:p>
                      <a:r>
                        <a:rPr lang="en-US" sz="1200" b="1">
                          <a:solidFill>
                            <a:srgbClr val="FFFFFF"/>
                          </a:solidFill>
                          <a:latin typeface="Segoe UI" panose="020B0502040204020203" pitchFamily="34" charset="0"/>
                        </a:rPr>
                        <a:t>Status</a:t>
                      </a:r>
                    </a:p>
                  </a:txBody>
                  <a:tcPr marT="38100" marB="38100">
                    <a:solidFill>
                      <a:srgbClr val="03B585"/>
                    </a:solidFill>
                  </a:tcPr>
                </a:tc>
                <a:extLst>
                  <a:ext uri="{0D108BD9-81ED-4DB2-BD59-A6C34878D82A}">
                    <a16:rowId xmlns:a16="http://schemas.microsoft.com/office/drawing/2014/main" val="3764021499"/>
                  </a:ext>
                </a:extLst>
              </a:tr>
              <a:tr h="378178">
                <a:tc>
                  <a:txBody>
                    <a:bodyPr/>
                    <a:lstStyle/>
                    <a:p>
                      <a:r>
                        <a:rPr lang="en-US" sz="1200">
                          <a:solidFill>
                            <a:srgbClr val="1B1B1B"/>
                          </a:solidFill>
                          <a:latin typeface="Segoe UI" panose="020B0502040204020203" pitchFamily="34" charset="0"/>
                        </a:rPr>
                        <a:t>Transport swap gives up to 281x lower latency, same API</a:t>
                      </a:r>
                    </a:p>
                  </a:txBody>
                  <a:tcPr marT="38100" marB="38100">
                    <a:solidFill>
                      <a:srgbClr val="FFFFFF"/>
                    </a:solidFill>
                  </a:tcPr>
                </a:tc>
                <a:tc>
                  <a:txBody>
                    <a:bodyPr/>
                    <a:lstStyle/>
                    <a:p>
                      <a:r>
                        <a:rPr lang="en-US" sz="1200">
                          <a:solidFill>
                            <a:srgbClr val="1B1B1B"/>
                          </a:solidFill>
                          <a:latin typeface="Segoe UI" panose="020B0502040204020203" pitchFamily="34" charset="0"/>
                        </a:rPr>
                        <a:t>VERIFIED</a:t>
                      </a:r>
                    </a:p>
                  </a:txBody>
                  <a:tcPr marT="38100" marB="38100">
                    <a:solidFill>
                      <a:srgbClr val="FFFFFF"/>
                    </a:solidFill>
                  </a:tcPr>
                </a:tc>
                <a:extLst>
                  <a:ext uri="{0D108BD9-81ED-4DB2-BD59-A6C34878D82A}">
                    <a16:rowId xmlns:a16="http://schemas.microsoft.com/office/drawing/2014/main" val="3473482228"/>
                  </a:ext>
                </a:extLst>
              </a:tr>
              <a:tr h="378178">
                <a:tc>
                  <a:txBody>
                    <a:bodyPr/>
                    <a:lstStyle/>
                    <a:p>
                      <a:r>
                        <a:rPr lang="en-US" sz="1200">
                          <a:solidFill>
                            <a:srgbClr val="1B1B1B"/>
                          </a:solidFill>
                          <a:latin typeface="Segoe UI" panose="020B0502040204020203" pitchFamily="34" charset="0"/>
                        </a:rPr>
                        <a:t>Zero-copy gives 3.9x streaming throughput</a:t>
                      </a:r>
                    </a:p>
                  </a:txBody>
                  <a:tcPr marT="38100" marB="38100">
                    <a:solidFill>
                      <a:srgbClr val="FFFFFF"/>
                    </a:solidFill>
                  </a:tcPr>
                </a:tc>
                <a:tc>
                  <a:txBody>
                    <a:bodyPr/>
                    <a:lstStyle/>
                    <a:p>
                      <a:r>
                        <a:rPr lang="en-US" sz="1200">
                          <a:solidFill>
                            <a:srgbClr val="1B1B1B"/>
                          </a:solidFill>
                          <a:latin typeface="Segoe UI" panose="020B0502040204020203" pitchFamily="34" charset="0"/>
                        </a:rPr>
                        <a:t>VERIFIED</a:t>
                      </a:r>
                    </a:p>
                  </a:txBody>
                  <a:tcPr marT="38100" marB="38100">
                    <a:solidFill>
                      <a:srgbClr val="FFFFFF"/>
                    </a:solidFill>
                  </a:tcPr>
                </a:tc>
                <a:extLst>
                  <a:ext uri="{0D108BD9-81ED-4DB2-BD59-A6C34878D82A}">
                    <a16:rowId xmlns:a16="http://schemas.microsoft.com/office/drawing/2014/main" val="1178665508"/>
                  </a:ext>
                </a:extLst>
              </a:tr>
              <a:tr h="378178">
                <a:tc>
                  <a:txBody>
                    <a:bodyPr/>
                    <a:lstStyle/>
                    <a:p>
                      <a:r>
                        <a:rPr lang="en-US" sz="1200">
                          <a:solidFill>
                            <a:srgbClr val="1B1B1B"/>
                          </a:solidFill>
                          <a:latin typeface="Segoe UI" panose="020B0502040204020203" pitchFamily="34" charset="0"/>
                        </a:rPr>
                        <a:t>RDMA transport runs at 98.0 percent of 50G line rate</a:t>
                      </a:r>
                    </a:p>
                  </a:txBody>
                  <a:tcPr marT="38100" marB="38100">
                    <a:solidFill>
                      <a:srgbClr val="FFFFFF"/>
                    </a:solidFill>
                  </a:tcPr>
                </a:tc>
                <a:tc>
                  <a:txBody>
                    <a:bodyPr/>
                    <a:lstStyle/>
                    <a:p>
                      <a:r>
                        <a:rPr lang="en-US" sz="1200">
                          <a:solidFill>
                            <a:srgbClr val="1B1B1B"/>
                          </a:solidFill>
                          <a:latin typeface="Segoe UI" panose="020B0502040204020203" pitchFamily="34" charset="0"/>
                        </a:rPr>
                        <a:t>VERIFIED</a:t>
                      </a:r>
                    </a:p>
                  </a:txBody>
                  <a:tcPr marT="38100" marB="38100">
                    <a:solidFill>
                      <a:srgbClr val="FFFFFF"/>
                    </a:solidFill>
                  </a:tcPr>
                </a:tc>
                <a:extLst>
                  <a:ext uri="{0D108BD9-81ED-4DB2-BD59-A6C34878D82A}">
                    <a16:rowId xmlns:a16="http://schemas.microsoft.com/office/drawing/2014/main" val="1706054142"/>
                  </a:ext>
                </a:extLst>
              </a:tr>
              <a:tr h="378178">
                <a:tc>
                  <a:txBody>
                    <a:bodyPr/>
                    <a:lstStyle/>
                    <a:p>
                      <a:r>
                        <a:rPr lang="en-US" sz="1200">
                          <a:solidFill>
                            <a:srgbClr val="1B1B1B"/>
                          </a:solidFill>
                          <a:latin typeface="Segoe UI" panose="020B0502040204020203" pitchFamily="34" charset="0"/>
                        </a:rPr>
                        <a:t>Earlier claim that RDMA ties DAQiri at the fabric limit</a:t>
                      </a:r>
                    </a:p>
                  </a:txBody>
                  <a:tcPr marT="38100" marB="38100">
                    <a:solidFill>
                      <a:srgbClr val="FFFFFF"/>
                    </a:solidFill>
                  </a:tcPr>
                </a:tc>
                <a:tc>
                  <a:txBody>
                    <a:bodyPr/>
                    <a:lstStyle/>
                    <a:p>
                      <a:r>
                        <a:rPr lang="en-US" sz="1200">
                          <a:solidFill>
                            <a:srgbClr val="1B1B1B"/>
                          </a:solidFill>
                          <a:latin typeface="Segoe UI" panose="020B0502040204020203" pitchFamily="34" charset="0"/>
                        </a:rPr>
                        <a:t>RETRACTED - measured a misconfigured MTU</a:t>
                      </a:r>
                    </a:p>
                  </a:txBody>
                  <a:tcPr marT="38100" marB="38100">
                    <a:solidFill>
                      <a:srgbClr val="FFFFFF"/>
                    </a:solidFill>
                  </a:tcPr>
                </a:tc>
                <a:extLst>
                  <a:ext uri="{0D108BD9-81ED-4DB2-BD59-A6C34878D82A}">
                    <a16:rowId xmlns:a16="http://schemas.microsoft.com/office/drawing/2014/main" val="3675467614"/>
                  </a:ext>
                </a:extLst>
              </a:tr>
              <a:tr h="378178">
                <a:tc>
                  <a:txBody>
                    <a:bodyPr/>
                    <a:lstStyle/>
                    <a:p>
                      <a:r>
                        <a:rPr lang="en-US" sz="1200">
                          <a:solidFill>
                            <a:srgbClr val="1B1B1B"/>
                          </a:solidFill>
                          <a:latin typeface="Segoe UI" panose="020B0502040204020203" pitchFamily="34" charset="0"/>
                        </a:rPr>
                        <a:t>Large-payload root cause found and fixed: 1.80x at 4 MB</a:t>
                      </a:r>
                    </a:p>
                  </a:txBody>
                  <a:tcPr marT="38100" marB="38100">
                    <a:solidFill>
                      <a:srgbClr val="FFFFFF"/>
                    </a:solidFill>
                  </a:tcPr>
                </a:tc>
                <a:tc>
                  <a:txBody>
                    <a:bodyPr/>
                    <a:lstStyle/>
                    <a:p>
                      <a:r>
                        <a:rPr lang="en-US" sz="1200">
                          <a:solidFill>
                            <a:srgbClr val="1B1B1B"/>
                          </a:solidFill>
                          <a:latin typeface="Segoe UI" panose="020B0502040204020203" pitchFamily="34" charset="0"/>
                        </a:rPr>
                        <a:t>VERIFIED</a:t>
                      </a:r>
                    </a:p>
                  </a:txBody>
                  <a:tcPr marT="38100" marB="38100">
                    <a:solidFill>
                      <a:srgbClr val="FFFFFF"/>
                    </a:solidFill>
                  </a:tcPr>
                </a:tc>
                <a:extLst>
                  <a:ext uri="{0D108BD9-81ED-4DB2-BD59-A6C34878D82A}">
                    <a16:rowId xmlns:a16="http://schemas.microsoft.com/office/drawing/2014/main" val="4252326639"/>
                  </a:ext>
                </a:extLst>
              </a:tr>
              <a:tr h="378178">
                <a:tc>
                  <a:txBody>
                    <a:bodyPr/>
                    <a:lstStyle/>
                    <a:p>
                      <a:r>
                        <a:rPr lang="en-US" sz="1200">
                          <a:solidFill>
                            <a:srgbClr val="1B1B1B"/>
                          </a:solidFill>
                          <a:latin typeface="Segoe UI" panose="020B0502040204020203" pitchFamily="34" charset="0"/>
                        </a:rPr>
                        <a:t>Remaining gap to DAQiri at 4 MiB: 6.96 us, 12 of 12 reps</a:t>
                      </a:r>
                    </a:p>
                  </a:txBody>
                  <a:tcPr marT="38100" marB="38100">
                    <a:solidFill>
                      <a:srgbClr val="FFFFFF"/>
                    </a:solidFill>
                  </a:tcPr>
                </a:tc>
                <a:tc>
                  <a:txBody>
                    <a:bodyPr/>
                    <a:lstStyle/>
                    <a:p>
                      <a:r>
                        <a:rPr lang="en-US" sz="1200">
                          <a:solidFill>
                            <a:srgbClr val="1B1B1B"/>
                          </a:solidFill>
                          <a:latin typeface="Segoe UI" panose="020B0502040204020203" pitchFamily="34" charset="0"/>
                        </a:rPr>
                        <a:t>VERIFIED</a:t>
                      </a:r>
                    </a:p>
                  </a:txBody>
                  <a:tcPr marT="38100" marB="38100">
                    <a:solidFill>
                      <a:srgbClr val="FFFFFF"/>
                    </a:solidFill>
                  </a:tcPr>
                </a:tc>
                <a:extLst>
                  <a:ext uri="{0D108BD9-81ED-4DB2-BD59-A6C34878D82A}">
                    <a16:rowId xmlns:a16="http://schemas.microsoft.com/office/drawing/2014/main" val="2388297156"/>
                  </a:ext>
                </a:extLst>
              </a:tr>
              <a:tr h="378178">
                <a:tc>
                  <a:txBody>
                    <a:bodyPr/>
                    <a:lstStyle/>
                    <a:p>
                      <a:r>
                        <a:rPr lang="en-US" sz="1200">
                          <a:solidFill>
                            <a:srgbClr val="1B1B1B"/>
                          </a:solidFill>
                          <a:latin typeface="Segoe UI" panose="020B0502040204020203" pitchFamily="34" charset="0"/>
                        </a:rPr>
                        <a:t>Host memory choice is neutral when the CPU does not write</a:t>
                      </a:r>
                    </a:p>
                  </a:txBody>
                  <a:tcPr marT="38100" marB="38100">
                    <a:solidFill>
                      <a:srgbClr val="FFFFFF"/>
                    </a:solidFill>
                  </a:tcPr>
                </a:tc>
                <a:tc>
                  <a:txBody>
                    <a:bodyPr/>
                    <a:lstStyle/>
                    <a:p>
                      <a:r>
                        <a:rPr lang="en-US" sz="1200">
                          <a:solidFill>
                            <a:srgbClr val="1B1B1B"/>
                          </a:solidFill>
                          <a:latin typeface="Segoe UI" panose="020B0502040204020203" pitchFamily="34" charset="0"/>
                        </a:rPr>
                        <a:t>VERIFIED</a:t>
                      </a:r>
                    </a:p>
                  </a:txBody>
                  <a:tcPr marT="38100" marB="38100">
                    <a:solidFill>
                      <a:srgbClr val="FFFFFF"/>
                    </a:solidFill>
                  </a:tcPr>
                </a:tc>
                <a:extLst>
                  <a:ext uri="{0D108BD9-81ED-4DB2-BD59-A6C34878D82A}">
                    <a16:rowId xmlns:a16="http://schemas.microsoft.com/office/drawing/2014/main" val="1838430281"/>
                  </a:ext>
                </a:extLst>
              </a:tr>
              <a:tr h="378178">
                <a:tc>
                  <a:txBody>
                    <a:bodyPr/>
                    <a:lstStyle/>
                    <a:p>
                      <a:r>
                        <a:rPr lang="en-US" sz="1200">
                          <a:solidFill>
                            <a:srgbClr val="1B1B1B"/>
                          </a:solidFill>
                          <a:latin typeface="Segoe UI" panose="020B0502040204020203" pitchFamily="34" charset="0"/>
                        </a:rPr>
                        <a:t>128 KB DAQiri delivery limit</a:t>
                      </a:r>
                    </a:p>
                  </a:txBody>
                  <a:tcPr marT="38100" marB="38100">
                    <a:solidFill>
                      <a:srgbClr val="FFFFFF"/>
                    </a:solidFill>
                  </a:tcPr>
                </a:tc>
                <a:tc>
                  <a:txBody>
                    <a:bodyPr/>
                    <a:lstStyle/>
                    <a:p>
                      <a:r>
                        <a:rPr lang="en-US" sz="1200">
                          <a:solidFill>
                            <a:srgbClr val="1B1B1B"/>
                          </a:solidFill>
                          <a:latin typeface="Segoe UI" panose="020B0502040204020203" pitchFamily="34" charset="0"/>
                        </a:rPr>
                        <a:t>OPEN - under analysis</a:t>
                      </a:r>
                    </a:p>
                  </a:txBody>
                  <a:tcPr marT="38100" marB="38100">
                    <a:solidFill>
                      <a:srgbClr val="FFFFFF"/>
                    </a:solidFill>
                  </a:tcPr>
                </a:tc>
                <a:extLst>
                  <a:ext uri="{0D108BD9-81ED-4DB2-BD59-A6C34878D82A}">
                    <a16:rowId xmlns:a16="http://schemas.microsoft.com/office/drawing/2014/main" val="4136895380"/>
                  </a:ext>
                </a:extLst>
              </a:tr>
            </a:tbl>
          </a:graphicData>
        </a:graphic>
      </p:graphicFrame>
      <p:sp>
        <p:nvSpPr>
          <p:cNvPr id="7" name="TextBox 6">
            <a:extLst>
              <a:ext uri="{FF2B5EF4-FFF2-40B4-BE49-F238E27FC236}">
                <a16:creationId xmlns:a16="http://schemas.microsoft.com/office/drawing/2014/main" id="{EDC18DFB-E916-4304-D4FF-07263C04D988}"/>
              </a:ext>
            </a:extLst>
          </p:cNvPr>
          <p:cNvSpPr txBox="1"/>
          <p:nvPr/>
        </p:nvSpPr>
        <p:spPr>
          <a:xfrm>
            <a:off x="685800" y="5080000"/>
            <a:ext cx="10795000" cy="774571"/>
          </a:xfrm>
          <a:prstGeom prst="rect">
            <a:avLst/>
          </a:prstGeom>
          <a:noFill/>
        </p:spPr>
        <p:txBody>
          <a:bodyPr vert="horz" wrap="square" lIns="0" tIns="0" rIns="0" bIns="0" rtlCol="0">
            <a:spAutoFit/>
          </a:bodyPr>
          <a:lstStyle/>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Transport, not compute, governs hardware-to-GPU latency. The remaining difference at 4 MiB is about 7 us and is located inside cuFFT, not in the API</a:t>
            </a:r>
          </a:p>
          <a:p>
            <a:pPr marL="342900" indent="-342900">
              <a:spcAft>
                <a:spcPts val="1000"/>
              </a:spcAft>
              <a:buClr>
                <a:srgbClr val="03B585"/>
              </a:buClr>
              <a:buFont typeface="+mj-lt"/>
              <a:buChar char="•"/>
            </a:pPr>
            <a:r>
              <a:rPr lang="en-US" sz="1400">
                <a:solidFill>
                  <a:srgbClr val="1B1B1B"/>
                </a:solidFill>
                <a:latin typeface="Segoe UI" panose="020B0502040204020203" pitchFamily="34" charset="0"/>
              </a:rPr>
              <a:t>One delivery item remains open before full sign-off</a:t>
            </a:r>
          </a:p>
        </p:txBody>
      </p:sp>
    </p:spTree>
    <p:extLst>
      <p:ext uri="{BB962C8B-B14F-4D97-AF65-F5344CB8AC3E}">
        <p14:creationId xmlns:p14="http://schemas.microsoft.com/office/powerpoint/2010/main" val="2957525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EE0B1A-C872-BE31-4F1A-31D89279B63B}"/>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48106D3-93AC-120F-2F7B-FEED8C3B319C}"/>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ACTIONS</a:t>
            </a:r>
          </a:p>
        </p:txBody>
      </p:sp>
      <p:sp>
        <p:nvSpPr>
          <p:cNvPr id="4" name="TextBox 3">
            <a:extLst>
              <a:ext uri="{FF2B5EF4-FFF2-40B4-BE49-F238E27FC236}">
                <a16:creationId xmlns:a16="http://schemas.microsoft.com/office/drawing/2014/main" id="{1F2A8D80-BFDC-D6C0-11C4-72C04099E071}"/>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Action Items and Next Steps</a:t>
            </a:r>
          </a:p>
        </p:txBody>
      </p:sp>
      <p:sp>
        <p:nvSpPr>
          <p:cNvPr id="5" name="Rectangle 4">
            <a:extLst>
              <a:ext uri="{FF2B5EF4-FFF2-40B4-BE49-F238E27FC236}">
                <a16:creationId xmlns:a16="http://schemas.microsoft.com/office/drawing/2014/main" id="{B989CA4C-7905-4C10-D140-212C3A3A7D8F}"/>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8E3CF35E-9C08-6FC3-79C3-59A43BCB4B51}"/>
              </a:ext>
            </a:extLst>
          </p:cNvPr>
          <p:cNvGraphicFramePr>
            <a:graphicFrameLocks noGrp="1"/>
          </p:cNvGraphicFramePr>
          <p:nvPr>
            <p:extLst>
              <p:ext uri="{D42A27DB-BD31-4B8C-83A1-F6EECF244321}">
                <p14:modId xmlns:p14="http://schemas.microsoft.com/office/powerpoint/2010/main" val="1818128053"/>
              </p:ext>
            </p:extLst>
          </p:nvPr>
        </p:nvGraphicFramePr>
        <p:xfrm>
          <a:off x="685800" y="1549400"/>
          <a:ext cx="10795000" cy="2413000"/>
        </p:xfrm>
        <a:graphic>
          <a:graphicData uri="http://schemas.openxmlformats.org/drawingml/2006/table">
            <a:tbl>
              <a:tblPr firstRow="1" bandRow="1">
                <a:tableStyleId>{5C22544A-7EE6-4342-B048-85BDC9FD1C3A}</a:tableStyleId>
              </a:tblPr>
              <a:tblGrid>
                <a:gridCol w="2698750">
                  <a:extLst>
                    <a:ext uri="{9D8B030D-6E8A-4147-A177-3AD203B41FA5}">
                      <a16:colId xmlns:a16="http://schemas.microsoft.com/office/drawing/2014/main" val="2466121910"/>
                    </a:ext>
                  </a:extLst>
                </a:gridCol>
                <a:gridCol w="2698750">
                  <a:extLst>
                    <a:ext uri="{9D8B030D-6E8A-4147-A177-3AD203B41FA5}">
                      <a16:colId xmlns:a16="http://schemas.microsoft.com/office/drawing/2014/main" val="1477490527"/>
                    </a:ext>
                  </a:extLst>
                </a:gridCol>
                <a:gridCol w="2698750">
                  <a:extLst>
                    <a:ext uri="{9D8B030D-6E8A-4147-A177-3AD203B41FA5}">
                      <a16:colId xmlns:a16="http://schemas.microsoft.com/office/drawing/2014/main" val="2675274426"/>
                    </a:ext>
                  </a:extLst>
                </a:gridCol>
                <a:gridCol w="2698750">
                  <a:extLst>
                    <a:ext uri="{9D8B030D-6E8A-4147-A177-3AD203B41FA5}">
                      <a16:colId xmlns:a16="http://schemas.microsoft.com/office/drawing/2014/main" val="680031765"/>
                    </a:ext>
                  </a:extLst>
                </a:gridCol>
              </a:tblGrid>
              <a:tr h="482600">
                <a:tc>
                  <a:txBody>
                    <a:bodyPr/>
                    <a:lstStyle/>
                    <a:p>
                      <a:r>
                        <a:rPr lang="en-US" sz="1200" b="1">
                          <a:solidFill>
                            <a:srgbClr val="FFFFFF"/>
                          </a:solidFill>
                          <a:latin typeface="Segoe UI" panose="020B0502040204020203" pitchFamily="34" charset="0"/>
                        </a:rPr>
                        <a:t>#</a:t>
                      </a:r>
                    </a:p>
                  </a:txBody>
                  <a:tcPr marT="38100" marB="38100">
                    <a:solidFill>
                      <a:srgbClr val="03B585"/>
                    </a:solidFill>
                  </a:tcPr>
                </a:tc>
                <a:tc>
                  <a:txBody>
                    <a:bodyPr/>
                    <a:lstStyle/>
                    <a:p>
                      <a:r>
                        <a:rPr lang="en-US" sz="1200" b="1">
                          <a:solidFill>
                            <a:srgbClr val="FFFFFF"/>
                          </a:solidFill>
                          <a:latin typeface="Segoe UI" panose="020B0502040204020203" pitchFamily="34" charset="0"/>
                        </a:rPr>
                        <a:t>Action</a:t>
                      </a:r>
                    </a:p>
                  </a:txBody>
                  <a:tcPr marT="38100" marB="38100">
                    <a:solidFill>
                      <a:srgbClr val="03B585"/>
                    </a:solidFill>
                  </a:tcPr>
                </a:tc>
                <a:tc>
                  <a:txBody>
                    <a:bodyPr/>
                    <a:lstStyle/>
                    <a:p>
                      <a:r>
                        <a:rPr lang="en-US" sz="1200" b="1">
                          <a:solidFill>
                            <a:srgbClr val="FFFFFF"/>
                          </a:solidFill>
                          <a:latin typeface="Segoe UI" panose="020B0502040204020203" pitchFamily="34" charset="0"/>
                        </a:rPr>
                        <a:t>Owner</a:t>
                      </a:r>
                    </a:p>
                  </a:txBody>
                  <a:tcPr marT="38100" marB="38100">
                    <a:solidFill>
                      <a:srgbClr val="03B585"/>
                    </a:solidFill>
                  </a:tcPr>
                </a:tc>
                <a:tc>
                  <a:txBody>
                    <a:bodyPr/>
                    <a:lstStyle/>
                    <a:p>
                      <a:r>
                        <a:rPr lang="en-US" sz="1200" b="1">
                          <a:solidFill>
                            <a:srgbClr val="FFFFFF"/>
                          </a:solidFill>
                          <a:latin typeface="Segoe UI" panose="020B0502040204020203" pitchFamily="34" charset="0"/>
                        </a:rPr>
                        <a:t>Depends on</a:t>
                      </a:r>
                    </a:p>
                  </a:txBody>
                  <a:tcPr marT="38100" marB="38100">
                    <a:solidFill>
                      <a:srgbClr val="03B585"/>
                    </a:solidFill>
                  </a:tcPr>
                </a:tc>
                <a:extLst>
                  <a:ext uri="{0D108BD9-81ED-4DB2-BD59-A6C34878D82A}">
                    <a16:rowId xmlns:a16="http://schemas.microsoft.com/office/drawing/2014/main" val="2330902737"/>
                  </a:ext>
                </a:extLst>
              </a:tr>
              <a:tr h="482600">
                <a:tc>
                  <a:txBody>
                    <a:bodyPr/>
                    <a:lstStyle/>
                    <a:p>
                      <a:r>
                        <a:rPr lang="en-US" sz="1200">
                          <a:solidFill>
                            <a:srgbClr val="1B1B1B"/>
                          </a:solidFill>
                          <a:latin typeface="Segoe UI" panose="020B0502040204020203" pitchFamily="34" charset="0"/>
                        </a:rPr>
                        <a:t>1</a:t>
                      </a:r>
                    </a:p>
                  </a:txBody>
                  <a:tcPr marT="38100" marB="38100">
                    <a:solidFill>
                      <a:srgbClr val="FFFFFF"/>
                    </a:solidFill>
                  </a:tcPr>
                </a:tc>
                <a:tc>
                  <a:txBody>
                    <a:bodyPr/>
                    <a:lstStyle/>
                    <a:p>
                      <a:r>
                        <a:rPr lang="en-US" sz="1200">
                          <a:solidFill>
                            <a:srgbClr val="1B1B1B"/>
                          </a:solidFill>
                          <a:latin typeface="Segoe UI" panose="020B0502040204020203" pitchFamily="34" charset="0"/>
                        </a:rPr>
                        <a:t>Foreground 128 KB run: isolate send vs receive</a:t>
                      </a:r>
                    </a:p>
                  </a:txBody>
                  <a:tcPr marT="38100" marB="38100">
                    <a:solidFill>
                      <a:srgbClr val="FFFFFF"/>
                    </a:solidFill>
                  </a:tcPr>
                </a:tc>
                <a:tc>
                  <a:txBody>
                    <a:bodyPr/>
                    <a:lstStyle/>
                    <a:p>
                      <a:r>
                        <a:rPr lang="en-US" sz="1200">
                          <a:solidFill>
                            <a:srgbClr val="1B1B1B"/>
                          </a:solidFill>
                          <a:latin typeface="Segoe UI" panose="020B0502040204020203" pitchFamily="34" charset="0"/>
                        </a:rPr>
                        <a:t>D. Thomas</a:t>
                      </a:r>
                    </a:p>
                  </a:txBody>
                  <a:tcPr marT="38100" marB="38100">
                    <a:solidFill>
                      <a:srgbClr val="FFFFFF"/>
                    </a:solidFill>
                  </a:tcPr>
                </a:tc>
                <a:tc>
                  <a:txBody>
                    <a:bodyPr/>
                    <a:lstStyle/>
                    <a:p>
                      <a:r>
                        <a:rPr lang="en-US" sz="1200">
                          <a:solidFill>
                            <a:srgbClr val="1B1B1B"/>
                          </a:solidFill>
                          <a:latin typeface="Segoe UI" panose="020B0502040204020203" pitchFamily="34" charset="0"/>
                        </a:rPr>
                        <a:t>Hardware online</a:t>
                      </a:r>
                    </a:p>
                  </a:txBody>
                  <a:tcPr marT="38100" marB="38100">
                    <a:solidFill>
                      <a:srgbClr val="FFFFFF"/>
                    </a:solidFill>
                  </a:tcPr>
                </a:tc>
                <a:extLst>
                  <a:ext uri="{0D108BD9-81ED-4DB2-BD59-A6C34878D82A}">
                    <a16:rowId xmlns:a16="http://schemas.microsoft.com/office/drawing/2014/main" val="1093287505"/>
                  </a:ext>
                </a:extLst>
              </a:tr>
              <a:tr h="482600">
                <a:tc>
                  <a:txBody>
                    <a:bodyPr/>
                    <a:lstStyle/>
                    <a:p>
                      <a:r>
                        <a:rPr lang="en-US" sz="1200">
                          <a:solidFill>
                            <a:srgbClr val="1B1B1B"/>
                          </a:solidFill>
                          <a:latin typeface="Segoe UI" panose="020B0502040204020203" pitchFamily="34" charset="0"/>
                        </a:rPr>
                        <a:t>2</a:t>
                      </a:r>
                    </a:p>
                  </a:txBody>
                  <a:tcPr marT="38100" marB="38100">
                    <a:solidFill>
                      <a:srgbClr val="FFFFFF"/>
                    </a:solidFill>
                  </a:tcPr>
                </a:tc>
                <a:tc>
                  <a:txBody>
                    <a:bodyPr/>
                    <a:lstStyle/>
                    <a:p>
                      <a:r>
                        <a:rPr lang="en-US" sz="1200">
                          <a:solidFill>
                            <a:srgbClr val="1B1B1B"/>
                          </a:solidFill>
                          <a:latin typeface="Segoe UI" panose="020B0502040204020203" pitchFamily="34" charset="0"/>
                        </a:rPr>
                        <a:t>No-sudo socket tuning, symmetric re-run</a:t>
                      </a:r>
                    </a:p>
                  </a:txBody>
                  <a:tcPr marT="38100" marB="38100">
                    <a:solidFill>
                      <a:srgbClr val="FFFFFF"/>
                    </a:solidFill>
                  </a:tcPr>
                </a:tc>
                <a:tc>
                  <a:txBody>
                    <a:bodyPr/>
                    <a:lstStyle/>
                    <a:p>
                      <a:r>
                        <a:rPr lang="en-US" sz="1200">
                          <a:solidFill>
                            <a:srgbClr val="1B1B1B"/>
                          </a:solidFill>
                          <a:latin typeface="Segoe UI" panose="020B0502040204020203" pitchFamily="34" charset="0"/>
                        </a:rPr>
                        <a:t>D. Thomas</a:t>
                      </a:r>
                    </a:p>
                  </a:txBody>
                  <a:tcPr marT="38100" marB="38100">
                    <a:solidFill>
                      <a:srgbClr val="FFFFFF"/>
                    </a:solidFill>
                  </a:tcPr>
                </a:tc>
                <a:tc>
                  <a:txBody>
                    <a:bodyPr/>
                    <a:lstStyle/>
                    <a:p>
                      <a:r>
                        <a:rPr lang="en-US" sz="1200">
                          <a:solidFill>
                            <a:srgbClr val="1B1B1B"/>
                          </a:solidFill>
                          <a:latin typeface="Segoe UI" panose="020B0502040204020203" pitchFamily="34" charset="0"/>
                        </a:rPr>
                        <a:t>Item 1</a:t>
                      </a:r>
                    </a:p>
                  </a:txBody>
                  <a:tcPr marT="38100" marB="38100">
                    <a:solidFill>
                      <a:srgbClr val="FFFFFF"/>
                    </a:solidFill>
                  </a:tcPr>
                </a:tc>
                <a:extLst>
                  <a:ext uri="{0D108BD9-81ED-4DB2-BD59-A6C34878D82A}">
                    <a16:rowId xmlns:a16="http://schemas.microsoft.com/office/drawing/2014/main" val="3013051899"/>
                  </a:ext>
                </a:extLst>
              </a:tr>
              <a:tr h="482600">
                <a:tc>
                  <a:txBody>
                    <a:bodyPr/>
                    <a:lstStyle/>
                    <a:p>
                      <a:r>
                        <a:rPr lang="en-US" sz="1200">
                          <a:solidFill>
                            <a:srgbClr val="1B1B1B"/>
                          </a:solidFill>
                          <a:latin typeface="Segoe UI" panose="020B0502040204020203" pitchFamily="34" charset="0"/>
                        </a:rPr>
                        <a:t>3</a:t>
                      </a:r>
                    </a:p>
                  </a:txBody>
                  <a:tcPr marT="38100" marB="38100">
                    <a:solidFill>
                      <a:srgbClr val="FFFFFF"/>
                    </a:solidFill>
                  </a:tcPr>
                </a:tc>
                <a:tc>
                  <a:txBody>
                    <a:bodyPr/>
                    <a:lstStyle/>
                    <a:p>
                      <a:r>
                        <a:rPr lang="en-US" sz="1200">
                          <a:solidFill>
                            <a:srgbClr val="1B1B1B"/>
                          </a:solidFill>
                          <a:latin typeface="Segoe UI" panose="020B0502040204020203" pitchFamily="34" charset="0"/>
                        </a:rPr>
                        <a:t>Validate on flagship NIC-to-GPU path</a:t>
                      </a:r>
                    </a:p>
                  </a:txBody>
                  <a:tcPr marT="38100" marB="38100">
                    <a:solidFill>
                      <a:srgbClr val="FFFFFF"/>
                    </a:solidFill>
                  </a:tcPr>
                </a:tc>
                <a:tc>
                  <a:txBody>
                    <a:bodyPr/>
                    <a:lstStyle/>
                    <a:p>
                      <a:r>
                        <a:rPr lang="en-US" sz="1200">
                          <a:solidFill>
                            <a:srgbClr val="1B1B1B"/>
                          </a:solidFill>
                          <a:latin typeface="Segoe UI" panose="020B0502040204020203" pitchFamily="34" charset="0"/>
                        </a:rPr>
                        <a:t>D. Thomas</a:t>
                      </a:r>
                    </a:p>
                  </a:txBody>
                  <a:tcPr marT="38100" marB="38100">
                    <a:solidFill>
                      <a:srgbClr val="FFFFFF"/>
                    </a:solidFill>
                  </a:tcPr>
                </a:tc>
                <a:tc>
                  <a:txBody>
                    <a:bodyPr/>
                    <a:lstStyle/>
                    <a:p>
                      <a:r>
                        <a:rPr lang="en-US" sz="1200">
                          <a:solidFill>
                            <a:srgbClr val="1B1B1B"/>
                          </a:solidFill>
                          <a:latin typeface="Segoe UI" panose="020B0502040204020203" pitchFamily="34" charset="0"/>
                        </a:rPr>
                        <a:t>SmartNIC access</a:t>
                      </a:r>
                    </a:p>
                  </a:txBody>
                  <a:tcPr marT="38100" marB="38100">
                    <a:solidFill>
                      <a:srgbClr val="FFFFFF"/>
                    </a:solidFill>
                  </a:tcPr>
                </a:tc>
                <a:extLst>
                  <a:ext uri="{0D108BD9-81ED-4DB2-BD59-A6C34878D82A}">
                    <a16:rowId xmlns:a16="http://schemas.microsoft.com/office/drawing/2014/main" val="3503348252"/>
                  </a:ext>
                </a:extLst>
              </a:tr>
              <a:tr h="482600">
                <a:tc>
                  <a:txBody>
                    <a:bodyPr/>
                    <a:lstStyle/>
                    <a:p>
                      <a:r>
                        <a:rPr lang="en-US" sz="1200">
                          <a:solidFill>
                            <a:srgbClr val="1B1B1B"/>
                          </a:solidFill>
                          <a:latin typeface="Segoe UI" panose="020B0502040204020203" pitchFamily="34" charset="0"/>
                        </a:rPr>
                        <a:t>4</a:t>
                      </a:r>
                    </a:p>
                  </a:txBody>
                  <a:tcPr marT="38100" marB="38100">
                    <a:solidFill>
                      <a:srgbClr val="FFFFFF"/>
                    </a:solidFill>
                  </a:tcPr>
                </a:tc>
                <a:tc>
                  <a:txBody>
                    <a:bodyPr/>
                    <a:lstStyle/>
                    <a:p>
                      <a:r>
                        <a:rPr lang="en-US" sz="1200">
                          <a:solidFill>
                            <a:srgbClr val="1B1B1B"/>
                          </a:solidFill>
                          <a:latin typeface="Segoe UI" panose="020B0502040204020203" pitchFamily="34" charset="0"/>
                        </a:rPr>
                        <a:t>Package transport recommendation for NI teams</a:t>
                      </a:r>
                    </a:p>
                  </a:txBody>
                  <a:tcPr marT="38100" marB="38100">
                    <a:solidFill>
                      <a:srgbClr val="FFFFFF"/>
                    </a:solidFill>
                  </a:tcPr>
                </a:tc>
                <a:tc>
                  <a:txBody>
                    <a:bodyPr/>
                    <a:lstStyle/>
                    <a:p>
                      <a:r>
                        <a:rPr lang="en-US" sz="1200">
                          <a:solidFill>
                            <a:srgbClr val="1B1B1B"/>
                          </a:solidFill>
                          <a:latin typeface="Segoe UI" panose="020B0502040204020203" pitchFamily="34" charset="0"/>
                        </a:rPr>
                        <a:t>D. Thomas</a:t>
                      </a:r>
                    </a:p>
                  </a:txBody>
                  <a:tcPr marT="38100" marB="38100">
                    <a:solidFill>
                      <a:srgbClr val="FFFFFF"/>
                    </a:solidFill>
                  </a:tcPr>
                </a:tc>
                <a:tc>
                  <a:txBody>
                    <a:bodyPr/>
                    <a:lstStyle/>
                    <a:p>
                      <a:r>
                        <a:rPr lang="en-US" sz="1200">
                          <a:solidFill>
                            <a:srgbClr val="1B1B1B"/>
                          </a:solidFill>
                          <a:latin typeface="Segoe UI" panose="020B0502040204020203" pitchFamily="34" charset="0"/>
                        </a:rPr>
                        <a:t>Items 1-3</a:t>
                      </a:r>
                    </a:p>
                  </a:txBody>
                  <a:tcPr marT="38100" marB="38100">
                    <a:solidFill>
                      <a:srgbClr val="FFFFFF"/>
                    </a:solidFill>
                  </a:tcPr>
                </a:tc>
                <a:extLst>
                  <a:ext uri="{0D108BD9-81ED-4DB2-BD59-A6C34878D82A}">
                    <a16:rowId xmlns:a16="http://schemas.microsoft.com/office/drawing/2014/main" val="1547918706"/>
                  </a:ext>
                </a:extLst>
              </a:tr>
            </a:tbl>
          </a:graphicData>
        </a:graphic>
      </p:graphicFrame>
      <p:sp>
        <p:nvSpPr>
          <p:cNvPr id="7" name="TextBox 6">
            <a:extLst>
              <a:ext uri="{FF2B5EF4-FFF2-40B4-BE49-F238E27FC236}">
                <a16:creationId xmlns:a16="http://schemas.microsoft.com/office/drawing/2014/main" id="{EB3670E5-29DD-8D6B-14DE-BA99B24CE443}"/>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Current blocker: DGX Spark and PXI test systems relocated; work resumes when reachable.</a:t>
            </a:r>
          </a:p>
        </p:txBody>
      </p:sp>
    </p:spTree>
    <p:extLst>
      <p:ext uri="{BB962C8B-B14F-4D97-AF65-F5344CB8AC3E}">
        <p14:creationId xmlns:p14="http://schemas.microsoft.com/office/powerpoint/2010/main" val="4013121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085FF2-EB44-03B5-6630-23605DBB616B}"/>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5943A8-6485-134E-29F1-7015C02E313C}"/>
              </a:ext>
            </a:extLst>
          </p:cNvPr>
          <p:cNvSpPr txBox="1"/>
          <p:nvPr/>
        </p:nvSpPr>
        <p:spPr>
          <a:xfrm>
            <a:off x="685800" y="330200"/>
            <a:ext cx="10668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BACKUP</a:t>
            </a:r>
          </a:p>
        </p:txBody>
      </p:sp>
      <p:sp>
        <p:nvSpPr>
          <p:cNvPr id="4" name="TextBox 3">
            <a:extLst>
              <a:ext uri="{FF2B5EF4-FFF2-40B4-BE49-F238E27FC236}">
                <a16:creationId xmlns:a16="http://schemas.microsoft.com/office/drawing/2014/main" id="{15E41EC2-4A4E-84A5-8839-1F53BD5D3BB3}"/>
              </a:ext>
            </a:extLst>
          </p:cNvPr>
          <p:cNvSpPr txBox="1"/>
          <p:nvPr/>
        </p:nvSpPr>
        <p:spPr>
          <a:xfrm>
            <a:off x="685800" y="609600"/>
            <a:ext cx="10668000" cy="400110"/>
          </a:xfrm>
          <a:prstGeom prst="rect">
            <a:avLst/>
          </a:prstGeom>
          <a:noFill/>
        </p:spPr>
        <p:txBody>
          <a:bodyPr vert="horz" wrap="square" lIns="0" tIns="0" rIns="0" bIns="0" rtlCol="0">
            <a:spAutoFit/>
          </a:bodyPr>
          <a:lstStyle/>
          <a:p>
            <a:r>
              <a:rPr lang="en-US" sz="2600" b="1">
                <a:solidFill>
                  <a:srgbClr val="1B1B1B"/>
                </a:solidFill>
                <a:latin typeface="Segoe UI" panose="020B0502040204020203" pitchFamily="34" charset="0"/>
              </a:rPr>
              <a:t>Backup - Aggregated Phase 2 Data (median of 5 trials)</a:t>
            </a:r>
          </a:p>
        </p:txBody>
      </p:sp>
      <p:sp>
        <p:nvSpPr>
          <p:cNvPr id="5" name="Rectangle 4">
            <a:extLst>
              <a:ext uri="{FF2B5EF4-FFF2-40B4-BE49-F238E27FC236}">
                <a16:creationId xmlns:a16="http://schemas.microsoft.com/office/drawing/2014/main" id="{00026062-50B8-627A-D9D7-C9A4ACE1EF76}"/>
              </a:ext>
            </a:extLst>
          </p:cNvPr>
          <p:cNvSpPr/>
          <p:nvPr/>
        </p:nvSpPr>
        <p:spPr>
          <a:xfrm>
            <a:off x="711200" y="1270000"/>
            <a:ext cx="889000" cy="508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9E79B241-5F1E-3E47-F83F-5181ADF37DEF}"/>
              </a:ext>
            </a:extLst>
          </p:cNvPr>
          <p:cNvGraphicFramePr>
            <a:graphicFrameLocks noGrp="1"/>
          </p:cNvGraphicFramePr>
          <p:nvPr>
            <p:extLst>
              <p:ext uri="{D42A27DB-BD31-4B8C-83A1-F6EECF244321}">
                <p14:modId xmlns:p14="http://schemas.microsoft.com/office/powerpoint/2010/main" val="2953083810"/>
              </p:ext>
            </p:extLst>
          </p:nvPr>
        </p:nvGraphicFramePr>
        <p:xfrm>
          <a:off x="685800" y="1498600"/>
          <a:ext cx="10795000" cy="4191000"/>
        </p:xfrm>
        <a:graphic>
          <a:graphicData uri="http://schemas.openxmlformats.org/drawingml/2006/table">
            <a:tbl>
              <a:tblPr firstRow="1" bandRow="1">
                <a:tableStyleId>{5C22544A-7EE6-4342-B048-85BDC9FD1C3A}</a:tableStyleId>
              </a:tblPr>
              <a:tblGrid>
                <a:gridCol w="1799167">
                  <a:extLst>
                    <a:ext uri="{9D8B030D-6E8A-4147-A177-3AD203B41FA5}">
                      <a16:colId xmlns:a16="http://schemas.microsoft.com/office/drawing/2014/main" val="459893079"/>
                    </a:ext>
                  </a:extLst>
                </a:gridCol>
                <a:gridCol w="1799167">
                  <a:extLst>
                    <a:ext uri="{9D8B030D-6E8A-4147-A177-3AD203B41FA5}">
                      <a16:colId xmlns:a16="http://schemas.microsoft.com/office/drawing/2014/main" val="4006636557"/>
                    </a:ext>
                  </a:extLst>
                </a:gridCol>
                <a:gridCol w="1799167">
                  <a:extLst>
                    <a:ext uri="{9D8B030D-6E8A-4147-A177-3AD203B41FA5}">
                      <a16:colId xmlns:a16="http://schemas.microsoft.com/office/drawing/2014/main" val="2599042630"/>
                    </a:ext>
                  </a:extLst>
                </a:gridCol>
                <a:gridCol w="1799167">
                  <a:extLst>
                    <a:ext uri="{9D8B030D-6E8A-4147-A177-3AD203B41FA5}">
                      <a16:colId xmlns:a16="http://schemas.microsoft.com/office/drawing/2014/main" val="2868496802"/>
                    </a:ext>
                  </a:extLst>
                </a:gridCol>
                <a:gridCol w="1799167">
                  <a:extLst>
                    <a:ext uri="{9D8B030D-6E8A-4147-A177-3AD203B41FA5}">
                      <a16:colId xmlns:a16="http://schemas.microsoft.com/office/drawing/2014/main" val="1669372149"/>
                    </a:ext>
                  </a:extLst>
                </a:gridCol>
                <a:gridCol w="1799167">
                  <a:extLst>
                    <a:ext uri="{9D8B030D-6E8A-4147-A177-3AD203B41FA5}">
                      <a16:colId xmlns:a16="http://schemas.microsoft.com/office/drawing/2014/main" val="2729462853"/>
                    </a:ext>
                  </a:extLst>
                </a:gridCol>
              </a:tblGrid>
              <a:tr h="465667">
                <a:tc>
                  <a:txBody>
                    <a:bodyPr/>
                    <a:lstStyle/>
                    <a:p>
                      <a:r>
                        <a:rPr lang="en-US" sz="1200" b="1">
                          <a:solidFill>
                            <a:srgbClr val="FFFFFF"/>
                          </a:solidFill>
                          <a:latin typeface="Segoe UI" panose="020B0502040204020203" pitchFamily="34" charset="0"/>
                        </a:rPr>
                        <a:t>Payload</a:t>
                      </a:r>
                    </a:p>
                  </a:txBody>
                  <a:tcPr marT="38100" marB="38100">
                    <a:solidFill>
                      <a:srgbClr val="03B585"/>
                    </a:solidFill>
                  </a:tcPr>
                </a:tc>
                <a:tc>
                  <a:txBody>
                    <a:bodyPr/>
                    <a:lstStyle/>
                    <a:p>
                      <a:r>
                        <a:rPr lang="en-US" sz="1200" b="1">
                          <a:solidFill>
                            <a:srgbClr val="FFFFFF"/>
                          </a:solidFill>
                          <a:latin typeface="Segoe UI" panose="020B0502040204020203" pitchFamily="34" charset="0"/>
                        </a:rPr>
                        <a:t>Pipeline / mode</a:t>
                      </a:r>
                    </a:p>
                  </a:txBody>
                  <a:tcPr marT="38100" marB="38100">
                    <a:solidFill>
                      <a:srgbClr val="03B585"/>
                    </a:solidFill>
                  </a:tcPr>
                </a:tc>
                <a:tc>
                  <a:txBody>
                    <a:bodyPr/>
                    <a:lstStyle/>
                    <a:p>
                      <a:r>
                        <a:rPr lang="en-US" sz="1200" b="1">
                          <a:solidFill>
                            <a:srgbClr val="FFFFFF"/>
                          </a:solidFill>
                          <a:latin typeface="Segoe UI" panose="020B0502040204020203" pitchFamily="34" charset="0"/>
                        </a:rPr>
                        <a:t>Deliv</a:t>
                      </a:r>
                    </a:p>
                  </a:txBody>
                  <a:tcPr marT="38100" marB="38100">
                    <a:solidFill>
                      <a:srgbClr val="03B585"/>
                    </a:solidFill>
                  </a:tcPr>
                </a:tc>
                <a:tc>
                  <a:txBody>
                    <a:bodyPr/>
                    <a:lstStyle/>
                    <a:p>
                      <a:r>
                        <a:rPr lang="en-US" sz="1200" b="1">
                          <a:solidFill>
                            <a:srgbClr val="FFFFFF"/>
                          </a:solidFill>
                          <a:latin typeface="Segoe UI" panose="020B0502040204020203" pitchFamily="34" charset="0"/>
                        </a:rPr>
                        <a:t>E2E p50 (us)</a:t>
                      </a:r>
                    </a:p>
                  </a:txBody>
                  <a:tcPr marT="38100" marB="38100">
                    <a:solidFill>
                      <a:srgbClr val="03B585"/>
                    </a:solidFill>
                  </a:tcPr>
                </a:tc>
                <a:tc>
                  <a:txBody>
                    <a:bodyPr/>
                    <a:lstStyle/>
                    <a:p>
                      <a:r>
                        <a:rPr lang="en-US" sz="1200" b="1">
                          <a:solidFill>
                            <a:srgbClr val="FFFFFF"/>
                          </a:solidFill>
                          <a:latin typeface="Segoe UI" panose="020B0502040204020203" pitchFamily="34" charset="0"/>
                        </a:rPr>
                        <a:t>FFT p50 (us)</a:t>
                      </a:r>
                    </a:p>
                  </a:txBody>
                  <a:tcPr marT="38100" marB="38100">
                    <a:solidFill>
                      <a:srgbClr val="03B585"/>
                    </a:solidFill>
                  </a:tcPr>
                </a:tc>
                <a:tc>
                  <a:txBody>
                    <a:bodyPr/>
                    <a:lstStyle/>
                    <a:p>
                      <a:r>
                        <a:rPr lang="en-US" sz="1200" b="1">
                          <a:solidFill>
                            <a:srgbClr val="FFFFFF"/>
                          </a:solidFill>
                          <a:latin typeface="Segoe UI" panose="020B0502040204020203" pitchFamily="34" charset="0"/>
                        </a:rPr>
                        <a:t>MB/s</a:t>
                      </a:r>
                    </a:p>
                  </a:txBody>
                  <a:tcPr marT="38100" marB="38100">
                    <a:solidFill>
                      <a:srgbClr val="03B585"/>
                    </a:solidFill>
                  </a:tcPr>
                </a:tc>
                <a:extLst>
                  <a:ext uri="{0D108BD9-81ED-4DB2-BD59-A6C34878D82A}">
                    <a16:rowId xmlns:a16="http://schemas.microsoft.com/office/drawing/2014/main" val="2881353003"/>
                  </a:ext>
                </a:extLst>
              </a:tr>
              <a:tr h="465667">
                <a:tc>
                  <a:txBody>
                    <a:bodyPr/>
                    <a:lstStyle/>
                    <a:p>
                      <a:r>
                        <a:rPr lang="en-US" sz="1200">
                          <a:solidFill>
                            <a:srgbClr val="1B1B1B"/>
                          </a:solidFill>
                          <a:latin typeface="Segoe UI" panose="020B0502040204020203" pitchFamily="34" charset="0"/>
                        </a:rPr>
                        <a:t>16 KB</a:t>
                      </a:r>
                    </a:p>
                  </a:txBody>
                  <a:tcPr marT="38100" marB="38100">
                    <a:solidFill>
                      <a:srgbClr val="FFFFFF"/>
                    </a:solidFill>
                  </a:tcPr>
                </a:tc>
                <a:tc>
                  <a:txBody>
                    <a:bodyPr/>
                    <a:lstStyle/>
                    <a:p>
                      <a:r>
                        <a:rPr lang="en-US" sz="1200">
                          <a:solidFill>
                            <a:srgbClr val="1B1B1B"/>
                          </a:solidFill>
                          <a:latin typeface="Segoe UI" panose="020B0502040204020203" pitchFamily="34" charset="0"/>
                        </a:rPr>
                        <a:t>DAQiri zero-copy</a:t>
                      </a:r>
                    </a:p>
                  </a:txBody>
                  <a:tcPr marT="38100" marB="38100">
                    <a:solidFill>
                      <a:srgbClr val="FFFFFF"/>
                    </a:solidFill>
                  </a:tcPr>
                </a:tc>
                <a:tc>
                  <a:txBody>
                    <a:bodyPr/>
                    <a:lstStyle/>
                    <a:p>
                      <a:r>
                        <a:rPr lang="en-US" sz="1200">
                          <a:solidFill>
                            <a:srgbClr val="1B1B1B"/>
                          </a:solidFill>
                          <a:latin typeface="Segoe UI" panose="020B0502040204020203" pitchFamily="34" charset="0"/>
                        </a:rPr>
                        <a:t>1000</a:t>
                      </a:r>
                    </a:p>
                  </a:txBody>
                  <a:tcPr marT="38100" marB="38100">
                    <a:solidFill>
                      <a:srgbClr val="FFFFFF"/>
                    </a:solidFill>
                  </a:tcPr>
                </a:tc>
                <a:tc>
                  <a:txBody>
                    <a:bodyPr/>
                    <a:lstStyle/>
                    <a:p>
                      <a:r>
                        <a:rPr lang="en-US" sz="1200" b="1">
                          <a:solidFill>
                            <a:srgbClr val="028C66"/>
                          </a:solidFill>
                          <a:latin typeface="Segoe UI" panose="020B0502040204020203" pitchFamily="34" charset="0"/>
                        </a:rPr>
                        <a:t>10.22</a:t>
                      </a:r>
                    </a:p>
                  </a:txBody>
                  <a:tcPr marT="38100" marB="38100">
                    <a:solidFill>
                      <a:srgbClr val="E0F5EE"/>
                    </a:solidFill>
                  </a:tcPr>
                </a:tc>
                <a:tc>
                  <a:txBody>
                    <a:bodyPr/>
                    <a:lstStyle/>
                    <a:p>
                      <a:r>
                        <a:rPr lang="en-US" sz="1200">
                          <a:solidFill>
                            <a:srgbClr val="1B1B1B"/>
                          </a:solidFill>
                          <a:latin typeface="Segoe UI" panose="020B0502040204020203" pitchFamily="34" charset="0"/>
                        </a:rPr>
                        <a:t>5.15</a:t>
                      </a:r>
                    </a:p>
                  </a:txBody>
                  <a:tcPr marT="38100" marB="38100">
                    <a:solidFill>
                      <a:srgbClr val="FFFFFF"/>
                    </a:solidFill>
                  </a:tcPr>
                </a:tc>
                <a:tc>
                  <a:txBody>
                    <a:bodyPr/>
                    <a:lstStyle/>
                    <a:p>
                      <a:r>
                        <a:rPr lang="en-US" sz="1200">
                          <a:solidFill>
                            <a:srgbClr val="1B1B1B"/>
                          </a:solidFill>
                          <a:latin typeface="Segoe UI" panose="020B0502040204020203" pitchFamily="34" charset="0"/>
                        </a:rPr>
                        <a:t>1602</a:t>
                      </a:r>
                    </a:p>
                  </a:txBody>
                  <a:tcPr marT="38100" marB="38100">
                    <a:solidFill>
                      <a:srgbClr val="FFFFFF"/>
                    </a:solidFill>
                  </a:tcPr>
                </a:tc>
                <a:extLst>
                  <a:ext uri="{0D108BD9-81ED-4DB2-BD59-A6C34878D82A}">
                    <a16:rowId xmlns:a16="http://schemas.microsoft.com/office/drawing/2014/main" val="2607012926"/>
                  </a:ext>
                </a:extLst>
              </a:tr>
              <a:tr h="465667">
                <a:tc>
                  <a:txBody>
                    <a:bodyPr/>
                    <a:lstStyle/>
                    <a:p>
                      <a:r>
                        <a:rPr lang="en-US" sz="1200">
                          <a:solidFill>
                            <a:srgbClr val="1B1B1B"/>
                          </a:solidFill>
                          <a:latin typeface="Segoe UI" panose="020B0502040204020203" pitchFamily="34" charset="0"/>
                        </a:rPr>
                        <a:t>16 KB</a:t>
                      </a:r>
                    </a:p>
                  </a:txBody>
                  <a:tcPr marT="38100" marB="38100">
                    <a:solidFill>
                      <a:srgbClr val="FFFFFF"/>
                    </a:solidFill>
                  </a:tcPr>
                </a:tc>
                <a:tc>
                  <a:txBody>
                    <a:bodyPr/>
                    <a:lstStyle/>
                    <a:p>
                      <a:r>
                        <a:rPr lang="en-US" sz="1200">
                          <a:solidFill>
                            <a:srgbClr val="1B1B1B"/>
                          </a:solidFill>
                          <a:latin typeface="Segoe UI" panose="020B0502040204020203" pitchFamily="34" charset="0"/>
                        </a:rPr>
                        <a:t>gRPC-Direct zero-copy</a:t>
                      </a:r>
                    </a:p>
                  </a:txBody>
                  <a:tcPr marT="38100" marB="38100">
                    <a:solidFill>
                      <a:srgbClr val="FFFFFF"/>
                    </a:solidFill>
                  </a:tcPr>
                </a:tc>
                <a:tc>
                  <a:txBody>
                    <a:bodyPr/>
                    <a:lstStyle/>
                    <a:p>
                      <a:r>
                        <a:rPr lang="en-US" sz="1200">
                          <a:solidFill>
                            <a:srgbClr val="1B1B1B"/>
                          </a:solidFill>
                          <a:latin typeface="Segoe UI" panose="020B0502040204020203" pitchFamily="34" charset="0"/>
                        </a:rPr>
                        <a:t>972</a:t>
                      </a:r>
                    </a:p>
                  </a:txBody>
                  <a:tcPr marT="38100" marB="38100">
                    <a:solidFill>
                      <a:srgbClr val="FFFFFF"/>
                    </a:solidFill>
                  </a:tcPr>
                </a:tc>
                <a:tc>
                  <a:txBody>
                    <a:bodyPr/>
                    <a:lstStyle/>
                    <a:p>
                      <a:r>
                        <a:rPr lang="en-US" sz="1200" b="1">
                          <a:solidFill>
                            <a:srgbClr val="028C66"/>
                          </a:solidFill>
                          <a:latin typeface="Segoe UI" panose="020B0502040204020203" pitchFamily="34" charset="0"/>
                        </a:rPr>
                        <a:t>16.77</a:t>
                      </a:r>
                    </a:p>
                  </a:txBody>
                  <a:tcPr marT="38100" marB="38100">
                    <a:solidFill>
                      <a:srgbClr val="E0F5EE"/>
                    </a:solidFill>
                  </a:tcPr>
                </a:tc>
                <a:tc>
                  <a:txBody>
                    <a:bodyPr/>
                    <a:lstStyle/>
                    <a:p>
                      <a:r>
                        <a:rPr lang="en-US" sz="1200">
                          <a:solidFill>
                            <a:srgbClr val="1B1B1B"/>
                          </a:solidFill>
                          <a:latin typeface="Segoe UI" panose="020B0502040204020203" pitchFamily="34" charset="0"/>
                        </a:rPr>
                        <a:t>8.61</a:t>
                      </a:r>
                    </a:p>
                  </a:txBody>
                  <a:tcPr marT="38100" marB="38100">
                    <a:solidFill>
                      <a:srgbClr val="FFFFFF"/>
                    </a:solidFill>
                  </a:tcPr>
                </a:tc>
                <a:tc>
                  <a:txBody>
                    <a:bodyPr/>
                    <a:lstStyle/>
                    <a:p>
                      <a:r>
                        <a:rPr lang="en-US" sz="1200">
                          <a:solidFill>
                            <a:srgbClr val="1B1B1B"/>
                          </a:solidFill>
                          <a:latin typeface="Segoe UI" panose="020B0502040204020203" pitchFamily="34" charset="0"/>
                        </a:rPr>
                        <a:t>977</a:t>
                      </a:r>
                    </a:p>
                  </a:txBody>
                  <a:tcPr marT="38100" marB="38100">
                    <a:solidFill>
                      <a:srgbClr val="FFFFFF"/>
                    </a:solidFill>
                  </a:tcPr>
                </a:tc>
                <a:extLst>
                  <a:ext uri="{0D108BD9-81ED-4DB2-BD59-A6C34878D82A}">
                    <a16:rowId xmlns:a16="http://schemas.microsoft.com/office/drawing/2014/main" val="2603239768"/>
                  </a:ext>
                </a:extLst>
              </a:tr>
              <a:tr h="465667">
                <a:tc>
                  <a:txBody>
                    <a:bodyPr/>
                    <a:lstStyle/>
                    <a:p>
                      <a:r>
                        <a:rPr lang="en-US" sz="1200">
                          <a:solidFill>
                            <a:srgbClr val="1B1B1B"/>
                          </a:solidFill>
                          <a:latin typeface="Segoe UI" panose="020B0502040204020203" pitchFamily="34" charset="0"/>
                        </a:rPr>
                        <a:t>32 KB</a:t>
                      </a:r>
                    </a:p>
                  </a:txBody>
                  <a:tcPr marT="38100" marB="38100">
                    <a:solidFill>
                      <a:srgbClr val="FFFFFF"/>
                    </a:solidFill>
                  </a:tcPr>
                </a:tc>
                <a:tc>
                  <a:txBody>
                    <a:bodyPr/>
                    <a:lstStyle/>
                    <a:p>
                      <a:r>
                        <a:rPr lang="en-US" sz="1200">
                          <a:solidFill>
                            <a:srgbClr val="1B1B1B"/>
                          </a:solidFill>
                          <a:latin typeface="Segoe UI" panose="020B0502040204020203" pitchFamily="34" charset="0"/>
                        </a:rPr>
                        <a:t>DAQiri zero-copy</a:t>
                      </a:r>
                    </a:p>
                  </a:txBody>
                  <a:tcPr marT="38100" marB="38100">
                    <a:solidFill>
                      <a:srgbClr val="FFFFFF"/>
                    </a:solidFill>
                  </a:tcPr>
                </a:tc>
                <a:tc>
                  <a:txBody>
                    <a:bodyPr/>
                    <a:lstStyle/>
                    <a:p>
                      <a:r>
                        <a:rPr lang="en-US" sz="1200">
                          <a:solidFill>
                            <a:srgbClr val="1B1B1B"/>
                          </a:solidFill>
                          <a:latin typeface="Segoe UI" panose="020B0502040204020203" pitchFamily="34" charset="0"/>
                        </a:rPr>
                        <a:t>1000</a:t>
                      </a:r>
                    </a:p>
                  </a:txBody>
                  <a:tcPr marT="38100" marB="38100">
                    <a:solidFill>
                      <a:srgbClr val="FFFFFF"/>
                    </a:solidFill>
                  </a:tcPr>
                </a:tc>
                <a:tc>
                  <a:txBody>
                    <a:bodyPr/>
                    <a:lstStyle/>
                    <a:p>
                      <a:r>
                        <a:rPr lang="en-US" sz="1200" b="1">
                          <a:solidFill>
                            <a:srgbClr val="028C66"/>
                          </a:solidFill>
                          <a:latin typeface="Segoe UI" panose="020B0502040204020203" pitchFamily="34" charset="0"/>
                        </a:rPr>
                        <a:t>11.94</a:t>
                      </a:r>
                    </a:p>
                  </a:txBody>
                  <a:tcPr marT="38100" marB="38100">
                    <a:solidFill>
                      <a:srgbClr val="E0F5EE"/>
                    </a:solidFill>
                  </a:tcPr>
                </a:tc>
                <a:tc>
                  <a:txBody>
                    <a:bodyPr/>
                    <a:lstStyle/>
                    <a:p>
                      <a:r>
                        <a:rPr lang="en-US" sz="1200">
                          <a:solidFill>
                            <a:srgbClr val="1B1B1B"/>
                          </a:solidFill>
                          <a:latin typeface="Segoe UI" panose="020B0502040204020203" pitchFamily="34" charset="0"/>
                        </a:rPr>
                        <a:t>6.85</a:t>
                      </a:r>
                    </a:p>
                  </a:txBody>
                  <a:tcPr marT="38100" marB="38100">
                    <a:solidFill>
                      <a:srgbClr val="FFFFFF"/>
                    </a:solidFill>
                  </a:tcPr>
                </a:tc>
                <a:tc>
                  <a:txBody>
                    <a:bodyPr/>
                    <a:lstStyle/>
                    <a:p>
                      <a:r>
                        <a:rPr lang="en-US" sz="1200">
                          <a:solidFill>
                            <a:srgbClr val="1B1B1B"/>
                          </a:solidFill>
                          <a:latin typeface="Segoe UI" panose="020B0502040204020203" pitchFamily="34" charset="0"/>
                        </a:rPr>
                        <a:t>2749</a:t>
                      </a:r>
                    </a:p>
                  </a:txBody>
                  <a:tcPr marT="38100" marB="38100">
                    <a:solidFill>
                      <a:srgbClr val="FFFFFF"/>
                    </a:solidFill>
                  </a:tcPr>
                </a:tc>
                <a:extLst>
                  <a:ext uri="{0D108BD9-81ED-4DB2-BD59-A6C34878D82A}">
                    <a16:rowId xmlns:a16="http://schemas.microsoft.com/office/drawing/2014/main" val="4205529611"/>
                  </a:ext>
                </a:extLst>
              </a:tr>
              <a:tr h="465667">
                <a:tc>
                  <a:txBody>
                    <a:bodyPr/>
                    <a:lstStyle/>
                    <a:p>
                      <a:r>
                        <a:rPr lang="en-US" sz="1200">
                          <a:solidFill>
                            <a:srgbClr val="1B1B1B"/>
                          </a:solidFill>
                          <a:latin typeface="Segoe UI" panose="020B0502040204020203" pitchFamily="34" charset="0"/>
                        </a:rPr>
                        <a:t>32 KB</a:t>
                      </a:r>
                    </a:p>
                  </a:txBody>
                  <a:tcPr marT="38100" marB="38100">
                    <a:solidFill>
                      <a:srgbClr val="FFFFFF"/>
                    </a:solidFill>
                  </a:tcPr>
                </a:tc>
                <a:tc>
                  <a:txBody>
                    <a:bodyPr/>
                    <a:lstStyle/>
                    <a:p>
                      <a:r>
                        <a:rPr lang="en-US" sz="1200">
                          <a:solidFill>
                            <a:srgbClr val="1B1B1B"/>
                          </a:solidFill>
                          <a:latin typeface="Segoe UI" panose="020B0502040204020203" pitchFamily="34" charset="0"/>
                        </a:rPr>
                        <a:t>gRPC-Direct zero-copy</a:t>
                      </a:r>
                    </a:p>
                  </a:txBody>
                  <a:tcPr marT="38100" marB="38100">
                    <a:solidFill>
                      <a:srgbClr val="FFFFFF"/>
                    </a:solidFill>
                  </a:tcPr>
                </a:tc>
                <a:tc>
                  <a:txBody>
                    <a:bodyPr/>
                    <a:lstStyle/>
                    <a:p>
                      <a:r>
                        <a:rPr lang="en-US" sz="1200">
                          <a:solidFill>
                            <a:srgbClr val="1B1B1B"/>
                          </a:solidFill>
                          <a:latin typeface="Segoe UI" panose="020B0502040204020203" pitchFamily="34" charset="0"/>
                        </a:rPr>
                        <a:t>972</a:t>
                      </a:r>
                    </a:p>
                  </a:txBody>
                  <a:tcPr marT="38100" marB="38100">
                    <a:solidFill>
                      <a:srgbClr val="FFFFFF"/>
                    </a:solidFill>
                  </a:tcPr>
                </a:tc>
                <a:tc>
                  <a:txBody>
                    <a:bodyPr/>
                    <a:lstStyle/>
                    <a:p>
                      <a:r>
                        <a:rPr lang="en-US" sz="1200" b="1">
                          <a:solidFill>
                            <a:srgbClr val="028C66"/>
                          </a:solidFill>
                          <a:latin typeface="Segoe UI" panose="020B0502040204020203" pitchFamily="34" charset="0"/>
                        </a:rPr>
                        <a:t>17.36</a:t>
                      </a:r>
                    </a:p>
                  </a:txBody>
                  <a:tcPr marT="38100" marB="38100">
                    <a:solidFill>
                      <a:srgbClr val="E0F5EE"/>
                    </a:solidFill>
                  </a:tcPr>
                </a:tc>
                <a:tc>
                  <a:txBody>
                    <a:bodyPr/>
                    <a:lstStyle/>
                    <a:p>
                      <a:r>
                        <a:rPr lang="en-US" sz="1200">
                          <a:solidFill>
                            <a:srgbClr val="1B1B1B"/>
                          </a:solidFill>
                          <a:latin typeface="Segoe UI" panose="020B0502040204020203" pitchFamily="34" charset="0"/>
                        </a:rPr>
                        <a:t>8.51</a:t>
                      </a:r>
                    </a:p>
                  </a:txBody>
                  <a:tcPr marT="38100" marB="38100">
                    <a:solidFill>
                      <a:srgbClr val="FFFFFF"/>
                    </a:solidFill>
                  </a:tcPr>
                </a:tc>
                <a:tc>
                  <a:txBody>
                    <a:bodyPr/>
                    <a:lstStyle/>
                    <a:p>
                      <a:r>
                        <a:rPr lang="en-US" sz="1200">
                          <a:solidFill>
                            <a:srgbClr val="1B1B1B"/>
                          </a:solidFill>
                          <a:latin typeface="Segoe UI" panose="020B0502040204020203" pitchFamily="34" charset="0"/>
                        </a:rPr>
                        <a:t>1888</a:t>
                      </a:r>
                    </a:p>
                  </a:txBody>
                  <a:tcPr marT="38100" marB="38100">
                    <a:solidFill>
                      <a:srgbClr val="FFFFFF"/>
                    </a:solidFill>
                  </a:tcPr>
                </a:tc>
                <a:extLst>
                  <a:ext uri="{0D108BD9-81ED-4DB2-BD59-A6C34878D82A}">
                    <a16:rowId xmlns:a16="http://schemas.microsoft.com/office/drawing/2014/main" val="2293488965"/>
                  </a:ext>
                </a:extLst>
              </a:tr>
              <a:tr h="465667">
                <a:tc>
                  <a:txBody>
                    <a:bodyPr/>
                    <a:lstStyle/>
                    <a:p>
                      <a:r>
                        <a:rPr lang="en-US" sz="1200">
                          <a:solidFill>
                            <a:srgbClr val="1B1B1B"/>
                          </a:solidFill>
                          <a:latin typeface="Segoe UI" panose="020B0502040204020203" pitchFamily="34" charset="0"/>
                        </a:rPr>
                        <a:t>64 KB</a:t>
                      </a:r>
                    </a:p>
                  </a:txBody>
                  <a:tcPr marT="38100" marB="38100">
                    <a:solidFill>
                      <a:srgbClr val="FFFFFF"/>
                    </a:solidFill>
                  </a:tcPr>
                </a:tc>
                <a:tc>
                  <a:txBody>
                    <a:bodyPr/>
                    <a:lstStyle/>
                    <a:p>
                      <a:r>
                        <a:rPr lang="en-US" sz="1200">
                          <a:solidFill>
                            <a:srgbClr val="1B1B1B"/>
                          </a:solidFill>
                          <a:latin typeface="Segoe UI" panose="020B0502040204020203" pitchFamily="34" charset="0"/>
                        </a:rPr>
                        <a:t>DAQiri zero-copy</a:t>
                      </a:r>
                    </a:p>
                  </a:txBody>
                  <a:tcPr marT="38100" marB="38100">
                    <a:solidFill>
                      <a:srgbClr val="FFFFFF"/>
                    </a:solidFill>
                  </a:tcPr>
                </a:tc>
                <a:tc>
                  <a:txBody>
                    <a:bodyPr/>
                    <a:lstStyle/>
                    <a:p>
                      <a:r>
                        <a:rPr lang="en-US" sz="1200">
                          <a:solidFill>
                            <a:srgbClr val="1B1B1B"/>
                          </a:solidFill>
                          <a:latin typeface="Segoe UI" panose="020B0502040204020203" pitchFamily="34" charset="0"/>
                        </a:rPr>
                        <a:t>1000</a:t>
                      </a:r>
                    </a:p>
                  </a:txBody>
                  <a:tcPr marT="38100" marB="38100">
                    <a:solidFill>
                      <a:srgbClr val="FFFFFF"/>
                    </a:solidFill>
                  </a:tcPr>
                </a:tc>
                <a:tc>
                  <a:txBody>
                    <a:bodyPr/>
                    <a:lstStyle/>
                    <a:p>
                      <a:r>
                        <a:rPr lang="en-US" sz="1200" b="1">
                          <a:solidFill>
                            <a:srgbClr val="028C66"/>
                          </a:solidFill>
                          <a:latin typeface="Segoe UI" panose="020B0502040204020203" pitchFamily="34" charset="0"/>
                        </a:rPr>
                        <a:t>14.22</a:t>
                      </a:r>
                    </a:p>
                  </a:txBody>
                  <a:tcPr marT="38100" marB="38100">
                    <a:solidFill>
                      <a:srgbClr val="E0F5EE"/>
                    </a:solidFill>
                  </a:tcPr>
                </a:tc>
                <a:tc>
                  <a:txBody>
                    <a:bodyPr/>
                    <a:lstStyle/>
                    <a:p>
                      <a:r>
                        <a:rPr lang="en-US" sz="1200">
                          <a:solidFill>
                            <a:srgbClr val="1B1B1B"/>
                          </a:solidFill>
                          <a:latin typeface="Segoe UI" panose="020B0502040204020203" pitchFamily="34" charset="0"/>
                        </a:rPr>
                        <a:t>9.15</a:t>
                      </a:r>
                    </a:p>
                  </a:txBody>
                  <a:tcPr marT="38100" marB="38100">
                    <a:solidFill>
                      <a:srgbClr val="FFFFFF"/>
                    </a:solidFill>
                  </a:tcPr>
                </a:tc>
                <a:tc>
                  <a:txBody>
                    <a:bodyPr/>
                    <a:lstStyle/>
                    <a:p>
                      <a:r>
                        <a:rPr lang="en-US" sz="1200">
                          <a:solidFill>
                            <a:srgbClr val="1B1B1B"/>
                          </a:solidFill>
                          <a:latin typeface="Segoe UI" panose="020B0502040204020203" pitchFamily="34" charset="0"/>
                        </a:rPr>
                        <a:t>4607</a:t>
                      </a:r>
                    </a:p>
                  </a:txBody>
                  <a:tcPr marT="38100" marB="38100">
                    <a:solidFill>
                      <a:srgbClr val="FFFFFF"/>
                    </a:solidFill>
                  </a:tcPr>
                </a:tc>
                <a:extLst>
                  <a:ext uri="{0D108BD9-81ED-4DB2-BD59-A6C34878D82A}">
                    <a16:rowId xmlns:a16="http://schemas.microsoft.com/office/drawing/2014/main" val="2241486500"/>
                  </a:ext>
                </a:extLst>
              </a:tr>
              <a:tr h="465667">
                <a:tc>
                  <a:txBody>
                    <a:bodyPr/>
                    <a:lstStyle/>
                    <a:p>
                      <a:r>
                        <a:rPr lang="en-US" sz="1200">
                          <a:solidFill>
                            <a:srgbClr val="1B1B1B"/>
                          </a:solidFill>
                          <a:latin typeface="Segoe UI" panose="020B0502040204020203" pitchFamily="34" charset="0"/>
                        </a:rPr>
                        <a:t>64 KB</a:t>
                      </a:r>
                    </a:p>
                  </a:txBody>
                  <a:tcPr marT="38100" marB="38100">
                    <a:solidFill>
                      <a:srgbClr val="FFFFFF"/>
                    </a:solidFill>
                  </a:tcPr>
                </a:tc>
                <a:tc>
                  <a:txBody>
                    <a:bodyPr/>
                    <a:lstStyle/>
                    <a:p>
                      <a:r>
                        <a:rPr lang="en-US" sz="1200">
                          <a:solidFill>
                            <a:srgbClr val="1B1B1B"/>
                          </a:solidFill>
                          <a:latin typeface="Segoe UI" panose="020B0502040204020203" pitchFamily="34" charset="0"/>
                        </a:rPr>
                        <a:t>gRPC-Direct zero-copy</a:t>
                      </a:r>
                    </a:p>
                  </a:txBody>
                  <a:tcPr marT="38100" marB="38100">
                    <a:solidFill>
                      <a:srgbClr val="FFFFFF"/>
                    </a:solidFill>
                  </a:tcPr>
                </a:tc>
                <a:tc>
                  <a:txBody>
                    <a:bodyPr/>
                    <a:lstStyle/>
                    <a:p>
                      <a:r>
                        <a:rPr lang="en-US" sz="1200">
                          <a:solidFill>
                            <a:srgbClr val="1B1B1B"/>
                          </a:solidFill>
                          <a:latin typeface="Segoe UI" panose="020B0502040204020203" pitchFamily="34" charset="0"/>
                        </a:rPr>
                        <a:t>971</a:t>
                      </a:r>
                    </a:p>
                  </a:txBody>
                  <a:tcPr marT="38100" marB="38100">
                    <a:solidFill>
                      <a:srgbClr val="FFFFFF"/>
                    </a:solidFill>
                  </a:tcPr>
                </a:tc>
                <a:tc>
                  <a:txBody>
                    <a:bodyPr/>
                    <a:lstStyle/>
                    <a:p>
                      <a:r>
                        <a:rPr lang="en-US" sz="1200" b="1">
                          <a:solidFill>
                            <a:srgbClr val="028C66"/>
                          </a:solidFill>
                          <a:latin typeface="Segoe UI" panose="020B0502040204020203" pitchFamily="34" charset="0"/>
                        </a:rPr>
                        <a:t>21.38</a:t>
                      </a:r>
                    </a:p>
                  </a:txBody>
                  <a:tcPr marT="38100" marB="38100">
                    <a:solidFill>
                      <a:srgbClr val="E0F5EE"/>
                    </a:solidFill>
                  </a:tcPr>
                </a:tc>
                <a:tc>
                  <a:txBody>
                    <a:bodyPr/>
                    <a:lstStyle/>
                    <a:p>
                      <a:r>
                        <a:rPr lang="en-US" sz="1200">
                          <a:solidFill>
                            <a:srgbClr val="1B1B1B"/>
                          </a:solidFill>
                          <a:latin typeface="Segoe UI" panose="020B0502040204020203" pitchFamily="34" charset="0"/>
                        </a:rPr>
                        <a:t>11.58</a:t>
                      </a:r>
                    </a:p>
                  </a:txBody>
                  <a:tcPr marT="38100" marB="38100">
                    <a:solidFill>
                      <a:srgbClr val="FFFFFF"/>
                    </a:solidFill>
                  </a:tcPr>
                </a:tc>
                <a:tc>
                  <a:txBody>
                    <a:bodyPr/>
                    <a:lstStyle/>
                    <a:p>
                      <a:r>
                        <a:rPr lang="en-US" sz="1200">
                          <a:solidFill>
                            <a:srgbClr val="1B1B1B"/>
                          </a:solidFill>
                          <a:latin typeface="Segoe UI" panose="020B0502040204020203" pitchFamily="34" charset="0"/>
                        </a:rPr>
                        <a:t>3066</a:t>
                      </a:r>
                    </a:p>
                  </a:txBody>
                  <a:tcPr marT="38100" marB="38100">
                    <a:solidFill>
                      <a:srgbClr val="FFFFFF"/>
                    </a:solidFill>
                  </a:tcPr>
                </a:tc>
                <a:extLst>
                  <a:ext uri="{0D108BD9-81ED-4DB2-BD59-A6C34878D82A}">
                    <a16:rowId xmlns:a16="http://schemas.microsoft.com/office/drawing/2014/main" val="1240432482"/>
                  </a:ext>
                </a:extLst>
              </a:tr>
              <a:tr h="465667">
                <a:tc>
                  <a:txBody>
                    <a:bodyPr/>
                    <a:lstStyle/>
                    <a:p>
                      <a:r>
                        <a:rPr lang="en-US" sz="1200">
                          <a:solidFill>
                            <a:srgbClr val="1B1B1B"/>
                          </a:solidFill>
                          <a:latin typeface="Segoe UI" panose="020B0502040204020203" pitchFamily="34" charset="0"/>
                        </a:rPr>
                        <a:t>128 KB</a:t>
                      </a:r>
                    </a:p>
                  </a:txBody>
                  <a:tcPr marT="38100" marB="38100">
                    <a:solidFill>
                      <a:srgbClr val="FFFFFF"/>
                    </a:solidFill>
                  </a:tcPr>
                </a:tc>
                <a:tc>
                  <a:txBody>
                    <a:bodyPr/>
                    <a:lstStyle/>
                    <a:p>
                      <a:r>
                        <a:rPr lang="en-US" sz="1200">
                          <a:solidFill>
                            <a:srgbClr val="1B1B1B"/>
                          </a:solidFill>
                          <a:latin typeface="Segoe UI" panose="020B0502040204020203" pitchFamily="34" charset="0"/>
                        </a:rPr>
                        <a:t>DAQiri zero-copy</a:t>
                      </a:r>
                    </a:p>
                  </a:txBody>
                  <a:tcPr marT="38100" marB="38100">
                    <a:solidFill>
                      <a:srgbClr val="FFFFFF"/>
                    </a:solidFill>
                  </a:tcPr>
                </a:tc>
                <a:tc>
                  <a:txBody>
                    <a:bodyPr/>
                    <a:lstStyle/>
                    <a:p>
                      <a:r>
                        <a:rPr lang="en-US" sz="1200">
                          <a:solidFill>
                            <a:srgbClr val="1B1B1B"/>
                          </a:solidFill>
                          <a:latin typeface="Segoe UI" panose="020B0502040204020203" pitchFamily="34" charset="0"/>
                        </a:rPr>
                        <a:t>240</a:t>
                      </a:r>
                    </a:p>
                  </a:txBody>
                  <a:tcPr marT="38100" marB="38100">
                    <a:solidFill>
                      <a:srgbClr val="FFFFFF"/>
                    </a:solidFill>
                  </a:tcPr>
                </a:tc>
                <a:tc>
                  <a:txBody>
                    <a:bodyPr/>
                    <a:lstStyle/>
                    <a:p>
                      <a:r>
                        <a:rPr lang="en-US" sz="1200" b="1">
                          <a:solidFill>
                            <a:srgbClr val="028C66"/>
                          </a:solidFill>
                          <a:latin typeface="Segoe UI" panose="020B0502040204020203" pitchFamily="34" charset="0"/>
                        </a:rPr>
                        <a:t>20.78</a:t>
                      </a:r>
                    </a:p>
                  </a:txBody>
                  <a:tcPr marT="38100" marB="38100">
                    <a:solidFill>
                      <a:srgbClr val="E0F5EE"/>
                    </a:solidFill>
                  </a:tcPr>
                </a:tc>
                <a:tc>
                  <a:txBody>
                    <a:bodyPr/>
                    <a:lstStyle/>
                    <a:p>
                      <a:r>
                        <a:rPr lang="en-US" sz="1200">
                          <a:solidFill>
                            <a:srgbClr val="1B1B1B"/>
                          </a:solidFill>
                          <a:latin typeface="Segoe UI" panose="020B0502040204020203" pitchFamily="34" charset="0"/>
                        </a:rPr>
                        <a:t>15.78</a:t>
                      </a:r>
                    </a:p>
                  </a:txBody>
                  <a:tcPr marT="38100" marB="38100">
                    <a:solidFill>
                      <a:srgbClr val="FFFFFF"/>
                    </a:solidFill>
                  </a:tcPr>
                </a:tc>
                <a:tc>
                  <a:txBody>
                    <a:bodyPr/>
                    <a:lstStyle/>
                    <a:p>
                      <a:r>
                        <a:rPr lang="en-US" sz="1200">
                          <a:solidFill>
                            <a:srgbClr val="1B1B1B"/>
                          </a:solidFill>
                          <a:latin typeface="Segoe UI" panose="020B0502040204020203" pitchFamily="34" charset="0"/>
                        </a:rPr>
                        <a:t>6316</a:t>
                      </a:r>
                    </a:p>
                  </a:txBody>
                  <a:tcPr marT="38100" marB="38100">
                    <a:solidFill>
                      <a:srgbClr val="FFFFFF"/>
                    </a:solidFill>
                  </a:tcPr>
                </a:tc>
                <a:extLst>
                  <a:ext uri="{0D108BD9-81ED-4DB2-BD59-A6C34878D82A}">
                    <a16:rowId xmlns:a16="http://schemas.microsoft.com/office/drawing/2014/main" val="3895352294"/>
                  </a:ext>
                </a:extLst>
              </a:tr>
              <a:tr h="465667">
                <a:tc>
                  <a:txBody>
                    <a:bodyPr/>
                    <a:lstStyle/>
                    <a:p>
                      <a:r>
                        <a:rPr lang="en-US" sz="1200">
                          <a:solidFill>
                            <a:srgbClr val="1B1B1B"/>
                          </a:solidFill>
                          <a:latin typeface="Segoe UI" panose="020B0502040204020203" pitchFamily="34" charset="0"/>
                        </a:rPr>
                        <a:t>128 KB</a:t>
                      </a:r>
                    </a:p>
                  </a:txBody>
                  <a:tcPr marT="38100" marB="38100">
                    <a:solidFill>
                      <a:srgbClr val="FFFFFF"/>
                    </a:solidFill>
                  </a:tcPr>
                </a:tc>
                <a:tc>
                  <a:txBody>
                    <a:bodyPr/>
                    <a:lstStyle/>
                    <a:p>
                      <a:r>
                        <a:rPr lang="en-US" sz="1200">
                          <a:solidFill>
                            <a:srgbClr val="1B1B1B"/>
                          </a:solidFill>
                          <a:latin typeface="Segoe UI" panose="020B0502040204020203" pitchFamily="34" charset="0"/>
                        </a:rPr>
                        <a:t>gRPC-Direct zero-copy</a:t>
                      </a:r>
                    </a:p>
                  </a:txBody>
                  <a:tcPr marT="38100" marB="38100">
                    <a:solidFill>
                      <a:srgbClr val="FFFFFF"/>
                    </a:solidFill>
                  </a:tcPr>
                </a:tc>
                <a:tc>
                  <a:txBody>
                    <a:bodyPr/>
                    <a:lstStyle/>
                    <a:p>
                      <a:r>
                        <a:rPr lang="en-US" sz="1200">
                          <a:solidFill>
                            <a:srgbClr val="1B1B1B"/>
                          </a:solidFill>
                          <a:latin typeface="Segoe UI" panose="020B0502040204020203" pitchFamily="34" charset="0"/>
                        </a:rPr>
                        <a:t>973</a:t>
                      </a:r>
                    </a:p>
                  </a:txBody>
                  <a:tcPr marT="38100" marB="38100">
                    <a:solidFill>
                      <a:srgbClr val="FFFFFF"/>
                    </a:solidFill>
                  </a:tcPr>
                </a:tc>
                <a:tc>
                  <a:txBody>
                    <a:bodyPr/>
                    <a:lstStyle/>
                    <a:p>
                      <a:r>
                        <a:rPr lang="en-US" sz="1200" b="1">
                          <a:solidFill>
                            <a:srgbClr val="028C66"/>
                          </a:solidFill>
                          <a:latin typeface="Segoe UI" panose="020B0502040204020203" pitchFamily="34" charset="0"/>
                        </a:rPr>
                        <a:t>26.48</a:t>
                      </a:r>
                    </a:p>
                  </a:txBody>
                  <a:tcPr marT="38100" marB="38100">
                    <a:solidFill>
                      <a:srgbClr val="E0F5EE"/>
                    </a:solidFill>
                  </a:tcPr>
                </a:tc>
                <a:tc>
                  <a:txBody>
                    <a:bodyPr/>
                    <a:lstStyle/>
                    <a:p>
                      <a:r>
                        <a:rPr lang="en-US" sz="1200">
                          <a:solidFill>
                            <a:srgbClr val="1B1B1B"/>
                          </a:solidFill>
                          <a:latin typeface="Segoe UI" panose="020B0502040204020203" pitchFamily="34" charset="0"/>
                        </a:rPr>
                        <a:t>15.52</a:t>
                      </a:r>
                    </a:p>
                  </a:txBody>
                  <a:tcPr marT="38100" marB="38100">
                    <a:solidFill>
                      <a:srgbClr val="FFFFFF"/>
                    </a:solidFill>
                  </a:tcPr>
                </a:tc>
                <a:tc>
                  <a:txBody>
                    <a:bodyPr/>
                    <a:lstStyle/>
                    <a:p>
                      <a:r>
                        <a:rPr lang="en-US" sz="1200">
                          <a:solidFill>
                            <a:srgbClr val="1B1B1B"/>
                          </a:solidFill>
                          <a:latin typeface="Segoe UI" panose="020B0502040204020203" pitchFamily="34" charset="0"/>
                        </a:rPr>
                        <a:t>4950</a:t>
                      </a:r>
                    </a:p>
                  </a:txBody>
                  <a:tcPr marT="38100" marB="38100">
                    <a:solidFill>
                      <a:srgbClr val="FFFFFF"/>
                    </a:solidFill>
                  </a:tcPr>
                </a:tc>
                <a:extLst>
                  <a:ext uri="{0D108BD9-81ED-4DB2-BD59-A6C34878D82A}">
                    <a16:rowId xmlns:a16="http://schemas.microsoft.com/office/drawing/2014/main" val="3631344292"/>
                  </a:ext>
                </a:extLst>
              </a:tr>
            </a:tbl>
          </a:graphicData>
        </a:graphic>
      </p:graphicFrame>
      <p:sp>
        <p:nvSpPr>
          <p:cNvPr id="7" name="TextBox 6">
            <a:extLst>
              <a:ext uri="{FF2B5EF4-FFF2-40B4-BE49-F238E27FC236}">
                <a16:creationId xmlns:a16="http://schemas.microsoft.com/office/drawing/2014/main" id="{8CA981D0-6E16-A73F-3D92-951CB15D9AC8}"/>
              </a:ext>
            </a:extLst>
          </p:cNvPr>
          <p:cNvSpPr txBox="1"/>
          <p:nvPr/>
        </p:nvSpPr>
        <p:spPr>
          <a:xfrm>
            <a:off x="685800" y="6553200"/>
            <a:ext cx="10795000" cy="153888"/>
          </a:xfrm>
          <a:prstGeom prst="rect">
            <a:avLst/>
          </a:prstGeom>
          <a:noFill/>
        </p:spPr>
        <p:txBody>
          <a:bodyPr vert="horz" wrap="square" lIns="0" tIns="0" rIns="0" bIns="0" rtlCol="0">
            <a:spAutoFit/>
          </a:bodyPr>
          <a:lstStyle/>
          <a:p>
            <a:r>
              <a:rPr lang="en-US" sz="1000">
                <a:solidFill>
                  <a:srgbClr val="5A6470"/>
                </a:solidFill>
                <a:latin typeface="Segoe UI" panose="020B0502040204020203" pitchFamily="34" charset="0"/>
              </a:rPr>
              <a:t>Copy-mode rows and Phase 1 detail available in the project repository (data/ and README).</a:t>
            </a:r>
          </a:p>
        </p:txBody>
      </p:sp>
    </p:spTree>
    <p:extLst>
      <p:ext uri="{BB962C8B-B14F-4D97-AF65-F5344CB8AC3E}">
        <p14:creationId xmlns:p14="http://schemas.microsoft.com/office/powerpoint/2010/main" val="19516012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2731</Words>
  <Application>Microsoft Office PowerPoint</Application>
  <PresentationFormat>Custom</PresentationFormat>
  <Paragraphs>351</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Oluwadamilola</dc:creator>
  <cp:lastModifiedBy>Thomas, Oluwadamilola</cp:lastModifiedBy>
  <cp:revision>1</cp:revision>
  <dcterms:created xsi:type="dcterms:W3CDTF">2026-08-26T15:57:41Z</dcterms:created>
  <dcterms:modified xsi:type="dcterms:W3CDTF">2026-08-26T15:57:41Z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38901aa-f724-46bf-bb4f-aef09392934b_Enabled">
    <vt:lpwstr>true</vt:lpwstr>
  </property>
  <property fmtid="{D5CDD505-2E9C-101B-9397-08002B2CF9AE}" pid="3" name="MSIP_Label_d38901aa-f724-46bf-bb4f-aef09392934b_SetDate">
    <vt:lpwstr>2026-08-26T15:57:41Z</vt:lpwstr>
  </property>
  <property fmtid="{D5CDD505-2E9C-101B-9397-08002B2CF9AE}" pid="4" name="MSIP_Label_d38901aa-f724-46bf-bb4f-aef09392934b_Method">
    <vt:lpwstr>Standard</vt:lpwstr>
  </property>
  <property fmtid="{D5CDD505-2E9C-101B-9397-08002B2CF9AE}" pid="5" name="MSIP_Label_d38901aa-f724-46bf-bb4f-aef09392934b_Name">
    <vt:lpwstr>Internal - No Label</vt:lpwstr>
  </property>
  <property fmtid="{D5CDD505-2E9C-101B-9397-08002B2CF9AE}" pid="6" name="MSIP_Label_d38901aa-f724-46bf-bb4f-aef09392934b_SiteId">
    <vt:lpwstr>eb06985d-06ca-4a17-81da-629ab99f6505</vt:lpwstr>
  </property>
  <property fmtid="{D5CDD505-2E9C-101B-9397-08002B2CF9AE}" pid="7" name="MSIP_Label_d38901aa-f724-46bf-bb4f-aef09392934b_ActionId">
    <vt:lpwstr>6f46cc62-6347-4dc7-b0f4-38a9239bdb64</vt:lpwstr>
  </property>
  <property fmtid="{D5CDD505-2E9C-101B-9397-08002B2CF9AE}" pid="8" name="MSIP_Label_d38901aa-f724-46bf-bb4f-aef09392934b_ContentBits">
    <vt:lpwstr>0</vt:lpwstr>
  </property>
  <property fmtid="{D5CDD505-2E9C-101B-9397-08002B2CF9AE}" pid="9" name="MSIP_Label_d38901aa-f724-46bf-bb4f-aef09392934b_Tag">
    <vt:lpwstr>10, 3, 0, 1</vt:lpwstr>
  </property>
</Properties>
</file>
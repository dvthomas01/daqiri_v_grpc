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FF809-A0F0-4E7B-A6F1-325CC36D6FCD}"/>
              </a:ext>
            </a:extLst>
          </p:cNvPr>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57A21B4A-0EB0-3358-6F40-0A8A7ACEF9C1}"/>
              </a:ext>
            </a:extLst>
          </p:cNvPr>
          <p:cNvSpPr>
            <a:spLocks noGrp="1"/>
          </p:cNvSpPr>
          <p:nvPr>
            <p:ph type="subTitle" idx="1"/>
          </p:nvPr>
        </p:nvSpPr>
        <p:spPr>
          <a:xfrm>
            <a:off x="1524000" y="3602037"/>
            <a:ext cx="9144000" cy="165576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D59B8162-F950-A016-B0A8-02DE48ECB480}"/>
              </a:ext>
            </a:extLst>
          </p:cNvPr>
          <p:cNvSpPr>
            <a:spLocks noGrp="1"/>
          </p:cNvSpPr>
          <p:nvPr>
            <p:ph type="dt" sz="half" idx="10"/>
          </p:nvPr>
        </p:nvSpPr>
        <p:spPr/>
        <p:txBody>
          <a:bodyPr/>
          <a:lstStyle/>
          <a:p>
            <a:fld id="{17A8993D-DFC1-4D11-A433-FBA30EF9E8E2}" type="datetimeFigureOut">
              <a:rPr lang="en-US" smtClean="0"/>
              <a:t>8/26/2026</a:t>
            </a:fld>
            <a:endParaRPr lang="en-US"/>
          </a:p>
        </p:txBody>
      </p:sp>
      <p:sp>
        <p:nvSpPr>
          <p:cNvPr id="5" name="Footer Placeholder 4">
            <a:extLst>
              <a:ext uri="{FF2B5EF4-FFF2-40B4-BE49-F238E27FC236}">
                <a16:creationId xmlns:a16="http://schemas.microsoft.com/office/drawing/2014/main" id="{D813B6A9-8C78-493B-A51E-4E866343DA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CC7FF6-1635-7C20-DF24-234E2FA4D02C}"/>
              </a:ext>
            </a:extLst>
          </p:cNvPr>
          <p:cNvSpPr>
            <a:spLocks noGrp="1"/>
          </p:cNvSpPr>
          <p:nvPr>
            <p:ph type="sldNum" sz="quarter" idx="12"/>
          </p:nvPr>
        </p:nvSpPr>
        <p:spPr/>
        <p:txBody>
          <a:bodyPr/>
          <a:lstStyle/>
          <a:p>
            <a:fld id="{A9D2DB4A-A88E-4CE9-965C-7598F1CFDBF4}" type="slidenum">
              <a:rPr lang="en-US" smtClean="0"/>
              <a:t>‹#›</a:t>
            </a:fld>
            <a:endParaRPr lang="en-US"/>
          </a:p>
        </p:txBody>
      </p:sp>
    </p:spTree>
    <p:extLst>
      <p:ext uri="{BB962C8B-B14F-4D97-AF65-F5344CB8AC3E}">
        <p14:creationId xmlns:p14="http://schemas.microsoft.com/office/powerpoint/2010/main" val="41112803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AF609-A3CB-9F01-0027-F98DA8037C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6D639B-F1C5-A0D6-3A75-2EBB843002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280F8E-D9B6-D83A-5596-F06002C409A6}"/>
              </a:ext>
            </a:extLst>
          </p:cNvPr>
          <p:cNvSpPr>
            <a:spLocks noGrp="1"/>
          </p:cNvSpPr>
          <p:nvPr>
            <p:ph type="dt" sz="half" idx="10"/>
          </p:nvPr>
        </p:nvSpPr>
        <p:spPr/>
        <p:txBody>
          <a:bodyPr/>
          <a:lstStyle/>
          <a:p>
            <a:fld id="{17A8993D-DFC1-4D11-A433-FBA30EF9E8E2}" type="datetimeFigureOut">
              <a:rPr lang="en-US" smtClean="0"/>
              <a:t>8/26/2026</a:t>
            </a:fld>
            <a:endParaRPr lang="en-US"/>
          </a:p>
        </p:txBody>
      </p:sp>
      <p:sp>
        <p:nvSpPr>
          <p:cNvPr id="5" name="Footer Placeholder 4">
            <a:extLst>
              <a:ext uri="{FF2B5EF4-FFF2-40B4-BE49-F238E27FC236}">
                <a16:creationId xmlns:a16="http://schemas.microsoft.com/office/drawing/2014/main" id="{B616893A-E707-8ACF-D020-52255996FC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122625-B5E2-C27B-81D7-8B436BF053E5}"/>
              </a:ext>
            </a:extLst>
          </p:cNvPr>
          <p:cNvSpPr>
            <a:spLocks noGrp="1"/>
          </p:cNvSpPr>
          <p:nvPr>
            <p:ph type="sldNum" sz="quarter" idx="12"/>
          </p:nvPr>
        </p:nvSpPr>
        <p:spPr/>
        <p:txBody>
          <a:bodyPr/>
          <a:lstStyle/>
          <a:p>
            <a:fld id="{A9D2DB4A-A88E-4CE9-965C-7598F1CFDBF4}" type="slidenum">
              <a:rPr lang="en-US" smtClean="0"/>
              <a:t>‹#›</a:t>
            </a:fld>
            <a:endParaRPr lang="en-US"/>
          </a:p>
        </p:txBody>
      </p:sp>
    </p:spTree>
    <p:extLst>
      <p:ext uri="{BB962C8B-B14F-4D97-AF65-F5344CB8AC3E}">
        <p14:creationId xmlns:p14="http://schemas.microsoft.com/office/powerpoint/2010/main" val="3830159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89078-1431-A43E-954C-A70E9DECC28B}"/>
              </a:ext>
            </a:extLst>
          </p:cNvPr>
          <p:cNvSpPr>
            <a:spLocks noGrp="1"/>
          </p:cNvSpPr>
          <p:nvPr>
            <p:ph type="title"/>
          </p:nvPr>
        </p:nvSpPr>
        <p:spPr>
          <a:xfrm>
            <a:off x="831851" y="1709741"/>
            <a:ext cx="105156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CC1B13C5-FBA2-457D-73E1-B05E4D8AA144}"/>
              </a:ext>
            </a:extLst>
          </p:cNvPr>
          <p:cNvSpPr>
            <a:spLocks noGrp="1"/>
          </p:cNvSpPr>
          <p:nvPr>
            <p:ph type="body" idx="1"/>
          </p:nvPr>
        </p:nvSpPr>
        <p:spPr>
          <a:xfrm>
            <a:off x="831851" y="4589464"/>
            <a:ext cx="105156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FF6DA82-5CFF-5A21-15E0-72E09E1619EB}"/>
              </a:ext>
            </a:extLst>
          </p:cNvPr>
          <p:cNvSpPr>
            <a:spLocks noGrp="1"/>
          </p:cNvSpPr>
          <p:nvPr>
            <p:ph type="dt" sz="half" idx="10"/>
          </p:nvPr>
        </p:nvSpPr>
        <p:spPr/>
        <p:txBody>
          <a:bodyPr/>
          <a:lstStyle/>
          <a:p>
            <a:fld id="{17A8993D-DFC1-4D11-A433-FBA30EF9E8E2}" type="datetimeFigureOut">
              <a:rPr lang="en-US" smtClean="0"/>
              <a:t>8/26/2026</a:t>
            </a:fld>
            <a:endParaRPr lang="en-US"/>
          </a:p>
        </p:txBody>
      </p:sp>
      <p:sp>
        <p:nvSpPr>
          <p:cNvPr id="5" name="Footer Placeholder 4">
            <a:extLst>
              <a:ext uri="{FF2B5EF4-FFF2-40B4-BE49-F238E27FC236}">
                <a16:creationId xmlns:a16="http://schemas.microsoft.com/office/drawing/2014/main" id="{AEAC8950-3A90-025C-8F79-5FFF8E3FCA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49166E-7808-2238-78CB-57C920AB0663}"/>
              </a:ext>
            </a:extLst>
          </p:cNvPr>
          <p:cNvSpPr>
            <a:spLocks noGrp="1"/>
          </p:cNvSpPr>
          <p:nvPr>
            <p:ph type="sldNum" sz="quarter" idx="12"/>
          </p:nvPr>
        </p:nvSpPr>
        <p:spPr/>
        <p:txBody>
          <a:bodyPr/>
          <a:lstStyle/>
          <a:p>
            <a:fld id="{A9D2DB4A-A88E-4CE9-965C-7598F1CFDBF4}" type="slidenum">
              <a:rPr lang="en-US" smtClean="0"/>
              <a:t>‹#›</a:t>
            </a:fld>
            <a:endParaRPr lang="en-US"/>
          </a:p>
        </p:txBody>
      </p:sp>
    </p:spTree>
    <p:extLst>
      <p:ext uri="{BB962C8B-B14F-4D97-AF65-F5344CB8AC3E}">
        <p14:creationId xmlns:p14="http://schemas.microsoft.com/office/powerpoint/2010/main" val="4728838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51C53-B576-A6A8-252B-5D8E694CC81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12CE9E-EC9A-BFA8-4D1C-7065AC4199AC}"/>
              </a:ext>
            </a:extLst>
          </p:cNvPr>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9120344-B778-D578-581F-86C877694BBA}"/>
              </a:ext>
            </a:extLst>
          </p:cNvPr>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3650D2B-BF46-5C0C-5465-6A6162184298}"/>
              </a:ext>
            </a:extLst>
          </p:cNvPr>
          <p:cNvSpPr>
            <a:spLocks noGrp="1"/>
          </p:cNvSpPr>
          <p:nvPr>
            <p:ph type="dt" sz="half" idx="10"/>
          </p:nvPr>
        </p:nvSpPr>
        <p:spPr/>
        <p:txBody>
          <a:bodyPr/>
          <a:lstStyle/>
          <a:p>
            <a:fld id="{17A8993D-DFC1-4D11-A433-FBA30EF9E8E2}" type="datetimeFigureOut">
              <a:rPr lang="en-US" smtClean="0"/>
              <a:t>8/26/2026</a:t>
            </a:fld>
            <a:endParaRPr lang="en-US"/>
          </a:p>
        </p:txBody>
      </p:sp>
      <p:sp>
        <p:nvSpPr>
          <p:cNvPr id="6" name="Footer Placeholder 5">
            <a:extLst>
              <a:ext uri="{FF2B5EF4-FFF2-40B4-BE49-F238E27FC236}">
                <a16:creationId xmlns:a16="http://schemas.microsoft.com/office/drawing/2014/main" id="{265D9FA0-73E7-DD74-848C-16A5AA7F03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11D581-7A70-2245-33F3-C2C608D72EAE}"/>
              </a:ext>
            </a:extLst>
          </p:cNvPr>
          <p:cNvSpPr>
            <a:spLocks noGrp="1"/>
          </p:cNvSpPr>
          <p:nvPr>
            <p:ph type="sldNum" sz="quarter" idx="12"/>
          </p:nvPr>
        </p:nvSpPr>
        <p:spPr/>
        <p:txBody>
          <a:bodyPr/>
          <a:lstStyle/>
          <a:p>
            <a:fld id="{A9D2DB4A-A88E-4CE9-965C-7598F1CFDBF4}" type="slidenum">
              <a:rPr lang="en-US" smtClean="0"/>
              <a:t>‹#›</a:t>
            </a:fld>
            <a:endParaRPr lang="en-US"/>
          </a:p>
        </p:txBody>
      </p:sp>
    </p:spTree>
    <p:extLst>
      <p:ext uri="{BB962C8B-B14F-4D97-AF65-F5344CB8AC3E}">
        <p14:creationId xmlns:p14="http://schemas.microsoft.com/office/powerpoint/2010/main" val="2737971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16DE8-8E56-390A-72AB-CC653979857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BC30F89-B99C-F4C8-7387-45255E854E8B}"/>
              </a:ext>
            </a:extLst>
          </p:cNvPr>
          <p:cNvSpPr>
            <a:spLocks noGrp="1"/>
          </p:cNvSpPr>
          <p:nvPr>
            <p:ph type="body" idx="1"/>
          </p:nvPr>
        </p:nvSpPr>
        <p:spPr>
          <a:xfrm>
            <a:off x="839790"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FDA09E05-CE66-C0D7-1123-DCA655EED05C}"/>
              </a:ext>
            </a:extLst>
          </p:cNvPr>
          <p:cNvSpPr>
            <a:spLocks noGrp="1"/>
          </p:cNvSpPr>
          <p:nvPr>
            <p:ph sz="half" idx="2"/>
          </p:nvPr>
        </p:nvSpPr>
        <p:spPr>
          <a:xfrm>
            <a:off x="839790" y="2505077"/>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1F1DA52-5B6A-3614-FB13-B1094D644953}"/>
              </a:ext>
            </a:extLst>
          </p:cNvPr>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BCEE6317-AB39-B9CC-B7ED-9C5831EB73FC}"/>
              </a:ext>
            </a:extLst>
          </p:cNvPr>
          <p:cNvSpPr>
            <a:spLocks noGrp="1"/>
          </p:cNvSpPr>
          <p:nvPr>
            <p:ph sz="quarter" idx="4"/>
          </p:nvPr>
        </p:nvSpPr>
        <p:spPr>
          <a:xfrm>
            <a:off x="6172201" y="2505077"/>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42EA656-6B31-DA88-5237-64800BB352AF}"/>
              </a:ext>
            </a:extLst>
          </p:cNvPr>
          <p:cNvSpPr>
            <a:spLocks noGrp="1"/>
          </p:cNvSpPr>
          <p:nvPr>
            <p:ph type="dt" sz="half" idx="10"/>
          </p:nvPr>
        </p:nvSpPr>
        <p:spPr/>
        <p:txBody>
          <a:bodyPr/>
          <a:lstStyle/>
          <a:p>
            <a:fld id="{17A8993D-DFC1-4D11-A433-FBA30EF9E8E2}" type="datetimeFigureOut">
              <a:rPr lang="en-US" smtClean="0"/>
              <a:t>8/26/2026</a:t>
            </a:fld>
            <a:endParaRPr lang="en-US"/>
          </a:p>
        </p:txBody>
      </p:sp>
      <p:sp>
        <p:nvSpPr>
          <p:cNvPr id="8" name="Footer Placeholder 7">
            <a:extLst>
              <a:ext uri="{FF2B5EF4-FFF2-40B4-BE49-F238E27FC236}">
                <a16:creationId xmlns:a16="http://schemas.microsoft.com/office/drawing/2014/main" id="{2C37DB25-E607-95F8-717A-8EEB92D7FA0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9767E43-A5D9-4494-9BD9-93E1A757115E}"/>
              </a:ext>
            </a:extLst>
          </p:cNvPr>
          <p:cNvSpPr>
            <a:spLocks noGrp="1"/>
          </p:cNvSpPr>
          <p:nvPr>
            <p:ph type="sldNum" sz="quarter" idx="12"/>
          </p:nvPr>
        </p:nvSpPr>
        <p:spPr/>
        <p:txBody>
          <a:bodyPr/>
          <a:lstStyle/>
          <a:p>
            <a:fld id="{A9D2DB4A-A88E-4CE9-965C-7598F1CFDBF4}" type="slidenum">
              <a:rPr lang="en-US" smtClean="0"/>
              <a:t>‹#›</a:t>
            </a:fld>
            <a:endParaRPr lang="en-US"/>
          </a:p>
        </p:txBody>
      </p:sp>
    </p:spTree>
    <p:extLst>
      <p:ext uri="{BB962C8B-B14F-4D97-AF65-F5344CB8AC3E}">
        <p14:creationId xmlns:p14="http://schemas.microsoft.com/office/powerpoint/2010/main" val="17648804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7F680-B634-A69D-F288-FEFD33891D6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7A7DEA5-67C7-22FB-B9C7-AE4992961926}"/>
              </a:ext>
            </a:extLst>
          </p:cNvPr>
          <p:cNvSpPr>
            <a:spLocks noGrp="1"/>
          </p:cNvSpPr>
          <p:nvPr>
            <p:ph type="dt" sz="half" idx="10"/>
          </p:nvPr>
        </p:nvSpPr>
        <p:spPr/>
        <p:txBody>
          <a:bodyPr/>
          <a:lstStyle/>
          <a:p>
            <a:fld id="{17A8993D-DFC1-4D11-A433-FBA30EF9E8E2}" type="datetimeFigureOut">
              <a:rPr lang="en-US" smtClean="0"/>
              <a:t>8/26/2026</a:t>
            </a:fld>
            <a:endParaRPr lang="en-US"/>
          </a:p>
        </p:txBody>
      </p:sp>
      <p:sp>
        <p:nvSpPr>
          <p:cNvPr id="4" name="Footer Placeholder 3">
            <a:extLst>
              <a:ext uri="{FF2B5EF4-FFF2-40B4-BE49-F238E27FC236}">
                <a16:creationId xmlns:a16="http://schemas.microsoft.com/office/drawing/2014/main" id="{F168E409-9C86-BF50-786D-86BFEB9A6B2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A47596D-849A-737A-7002-4612F78FAB0C}"/>
              </a:ext>
            </a:extLst>
          </p:cNvPr>
          <p:cNvSpPr>
            <a:spLocks noGrp="1"/>
          </p:cNvSpPr>
          <p:nvPr>
            <p:ph type="sldNum" sz="quarter" idx="12"/>
          </p:nvPr>
        </p:nvSpPr>
        <p:spPr/>
        <p:txBody>
          <a:bodyPr/>
          <a:lstStyle/>
          <a:p>
            <a:fld id="{A9D2DB4A-A88E-4CE9-965C-7598F1CFDBF4}" type="slidenum">
              <a:rPr lang="en-US" smtClean="0"/>
              <a:t>‹#›</a:t>
            </a:fld>
            <a:endParaRPr lang="en-US"/>
          </a:p>
        </p:txBody>
      </p:sp>
    </p:spTree>
    <p:extLst>
      <p:ext uri="{BB962C8B-B14F-4D97-AF65-F5344CB8AC3E}">
        <p14:creationId xmlns:p14="http://schemas.microsoft.com/office/powerpoint/2010/main" val="32842347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303E64-68E8-FE39-8F60-1399B771B782}"/>
              </a:ext>
            </a:extLst>
          </p:cNvPr>
          <p:cNvSpPr>
            <a:spLocks noGrp="1"/>
          </p:cNvSpPr>
          <p:nvPr>
            <p:ph type="dt" sz="half" idx="10"/>
          </p:nvPr>
        </p:nvSpPr>
        <p:spPr/>
        <p:txBody>
          <a:bodyPr/>
          <a:lstStyle/>
          <a:p>
            <a:fld id="{17A8993D-DFC1-4D11-A433-FBA30EF9E8E2}" type="datetimeFigureOut">
              <a:rPr lang="en-US" smtClean="0"/>
              <a:t>8/26/2026</a:t>
            </a:fld>
            <a:endParaRPr lang="en-US"/>
          </a:p>
        </p:txBody>
      </p:sp>
      <p:sp>
        <p:nvSpPr>
          <p:cNvPr id="3" name="Footer Placeholder 2">
            <a:extLst>
              <a:ext uri="{FF2B5EF4-FFF2-40B4-BE49-F238E27FC236}">
                <a16:creationId xmlns:a16="http://schemas.microsoft.com/office/drawing/2014/main" id="{9947E2C8-1C9A-F2BC-36A0-A27CC16F95B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5389D23-09A7-E05E-B32A-8364742AF768}"/>
              </a:ext>
            </a:extLst>
          </p:cNvPr>
          <p:cNvSpPr>
            <a:spLocks noGrp="1"/>
          </p:cNvSpPr>
          <p:nvPr>
            <p:ph type="sldNum" sz="quarter" idx="12"/>
          </p:nvPr>
        </p:nvSpPr>
        <p:spPr/>
        <p:txBody>
          <a:bodyPr/>
          <a:lstStyle/>
          <a:p>
            <a:fld id="{A9D2DB4A-A88E-4CE9-965C-7598F1CFDBF4}" type="slidenum">
              <a:rPr lang="en-US" smtClean="0"/>
              <a:t>‹#›</a:t>
            </a:fld>
            <a:endParaRPr lang="en-US"/>
          </a:p>
        </p:txBody>
      </p:sp>
    </p:spTree>
    <p:extLst>
      <p:ext uri="{BB962C8B-B14F-4D97-AF65-F5344CB8AC3E}">
        <p14:creationId xmlns:p14="http://schemas.microsoft.com/office/powerpoint/2010/main" val="22260185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48DAA-7CC2-EE6F-2B60-6CFB8E76C81C}"/>
              </a:ext>
            </a:extLst>
          </p:cNvPr>
          <p:cNvSpPr>
            <a:spLocks noGrp="1"/>
          </p:cNvSpPr>
          <p:nvPr>
            <p:ph type="title"/>
          </p:nvPr>
        </p:nvSpPr>
        <p:spPr>
          <a:xfrm>
            <a:off x="839789" y="457200"/>
            <a:ext cx="3932237"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320A0C5D-CF34-D839-0A59-8F24CC40E195}"/>
              </a:ext>
            </a:extLst>
          </p:cNvPr>
          <p:cNvSpPr>
            <a:spLocks noGrp="1"/>
          </p:cNvSpPr>
          <p:nvPr>
            <p:ph idx="1"/>
          </p:nvPr>
        </p:nvSpPr>
        <p:spPr>
          <a:xfrm>
            <a:off x="5183188" y="987428"/>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2A0A5F0-625C-E027-FFE7-CB734CCE58A9}"/>
              </a:ext>
            </a:extLst>
          </p:cNvPr>
          <p:cNvSpPr>
            <a:spLocks noGrp="1"/>
          </p:cNvSpPr>
          <p:nvPr>
            <p:ph type="body" sz="half" idx="2"/>
          </p:nvPr>
        </p:nvSpPr>
        <p:spPr>
          <a:xfrm>
            <a:off x="839789" y="2057402"/>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EF6B398B-EA9A-8B86-617F-505A3608FC9F}"/>
              </a:ext>
            </a:extLst>
          </p:cNvPr>
          <p:cNvSpPr>
            <a:spLocks noGrp="1"/>
          </p:cNvSpPr>
          <p:nvPr>
            <p:ph type="dt" sz="half" idx="10"/>
          </p:nvPr>
        </p:nvSpPr>
        <p:spPr/>
        <p:txBody>
          <a:bodyPr/>
          <a:lstStyle/>
          <a:p>
            <a:fld id="{17A8993D-DFC1-4D11-A433-FBA30EF9E8E2}" type="datetimeFigureOut">
              <a:rPr lang="en-US" smtClean="0"/>
              <a:t>8/26/2026</a:t>
            </a:fld>
            <a:endParaRPr lang="en-US"/>
          </a:p>
        </p:txBody>
      </p:sp>
      <p:sp>
        <p:nvSpPr>
          <p:cNvPr id="6" name="Footer Placeholder 5">
            <a:extLst>
              <a:ext uri="{FF2B5EF4-FFF2-40B4-BE49-F238E27FC236}">
                <a16:creationId xmlns:a16="http://schemas.microsoft.com/office/drawing/2014/main" id="{AA69EDEC-8BB2-A1C7-C987-229A0024D2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7231B9-EDC2-8FA1-D0D0-174D6FC823E6}"/>
              </a:ext>
            </a:extLst>
          </p:cNvPr>
          <p:cNvSpPr>
            <a:spLocks noGrp="1"/>
          </p:cNvSpPr>
          <p:nvPr>
            <p:ph type="sldNum" sz="quarter" idx="12"/>
          </p:nvPr>
        </p:nvSpPr>
        <p:spPr/>
        <p:txBody>
          <a:bodyPr/>
          <a:lstStyle/>
          <a:p>
            <a:fld id="{A9D2DB4A-A88E-4CE9-965C-7598F1CFDBF4}" type="slidenum">
              <a:rPr lang="en-US" smtClean="0"/>
              <a:t>‹#›</a:t>
            </a:fld>
            <a:endParaRPr lang="en-US"/>
          </a:p>
        </p:txBody>
      </p:sp>
    </p:spTree>
    <p:extLst>
      <p:ext uri="{BB962C8B-B14F-4D97-AF65-F5344CB8AC3E}">
        <p14:creationId xmlns:p14="http://schemas.microsoft.com/office/powerpoint/2010/main" val="40623893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C8FEE-FBE6-C83E-75CF-6D9A43C16FD3}"/>
              </a:ext>
            </a:extLst>
          </p:cNvPr>
          <p:cNvSpPr>
            <a:spLocks noGrp="1"/>
          </p:cNvSpPr>
          <p:nvPr>
            <p:ph type="title"/>
          </p:nvPr>
        </p:nvSpPr>
        <p:spPr>
          <a:xfrm>
            <a:off x="839789" y="457200"/>
            <a:ext cx="3932237"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44EEAA46-FA0F-0349-8B8A-4E2490A97FD3}"/>
              </a:ext>
            </a:extLst>
          </p:cNvPr>
          <p:cNvSpPr>
            <a:spLocks noGrp="1"/>
          </p:cNvSpPr>
          <p:nvPr>
            <p:ph type="pic" idx="1"/>
          </p:nvPr>
        </p:nvSpPr>
        <p:spPr>
          <a:xfrm>
            <a:off x="5183188" y="987428"/>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8A67F33D-33E1-62F8-BE1A-F4BE2C913851}"/>
              </a:ext>
            </a:extLst>
          </p:cNvPr>
          <p:cNvSpPr>
            <a:spLocks noGrp="1"/>
          </p:cNvSpPr>
          <p:nvPr>
            <p:ph type="body" sz="half" idx="2"/>
          </p:nvPr>
        </p:nvSpPr>
        <p:spPr>
          <a:xfrm>
            <a:off x="839789" y="2057402"/>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E77C71B0-D2D5-A38B-B573-5287463AE4B7}"/>
              </a:ext>
            </a:extLst>
          </p:cNvPr>
          <p:cNvSpPr>
            <a:spLocks noGrp="1"/>
          </p:cNvSpPr>
          <p:nvPr>
            <p:ph type="dt" sz="half" idx="10"/>
          </p:nvPr>
        </p:nvSpPr>
        <p:spPr/>
        <p:txBody>
          <a:bodyPr/>
          <a:lstStyle/>
          <a:p>
            <a:fld id="{17A8993D-DFC1-4D11-A433-FBA30EF9E8E2}" type="datetimeFigureOut">
              <a:rPr lang="en-US" smtClean="0"/>
              <a:t>8/26/2026</a:t>
            </a:fld>
            <a:endParaRPr lang="en-US"/>
          </a:p>
        </p:txBody>
      </p:sp>
      <p:sp>
        <p:nvSpPr>
          <p:cNvPr id="6" name="Footer Placeholder 5">
            <a:extLst>
              <a:ext uri="{FF2B5EF4-FFF2-40B4-BE49-F238E27FC236}">
                <a16:creationId xmlns:a16="http://schemas.microsoft.com/office/drawing/2014/main" id="{B76ED631-EF75-7F25-354A-67635EC826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3538FC-A9B3-7EAF-3804-6573C74E8419}"/>
              </a:ext>
            </a:extLst>
          </p:cNvPr>
          <p:cNvSpPr>
            <a:spLocks noGrp="1"/>
          </p:cNvSpPr>
          <p:nvPr>
            <p:ph type="sldNum" sz="quarter" idx="12"/>
          </p:nvPr>
        </p:nvSpPr>
        <p:spPr/>
        <p:txBody>
          <a:bodyPr/>
          <a:lstStyle/>
          <a:p>
            <a:fld id="{A9D2DB4A-A88E-4CE9-965C-7598F1CFDBF4}" type="slidenum">
              <a:rPr lang="en-US" smtClean="0"/>
              <a:t>‹#›</a:t>
            </a:fld>
            <a:endParaRPr lang="en-US"/>
          </a:p>
        </p:txBody>
      </p:sp>
    </p:spTree>
    <p:extLst>
      <p:ext uri="{BB962C8B-B14F-4D97-AF65-F5344CB8AC3E}">
        <p14:creationId xmlns:p14="http://schemas.microsoft.com/office/powerpoint/2010/main" val="3843642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EC09E-1418-F874-31F5-F58DC65DF59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E1CE567-2093-E5CE-7664-851F26C8631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AC4B64-8551-C5C5-2A41-66877294712C}"/>
              </a:ext>
            </a:extLst>
          </p:cNvPr>
          <p:cNvSpPr>
            <a:spLocks noGrp="1"/>
          </p:cNvSpPr>
          <p:nvPr>
            <p:ph type="dt" sz="half" idx="10"/>
          </p:nvPr>
        </p:nvSpPr>
        <p:spPr/>
        <p:txBody>
          <a:bodyPr/>
          <a:lstStyle/>
          <a:p>
            <a:fld id="{17A8993D-DFC1-4D11-A433-FBA30EF9E8E2}" type="datetimeFigureOut">
              <a:rPr lang="en-US" smtClean="0"/>
              <a:t>8/26/2026</a:t>
            </a:fld>
            <a:endParaRPr lang="en-US"/>
          </a:p>
        </p:txBody>
      </p:sp>
      <p:sp>
        <p:nvSpPr>
          <p:cNvPr id="5" name="Footer Placeholder 4">
            <a:extLst>
              <a:ext uri="{FF2B5EF4-FFF2-40B4-BE49-F238E27FC236}">
                <a16:creationId xmlns:a16="http://schemas.microsoft.com/office/drawing/2014/main" id="{A5E0BFE7-CC07-A9D1-2C80-9D2B84EE3A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3D8506-2B8D-0E0B-CEA0-23E442E28AFB}"/>
              </a:ext>
            </a:extLst>
          </p:cNvPr>
          <p:cNvSpPr>
            <a:spLocks noGrp="1"/>
          </p:cNvSpPr>
          <p:nvPr>
            <p:ph type="sldNum" sz="quarter" idx="12"/>
          </p:nvPr>
        </p:nvSpPr>
        <p:spPr/>
        <p:txBody>
          <a:bodyPr/>
          <a:lstStyle/>
          <a:p>
            <a:fld id="{A9D2DB4A-A88E-4CE9-965C-7598F1CFDBF4}" type="slidenum">
              <a:rPr lang="en-US" smtClean="0"/>
              <a:t>‹#›</a:t>
            </a:fld>
            <a:endParaRPr lang="en-US"/>
          </a:p>
        </p:txBody>
      </p:sp>
    </p:spTree>
    <p:extLst>
      <p:ext uri="{BB962C8B-B14F-4D97-AF65-F5344CB8AC3E}">
        <p14:creationId xmlns:p14="http://schemas.microsoft.com/office/powerpoint/2010/main" val="32473878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1F5CFB-4B06-DD7B-B71C-0A006D2811BB}"/>
              </a:ext>
            </a:extLst>
          </p:cNvPr>
          <p:cNvSpPr>
            <a:spLocks noGrp="1"/>
          </p:cNvSpPr>
          <p:nvPr>
            <p:ph type="title" orient="vert"/>
          </p:nvPr>
        </p:nvSpPr>
        <p:spPr>
          <a:xfrm>
            <a:off x="8724901" y="365127"/>
            <a:ext cx="2628900" cy="581183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8035E4A-01F6-E8CD-5DF0-FA140AB9EB67}"/>
              </a:ext>
            </a:extLst>
          </p:cNvPr>
          <p:cNvSpPr>
            <a:spLocks noGrp="1"/>
          </p:cNvSpPr>
          <p:nvPr>
            <p:ph type="body" orient="vert" idx="1"/>
          </p:nvPr>
        </p:nvSpPr>
        <p:spPr>
          <a:xfrm>
            <a:off x="838201" y="365127"/>
            <a:ext cx="7734300"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D2E3E2-F586-EADB-C40C-041F34E8ED1B}"/>
              </a:ext>
            </a:extLst>
          </p:cNvPr>
          <p:cNvSpPr>
            <a:spLocks noGrp="1"/>
          </p:cNvSpPr>
          <p:nvPr>
            <p:ph type="dt" sz="half" idx="10"/>
          </p:nvPr>
        </p:nvSpPr>
        <p:spPr/>
        <p:txBody>
          <a:bodyPr/>
          <a:lstStyle/>
          <a:p>
            <a:fld id="{17A8993D-DFC1-4D11-A433-FBA30EF9E8E2}" type="datetimeFigureOut">
              <a:rPr lang="en-US" smtClean="0"/>
              <a:t>8/26/2026</a:t>
            </a:fld>
            <a:endParaRPr lang="en-US"/>
          </a:p>
        </p:txBody>
      </p:sp>
      <p:sp>
        <p:nvSpPr>
          <p:cNvPr id="5" name="Footer Placeholder 4">
            <a:extLst>
              <a:ext uri="{FF2B5EF4-FFF2-40B4-BE49-F238E27FC236}">
                <a16:creationId xmlns:a16="http://schemas.microsoft.com/office/drawing/2014/main" id="{8FB9583F-7447-98C2-DE06-463EB89328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22597E-E523-8814-16CB-469F5F49292B}"/>
              </a:ext>
            </a:extLst>
          </p:cNvPr>
          <p:cNvSpPr>
            <a:spLocks noGrp="1"/>
          </p:cNvSpPr>
          <p:nvPr>
            <p:ph type="sldNum" sz="quarter" idx="12"/>
          </p:nvPr>
        </p:nvSpPr>
        <p:spPr/>
        <p:txBody>
          <a:bodyPr/>
          <a:lstStyle/>
          <a:p>
            <a:fld id="{A9D2DB4A-A88E-4CE9-965C-7598F1CFDBF4}" type="slidenum">
              <a:rPr lang="en-US" smtClean="0"/>
              <a:t>‹#›</a:t>
            </a:fld>
            <a:endParaRPr lang="en-US"/>
          </a:p>
        </p:txBody>
      </p:sp>
    </p:spTree>
    <p:extLst>
      <p:ext uri="{BB962C8B-B14F-4D97-AF65-F5344CB8AC3E}">
        <p14:creationId xmlns:p14="http://schemas.microsoft.com/office/powerpoint/2010/main" val="24569363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6FC927-2B1C-EAD3-91EB-8623A8A6B9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5C69934-4FEF-3989-1AAB-65946BB65FD1}"/>
              </a:ext>
            </a:extLst>
          </p:cNvPr>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5D76FE-40E2-58AB-699A-7216C49BCF7D}"/>
              </a:ext>
            </a:extLst>
          </p:cNvPr>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17A8993D-DFC1-4D11-A433-FBA30EF9E8E2}" type="datetimeFigureOut">
              <a:rPr lang="en-US" smtClean="0"/>
              <a:t>8/26/2026</a:t>
            </a:fld>
            <a:endParaRPr lang="en-US"/>
          </a:p>
        </p:txBody>
      </p:sp>
      <p:sp>
        <p:nvSpPr>
          <p:cNvPr id="5" name="Footer Placeholder 4">
            <a:extLst>
              <a:ext uri="{FF2B5EF4-FFF2-40B4-BE49-F238E27FC236}">
                <a16:creationId xmlns:a16="http://schemas.microsoft.com/office/drawing/2014/main" id="{2BD26978-F115-E1D2-8146-2C1DF69B0E9C}"/>
              </a:ext>
            </a:extLst>
          </p:cNvPr>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BAE1BE8-3338-D662-38EB-26FFACBB5DD1}"/>
              </a:ext>
            </a:extLst>
          </p:cNvPr>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A9D2DB4A-A88E-4CE9-965C-7598F1CFDBF4}" type="slidenum">
              <a:rPr lang="en-US" smtClean="0"/>
              <a:t>‹#›</a:t>
            </a:fld>
            <a:endParaRPr lang="en-US"/>
          </a:p>
        </p:txBody>
      </p:sp>
    </p:spTree>
    <p:extLst>
      <p:ext uri="{BB962C8B-B14F-4D97-AF65-F5344CB8AC3E}">
        <p14:creationId xmlns:p14="http://schemas.microsoft.com/office/powerpoint/2010/main" val="36098321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C452909-DAA3-4E38-54FF-753622F78E4A}"/>
              </a:ext>
            </a:extLst>
          </p:cNvPr>
          <p:cNvSpPr/>
          <p:nvPr/>
        </p:nvSpPr>
        <p:spPr>
          <a:xfrm>
            <a:off x="0" y="0"/>
            <a:ext cx="12192000" cy="6858000"/>
          </a:xfrm>
          <a:prstGeom prst="rect">
            <a:avLst/>
          </a:prstGeom>
          <a:solidFill>
            <a:srgbClr val="1B1B1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C1187087-A031-2D0A-2A91-C8FF966560B5}"/>
              </a:ext>
            </a:extLst>
          </p:cNvPr>
          <p:cNvSpPr/>
          <p:nvPr/>
        </p:nvSpPr>
        <p:spPr>
          <a:xfrm>
            <a:off x="0" y="0"/>
            <a:ext cx="152400" cy="68580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ADBD824-AD49-D302-A3AE-3B2F347E54A3}"/>
              </a:ext>
            </a:extLst>
          </p:cNvPr>
          <p:cNvSpPr txBox="1"/>
          <p:nvPr/>
        </p:nvSpPr>
        <p:spPr>
          <a:xfrm>
            <a:off x="889000" y="2222500"/>
            <a:ext cx="10160000" cy="1354217"/>
          </a:xfrm>
          <a:prstGeom prst="rect">
            <a:avLst/>
          </a:prstGeom>
          <a:noFill/>
        </p:spPr>
        <p:txBody>
          <a:bodyPr vert="horz" wrap="square" lIns="0" tIns="0" rIns="0" bIns="0" rtlCol="0">
            <a:spAutoFit/>
          </a:bodyPr>
          <a:lstStyle/>
          <a:p>
            <a:r>
              <a:rPr lang="en-US" sz="4400" b="1">
                <a:solidFill>
                  <a:srgbClr val="FFFFFF"/>
                </a:solidFill>
                <a:latin typeface="Segoe UI" panose="020B0502040204020203" pitchFamily="34" charset="0"/>
              </a:rPr>
              <a:t>Getting Live Hardware Data</a:t>
            </a:r>
          </a:p>
          <a:p>
            <a:r>
              <a:rPr lang="en-US" sz="4400" b="1">
                <a:solidFill>
                  <a:srgbClr val="FFFFFF"/>
                </a:solidFill>
                <a:latin typeface="Segoe UI" panose="020B0502040204020203" pitchFamily="34" charset="0"/>
              </a:rPr>
              <a:t> to the GPU, Faster</a:t>
            </a:r>
          </a:p>
        </p:txBody>
      </p:sp>
      <p:sp>
        <p:nvSpPr>
          <p:cNvPr id="5" name="TextBox 4">
            <a:extLst>
              <a:ext uri="{FF2B5EF4-FFF2-40B4-BE49-F238E27FC236}">
                <a16:creationId xmlns:a16="http://schemas.microsoft.com/office/drawing/2014/main" id="{0B48067E-1E0A-F88E-0E1C-4F4CE3BD6E6F}"/>
              </a:ext>
            </a:extLst>
          </p:cNvPr>
          <p:cNvSpPr txBox="1"/>
          <p:nvPr/>
        </p:nvSpPr>
        <p:spPr>
          <a:xfrm>
            <a:off x="939800" y="4064000"/>
            <a:ext cx="10160000" cy="292388"/>
          </a:xfrm>
          <a:prstGeom prst="rect">
            <a:avLst/>
          </a:prstGeom>
          <a:noFill/>
        </p:spPr>
        <p:txBody>
          <a:bodyPr vert="horz" wrap="square" lIns="0" tIns="0" rIns="0" bIns="0" rtlCol="0">
            <a:spAutoFit/>
          </a:bodyPr>
          <a:lstStyle/>
          <a:p>
            <a:r>
              <a:rPr lang="en-US" sz="1900">
                <a:solidFill>
                  <a:srgbClr val="03B585"/>
                </a:solidFill>
                <a:latin typeface="Segoe UI" panose="020B0502040204020203" pitchFamily="34" charset="0"/>
              </a:rPr>
              <a:t>Comparing the transports that carry live measurements into GPU compute</a:t>
            </a:r>
          </a:p>
        </p:txBody>
      </p:sp>
      <p:sp>
        <p:nvSpPr>
          <p:cNvPr id="6" name="TextBox 5">
            <a:extLst>
              <a:ext uri="{FF2B5EF4-FFF2-40B4-BE49-F238E27FC236}">
                <a16:creationId xmlns:a16="http://schemas.microsoft.com/office/drawing/2014/main" id="{72FD65CE-7D9F-C504-CB1B-F48A5E8E59BA}"/>
              </a:ext>
            </a:extLst>
          </p:cNvPr>
          <p:cNvSpPr txBox="1"/>
          <p:nvPr/>
        </p:nvSpPr>
        <p:spPr>
          <a:xfrm>
            <a:off x="939800" y="6019800"/>
            <a:ext cx="10160000" cy="207749"/>
          </a:xfrm>
          <a:prstGeom prst="rect">
            <a:avLst/>
          </a:prstGeom>
          <a:noFill/>
        </p:spPr>
        <p:txBody>
          <a:bodyPr vert="horz" wrap="square" lIns="0" tIns="0" rIns="0" bIns="0" rtlCol="0">
            <a:spAutoFit/>
          </a:bodyPr>
          <a:lstStyle/>
          <a:p>
            <a:r>
              <a:rPr lang="en-US" sz="1300">
                <a:solidFill>
                  <a:srgbClr val="5A6470"/>
                </a:solidFill>
                <a:latin typeface="Segoe UI" panose="020B0502040204020203" pitchFamily="34" charset="0"/>
              </a:rPr>
              <a:t>Dami Thomas  |  NI Summer 2026  |  2026-07-29</a:t>
            </a:r>
          </a:p>
        </p:txBody>
      </p:sp>
    </p:spTree>
    <p:extLst>
      <p:ext uri="{BB962C8B-B14F-4D97-AF65-F5344CB8AC3E}">
        <p14:creationId xmlns:p14="http://schemas.microsoft.com/office/powerpoint/2010/main" val="5558549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AACCF8A-88EE-AD34-D0D7-C23AFE8C16FF}"/>
              </a:ext>
            </a:extLst>
          </p:cNvPr>
          <p:cNvSpPr/>
          <p:nvPr/>
        </p:nvSpPr>
        <p:spPr>
          <a:xfrm>
            <a:off x="0" y="0"/>
            <a:ext cx="127000" cy="68580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5970444-3301-CD59-D981-2FCF4621585A}"/>
              </a:ext>
            </a:extLst>
          </p:cNvPr>
          <p:cNvSpPr txBox="1"/>
          <p:nvPr/>
        </p:nvSpPr>
        <p:spPr>
          <a:xfrm>
            <a:off x="685800" y="381000"/>
            <a:ext cx="10795000" cy="415498"/>
          </a:xfrm>
          <a:prstGeom prst="rect">
            <a:avLst/>
          </a:prstGeom>
          <a:noFill/>
        </p:spPr>
        <p:txBody>
          <a:bodyPr vert="horz" wrap="square" lIns="0" tIns="0" rIns="0" bIns="0" rtlCol="0">
            <a:spAutoFit/>
          </a:bodyPr>
          <a:lstStyle/>
          <a:p>
            <a:r>
              <a:rPr lang="en-US" sz="2700" b="1">
                <a:solidFill>
                  <a:srgbClr val="1B1B1B"/>
                </a:solidFill>
                <a:latin typeface="Segoe UI" panose="020B0502040204020203" pitchFamily="34" charset="0"/>
              </a:rPr>
              <a:t>The data path, not the math, is what slows real-time GPU work</a:t>
            </a:r>
          </a:p>
        </p:txBody>
      </p:sp>
      <p:sp>
        <p:nvSpPr>
          <p:cNvPr id="4" name="Rectangle 3">
            <a:extLst>
              <a:ext uri="{FF2B5EF4-FFF2-40B4-BE49-F238E27FC236}">
                <a16:creationId xmlns:a16="http://schemas.microsoft.com/office/drawing/2014/main" id="{E0E70BE7-8FD9-B768-89EA-1E8F58A0A938}"/>
              </a:ext>
            </a:extLst>
          </p:cNvPr>
          <p:cNvSpPr/>
          <p:nvPr/>
        </p:nvSpPr>
        <p:spPr>
          <a:xfrm>
            <a:off x="711200" y="1625600"/>
            <a:ext cx="889000" cy="635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FA4DBF0-29B8-C790-AE70-D9E3BEB5EBF5}"/>
              </a:ext>
            </a:extLst>
          </p:cNvPr>
          <p:cNvSpPr txBox="1"/>
          <p:nvPr/>
        </p:nvSpPr>
        <p:spPr>
          <a:xfrm>
            <a:off x="685800" y="2032000"/>
            <a:ext cx="5969000" cy="3462486"/>
          </a:xfrm>
          <a:prstGeom prst="rect">
            <a:avLst/>
          </a:prstGeom>
          <a:noFill/>
        </p:spPr>
        <p:txBody>
          <a:bodyPr vert="horz" wrap="square" lIns="0" tIns="0" rIns="0" bIns="0" rtlCol="0">
            <a:spAutoFit/>
          </a:bodyPr>
          <a:lstStyle/>
          <a:p>
            <a:pPr marL="457200" indent="-457200">
              <a:spcAft>
                <a:spcPts val="1800"/>
              </a:spcAft>
              <a:buClr>
                <a:srgbClr val="03B585"/>
              </a:buClr>
              <a:buFont typeface="+mj-lt"/>
              <a:buChar char="•"/>
            </a:pPr>
            <a:r>
              <a:rPr lang="en-US" sz="2000">
                <a:solidFill>
                  <a:srgbClr val="1B1B1B"/>
                </a:solidFill>
                <a:latin typeface="Segoe UI" panose="020B0502040204020203" pitchFamily="34" charset="0"/>
              </a:rPr>
              <a:t>Instruments send data without pause, and it has to reach the GPU in microseconds</a:t>
            </a:r>
          </a:p>
          <a:p>
            <a:pPr marL="457200" indent="-457200">
              <a:spcAft>
                <a:spcPts val="1800"/>
              </a:spcAft>
              <a:buClr>
                <a:srgbClr val="03B585"/>
              </a:buClr>
              <a:buFont typeface="+mj-lt"/>
              <a:buChar char="•"/>
            </a:pPr>
            <a:r>
              <a:rPr lang="en-US" sz="2000">
                <a:solidFill>
                  <a:srgbClr val="1B1B1B"/>
                </a:solidFill>
                <a:latin typeface="Segoe UI" panose="020B0502040204020203" pitchFamily="34" charset="0"/>
              </a:rPr>
              <a:t>The usual network path adds delay from the operating system and from copying data in memory</a:t>
            </a:r>
          </a:p>
          <a:p>
            <a:pPr marL="457200" indent="-457200">
              <a:spcAft>
                <a:spcPts val="1800"/>
              </a:spcAft>
              <a:buClr>
                <a:srgbClr val="03B585"/>
              </a:buClr>
              <a:buFont typeface="+mj-lt"/>
              <a:buChar char="•"/>
            </a:pPr>
            <a:r>
              <a:rPr lang="en-US" sz="2000">
                <a:solidFill>
                  <a:srgbClr val="1B1B1B"/>
                </a:solidFill>
                <a:latin typeface="Segoe UI" panose="020B0502040204020203" pitchFamily="34" charset="0"/>
              </a:rPr>
              <a:t>That delay, not the FFT math, is what usually holds real-time work back</a:t>
            </a:r>
          </a:p>
          <a:p>
            <a:pPr marL="457200" indent="-457200">
              <a:spcAft>
                <a:spcPts val="1800"/>
              </a:spcAft>
              <a:buClr>
                <a:srgbClr val="03B585"/>
              </a:buClr>
              <a:buFont typeface="+mj-lt"/>
              <a:buChar char="•"/>
            </a:pPr>
            <a:r>
              <a:rPr lang="en-US" sz="2000">
                <a:solidFill>
                  <a:srgbClr val="1B1B1B"/>
                </a:solidFill>
                <a:latin typeface="Segoe UI" panose="020B0502040204020203" pitchFamily="34" charset="0"/>
              </a:rPr>
              <a:t>So we measured the path in two stages, then compared transports at each stage</a:t>
            </a:r>
          </a:p>
        </p:txBody>
      </p:sp>
      <p:sp>
        <p:nvSpPr>
          <p:cNvPr id="6" name="Rectangle 5">
            <a:extLst>
              <a:ext uri="{FF2B5EF4-FFF2-40B4-BE49-F238E27FC236}">
                <a16:creationId xmlns:a16="http://schemas.microsoft.com/office/drawing/2014/main" id="{105F176D-0929-318B-4657-2AA141AAC4C0}"/>
              </a:ext>
            </a:extLst>
          </p:cNvPr>
          <p:cNvSpPr/>
          <p:nvPr/>
        </p:nvSpPr>
        <p:spPr>
          <a:xfrm>
            <a:off x="7112000" y="2006600"/>
            <a:ext cx="4318000" cy="660400"/>
          </a:xfrm>
          <a:prstGeom prst="rect">
            <a:avLst/>
          </a:prstGeom>
          <a:solidFill>
            <a:srgbClr val="5A647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5AA34FD8-F97B-C407-B19C-D63F312CBC67}"/>
              </a:ext>
            </a:extLst>
          </p:cNvPr>
          <p:cNvSpPr txBox="1"/>
          <p:nvPr/>
        </p:nvSpPr>
        <p:spPr>
          <a:xfrm>
            <a:off x="7112000" y="2184400"/>
            <a:ext cx="4318000" cy="230832"/>
          </a:xfrm>
          <a:prstGeom prst="rect">
            <a:avLst/>
          </a:prstGeom>
          <a:noFill/>
        </p:spPr>
        <p:txBody>
          <a:bodyPr vert="horz" wrap="square" lIns="0" tIns="0" rIns="0" bIns="0" rtlCol="0">
            <a:spAutoFit/>
          </a:bodyPr>
          <a:lstStyle/>
          <a:p>
            <a:pPr algn="ctr"/>
            <a:r>
              <a:rPr lang="en-US" sz="1500" b="1">
                <a:solidFill>
                  <a:srgbClr val="FFFFFF"/>
                </a:solidFill>
                <a:latin typeface="Segoe UI" panose="020B0502040204020203" pitchFamily="34" charset="0"/>
              </a:rPr>
              <a:t>Live instrument data</a:t>
            </a:r>
          </a:p>
        </p:txBody>
      </p:sp>
      <p:sp>
        <p:nvSpPr>
          <p:cNvPr id="8" name="TextBox 7">
            <a:extLst>
              <a:ext uri="{FF2B5EF4-FFF2-40B4-BE49-F238E27FC236}">
                <a16:creationId xmlns:a16="http://schemas.microsoft.com/office/drawing/2014/main" id="{222D1DCF-B396-2747-75C6-5F8429C08BFF}"/>
              </a:ext>
            </a:extLst>
          </p:cNvPr>
          <p:cNvSpPr txBox="1"/>
          <p:nvPr/>
        </p:nvSpPr>
        <p:spPr>
          <a:xfrm>
            <a:off x="7112000" y="2692400"/>
            <a:ext cx="4318000" cy="215444"/>
          </a:xfrm>
          <a:prstGeom prst="rect">
            <a:avLst/>
          </a:prstGeom>
          <a:noFill/>
        </p:spPr>
        <p:txBody>
          <a:bodyPr vert="horz" wrap="square" lIns="0" tIns="0" rIns="0" bIns="0" rtlCol="0">
            <a:spAutoFit/>
          </a:bodyPr>
          <a:lstStyle/>
          <a:p>
            <a:pPr algn="ctr"/>
            <a:r>
              <a:rPr lang="en-US" sz="1400" b="1">
                <a:solidFill>
                  <a:srgbClr val="5A6470"/>
                </a:solidFill>
                <a:latin typeface="Segoe UI" panose="020B0502040204020203" pitchFamily="34" charset="0"/>
              </a:rPr>
              <a:t>▼</a:t>
            </a:r>
          </a:p>
        </p:txBody>
      </p:sp>
      <p:sp>
        <p:nvSpPr>
          <p:cNvPr id="9" name="Rectangle 8">
            <a:extLst>
              <a:ext uri="{FF2B5EF4-FFF2-40B4-BE49-F238E27FC236}">
                <a16:creationId xmlns:a16="http://schemas.microsoft.com/office/drawing/2014/main" id="{2CBA8E7F-1F7E-CCB8-5553-8F0BDFCDE88B}"/>
              </a:ext>
            </a:extLst>
          </p:cNvPr>
          <p:cNvSpPr/>
          <p:nvPr/>
        </p:nvSpPr>
        <p:spPr>
          <a:xfrm>
            <a:off x="7112000" y="2997200"/>
            <a:ext cx="4318000" cy="6604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C555BAF-09BD-3614-65AF-D09CA4BD11E4}"/>
              </a:ext>
            </a:extLst>
          </p:cNvPr>
          <p:cNvSpPr txBox="1"/>
          <p:nvPr/>
        </p:nvSpPr>
        <p:spPr>
          <a:xfrm>
            <a:off x="7112000" y="3175000"/>
            <a:ext cx="4318000" cy="230832"/>
          </a:xfrm>
          <a:prstGeom prst="rect">
            <a:avLst/>
          </a:prstGeom>
          <a:noFill/>
        </p:spPr>
        <p:txBody>
          <a:bodyPr vert="horz" wrap="square" lIns="0" tIns="0" rIns="0" bIns="0" rtlCol="0">
            <a:spAutoFit/>
          </a:bodyPr>
          <a:lstStyle/>
          <a:p>
            <a:pPr algn="ctr"/>
            <a:r>
              <a:rPr lang="en-US" sz="1500" b="1">
                <a:solidFill>
                  <a:srgbClr val="FFFFFF"/>
                </a:solidFill>
                <a:latin typeface="Segoe UI" panose="020B0502040204020203" pitchFamily="34" charset="0"/>
              </a:rPr>
              <a:t>Part 1: across the network</a:t>
            </a:r>
          </a:p>
        </p:txBody>
      </p:sp>
      <p:sp>
        <p:nvSpPr>
          <p:cNvPr id="11" name="TextBox 10">
            <a:extLst>
              <a:ext uri="{FF2B5EF4-FFF2-40B4-BE49-F238E27FC236}">
                <a16:creationId xmlns:a16="http://schemas.microsoft.com/office/drawing/2014/main" id="{F548520B-CCFB-6E8D-52CE-BB912BD18A09}"/>
              </a:ext>
            </a:extLst>
          </p:cNvPr>
          <p:cNvSpPr txBox="1"/>
          <p:nvPr/>
        </p:nvSpPr>
        <p:spPr>
          <a:xfrm>
            <a:off x="7112000" y="3683000"/>
            <a:ext cx="4318000" cy="215444"/>
          </a:xfrm>
          <a:prstGeom prst="rect">
            <a:avLst/>
          </a:prstGeom>
          <a:noFill/>
        </p:spPr>
        <p:txBody>
          <a:bodyPr vert="horz" wrap="square" lIns="0" tIns="0" rIns="0" bIns="0" rtlCol="0">
            <a:spAutoFit/>
          </a:bodyPr>
          <a:lstStyle/>
          <a:p>
            <a:pPr algn="ctr"/>
            <a:r>
              <a:rPr lang="en-US" sz="1400" b="1">
                <a:solidFill>
                  <a:srgbClr val="5A6470"/>
                </a:solidFill>
                <a:latin typeface="Segoe UI" panose="020B0502040204020203" pitchFamily="34" charset="0"/>
              </a:rPr>
              <a:t>▼</a:t>
            </a:r>
          </a:p>
        </p:txBody>
      </p:sp>
      <p:sp>
        <p:nvSpPr>
          <p:cNvPr id="12" name="Rectangle 11">
            <a:extLst>
              <a:ext uri="{FF2B5EF4-FFF2-40B4-BE49-F238E27FC236}">
                <a16:creationId xmlns:a16="http://schemas.microsoft.com/office/drawing/2014/main" id="{DCD9FCA6-8ED3-9F7A-1EA7-2785D4688EFE}"/>
              </a:ext>
            </a:extLst>
          </p:cNvPr>
          <p:cNvSpPr/>
          <p:nvPr/>
        </p:nvSpPr>
        <p:spPr>
          <a:xfrm>
            <a:off x="7112000" y="3987800"/>
            <a:ext cx="4318000" cy="6604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6C7292DB-3DB5-4726-4DBD-EC090B77A1A6}"/>
              </a:ext>
            </a:extLst>
          </p:cNvPr>
          <p:cNvSpPr txBox="1"/>
          <p:nvPr/>
        </p:nvSpPr>
        <p:spPr>
          <a:xfrm>
            <a:off x="7112000" y="4165600"/>
            <a:ext cx="4318000" cy="230832"/>
          </a:xfrm>
          <a:prstGeom prst="rect">
            <a:avLst/>
          </a:prstGeom>
          <a:noFill/>
        </p:spPr>
        <p:txBody>
          <a:bodyPr vert="horz" wrap="square" lIns="0" tIns="0" rIns="0" bIns="0" rtlCol="0">
            <a:spAutoFit/>
          </a:bodyPr>
          <a:lstStyle/>
          <a:p>
            <a:pPr algn="ctr"/>
            <a:r>
              <a:rPr lang="en-US" sz="1500" b="1">
                <a:solidFill>
                  <a:srgbClr val="FFFFFF"/>
                </a:solidFill>
                <a:latin typeface="Segoe UI" panose="020B0502040204020203" pitchFamily="34" charset="0"/>
              </a:rPr>
              <a:t>Part 2: into the GPU (FFT)</a:t>
            </a:r>
          </a:p>
        </p:txBody>
      </p:sp>
      <p:sp>
        <p:nvSpPr>
          <p:cNvPr id="14" name="TextBox 13">
            <a:extLst>
              <a:ext uri="{FF2B5EF4-FFF2-40B4-BE49-F238E27FC236}">
                <a16:creationId xmlns:a16="http://schemas.microsoft.com/office/drawing/2014/main" id="{B7C88D13-3EA3-5026-389F-5E3E27DC60F5}"/>
              </a:ext>
            </a:extLst>
          </p:cNvPr>
          <p:cNvSpPr txBox="1"/>
          <p:nvPr/>
        </p:nvSpPr>
        <p:spPr>
          <a:xfrm>
            <a:off x="7112000" y="4775200"/>
            <a:ext cx="4318000" cy="207749"/>
          </a:xfrm>
          <a:prstGeom prst="rect">
            <a:avLst/>
          </a:prstGeom>
          <a:noFill/>
        </p:spPr>
        <p:txBody>
          <a:bodyPr vert="horz" wrap="square" lIns="0" tIns="0" rIns="0" bIns="0" rtlCol="0">
            <a:spAutoFit/>
          </a:bodyPr>
          <a:lstStyle/>
          <a:p>
            <a:pPr algn="ctr"/>
            <a:r>
              <a:rPr lang="en-US" sz="1300">
                <a:solidFill>
                  <a:srgbClr val="5A6470"/>
                </a:solidFill>
                <a:latin typeface="Segoe UI" panose="020B0502040204020203" pitchFamily="34" charset="0"/>
              </a:rPr>
              <a:t>We measured the delay added at each stage.</a:t>
            </a:r>
          </a:p>
        </p:txBody>
      </p:sp>
      <p:sp>
        <p:nvSpPr>
          <p:cNvPr id="15" name="TextBox 14">
            <a:extLst>
              <a:ext uri="{FF2B5EF4-FFF2-40B4-BE49-F238E27FC236}">
                <a16:creationId xmlns:a16="http://schemas.microsoft.com/office/drawing/2014/main" id="{227FF91D-EA23-7276-AC8B-72EC7844C3DC}"/>
              </a:ext>
            </a:extLst>
          </p:cNvPr>
          <p:cNvSpPr txBox="1"/>
          <p:nvPr/>
        </p:nvSpPr>
        <p:spPr>
          <a:xfrm>
            <a:off x="685800" y="6553200"/>
            <a:ext cx="10795000" cy="153888"/>
          </a:xfrm>
          <a:prstGeom prst="rect">
            <a:avLst/>
          </a:prstGeom>
          <a:noFill/>
        </p:spPr>
        <p:txBody>
          <a:bodyPr vert="horz" wrap="square" lIns="0" tIns="0" rIns="0" bIns="0" rtlCol="0">
            <a:spAutoFit/>
          </a:bodyPr>
          <a:lstStyle/>
          <a:p>
            <a:r>
              <a:rPr lang="en-US" sz="1000">
                <a:solidFill>
                  <a:srgbClr val="5A6470"/>
                </a:solidFill>
                <a:latin typeface="Segoe UI" panose="020B0502040204020203" pitchFamily="34" charset="0"/>
              </a:rPr>
              <a:t>Same application code throughout; only the transport underneath changes.</a:t>
            </a:r>
          </a:p>
        </p:txBody>
      </p:sp>
    </p:spTree>
    <p:extLst>
      <p:ext uri="{BB962C8B-B14F-4D97-AF65-F5344CB8AC3E}">
        <p14:creationId xmlns:p14="http://schemas.microsoft.com/office/powerpoint/2010/main" val="19330109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498265-29BB-F149-D09B-340412F6E9F7}"/>
              </a:ext>
            </a:extLst>
          </p:cNvPr>
          <p:cNvSpPr/>
          <p:nvPr/>
        </p:nvSpPr>
        <p:spPr>
          <a:xfrm>
            <a:off x="0" y="0"/>
            <a:ext cx="127000" cy="68580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F7B6081-7D9B-5415-3ACB-15661BD86057}"/>
              </a:ext>
            </a:extLst>
          </p:cNvPr>
          <p:cNvSpPr txBox="1"/>
          <p:nvPr/>
        </p:nvSpPr>
        <p:spPr>
          <a:xfrm>
            <a:off x="685800" y="330200"/>
            <a:ext cx="10795000" cy="184666"/>
          </a:xfrm>
          <a:prstGeom prst="rect">
            <a:avLst/>
          </a:prstGeom>
          <a:noFill/>
        </p:spPr>
        <p:txBody>
          <a:bodyPr vert="horz" wrap="square" lIns="0" tIns="0" rIns="0" bIns="0" rtlCol="0">
            <a:spAutoFit/>
          </a:bodyPr>
          <a:lstStyle/>
          <a:p>
            <a:r>
              <a:rPr lang="en-US" sz="1200" b="1">
                <a:solidFill>
                  <a:srgbClr val="03B585"/>
                </a:solidFill>
                <a:latin typeface="Segoe UI" panose="020B0502040204020203" pitchFamily="34" charset="0"/>
              </a:rPr>
              <a:t>PART 1: ACROSS THE NETWORK</a:t>
            </a:r>
          </a:p>
        </p:txBody>
      </p:sp>
      <p:sp>
        <p:nvSpPr>
          <p:cNvPr id="4" name="TextBox 3">
            <a:extLst>
              <a:ext uri="{FF2B5EF4-FFF2-40B4-BE49-F238E27FC236}">
                <a16:creationId xmlns:a16="http://schemas.microsoft.com/office/drawing/2014/main" id="{919FA727-29E9-C554-B125-899EC60B9E82}"/>
              </a:ext>
            </a:extLst>
          </p:cNvPr>
          <p:cNvSpPr txBox="1"/>
          <p:nvPr/>
        </p:nvSpPr>
        <p:spPr>
          <a:xfrm>
            <a:off x="685800" y="584200"/>
            <a:ext cx="10795000" cy="769441"/>
          </a:xfrm>
          <a:prstGeom prst="rect">
            <a:avLst/>
          </a:prstGeom>
          <a:noFill/>
        </p:spPr>
        <p:txBody>
          <a:bodyPr vert="horz" wrap="square" lIns="0" tIns="0" rIns="0" bIns="0" rtlCol="0">
            <a:spAutoFit/>
          </a:bodyPr>
          <a:lstStyle/>
          <a:p>
            <a:r>
              <a:rPr lang="en-US" sz="2500" b="1">
                <a:solidFill>
                  <a:srgbClr val="1B1B1B"/>
                </a:solidFill>
                <a:latin typeface="Segoe UI" panose="020B0502040204020203" pitchFamily="34" charset="0"/>
              </a:rPr>
              <a:t>Keeping the same code but swapping the transport cut latency up to 281 times</a:t>
            </a:r>
          </a:p>
        </p:txBody>
      </p:sp>
      <p:sp>
        <p:nvSpPr>
          <p:cNvPr id="5" name="Rectangle 4">
            <a:extLst>
              <a:ext uri="{FF2B5EF4-FFF2-40B4-BE49-F238E27FC236}">
                <a16:creationId xmlns:a16="http://schemas.microsoft.com/office/drawing/2014/main" id="{403C2303-8DFA-A658-02F1-DF3ED0FC3F03}"/>
              </a:ext>
            </a:extLst>
          </p:cNvPr>
          <p:cNvSpPr/>
          <p:nvPr/>
        </p:nvSpPr>
        <p:spPr>
          <a:xfrm>
            <a:off x="711200" y="1676400"/>
            <a:ext cx="889000" cy="635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E53611D1-1C7C-3468-43E6-C0C54F7B39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8000" y="2161505"/>
            <a:ext cx="7239000" cy="3931990"/>
          </a:xfrm>
          <a:prstGeom prst="rect">
            <a:avLst/>
          </a:prstGeom>
        </p:spPr>
      </p:pic>
      <p:sp>
        <p:nvSpPr>
          <p:cNvPr id="8" name="TextBox 7">
            <a:extLst>
              <a:ext uri="{FF2B5EF4-FFF2-40B4-BE49-F238E27FC236}">
                <a16:creationId xmlns:a16="http://schemas.microsoft.com/office/drawing/2014/main" id="{76171497-BC55-96C1-FB27-73A68EAA81FA}"/>
              </a:ext>
            </a:extLst>
          </p:cNvPr>
          <p:cNvSpPr txBox="1"/>
          <p:nvPr/>
        </p:nvSpPr>
        <p:spPr>
          <a:xfrm>
            <a:off x="8001000" y="2095500"/>
            <a:ext cx="3810000" cy="3200876"/>
          </a:xfrm>
          <a:prstGeom prst="rect">
            <a:avLst/>
          </a:prstGeom>
          <a:noFill/>
        </p:spPr>
        <p:txBody>
          <a:bodyPr vert="horz" wrap="square" lIns="0" tIns="0" rIns="0" bIns="0" rtlCol="0">
            <a:spAutoFit/>
          </a:bodyPr>
          <a:lstStyle/>
          <a:p>
            <a:r>
              <a:rPr lang="en-US" sz="1600">
                <a:solidFill>
                  <a:srgbClr val="1B1B1B"/>
                </a:solidFill>
                <a:latin typeface="Segoe UI" panose="020B0502040204020203" pitchFamily="34" charset="0"/>
              </a:rPr>
              <a:t>When both sides run on the same machine, shared memory passes the data straight across and skips the operating system's copies. A round trip takes 3.3 microseconds. That is within half a microsecond of the machine's physical limit, and about 281 times faster than standard gRPC.</a:t>
            </a:r>
          </a:p>
          <a:p>
            <a:endParaRPr lang="en-US" sz="1600">
              <a:solidFill>
                <a:srgbClr val="1B1B1B"/>
              </a:solidFill>
              <a:latin typeface="Segoe UI" panose="020B0502040204020203" pitchFamily="34" charset="0"/>
            </a:endParaRPr>
          </a:p>
          <a:p>
            <a:r>
              <a:rPr lang="en-US" sz="1600">
                <a:solidFill>
                  <a:srgbClr val="1B1B1B"/>
                </a:solidFill>
                <a:latin typeface="Segoe UI" panose="020B0502040204020203" pitchFamily="34" charset="0"/>
              </a:rPr>
              <a:t>When the data has to reach a second machine, RDMA handles that instead. We put it head to head with NVIDIA on the next slides.</a:t>
            </a:r>
          </a:p>
        </p:txBody>
      </p:sp>
      <p:sp>
        <p:nvSpPr>
          <p:cNvPr id="9" name="TextBox 8">
            <a:extLst>
              <a:ext uri="{FF2B5EF4-FFF2-40B4-BE49-F238E27FC236}">
                <a16:creationId xmlns:a16="http://schemas.microsoft.com/office/drawing/2014/main" id="{A488076B-46FF-8BCF-5F5C-675A47703AC6}"/>
              </a:ext>
            </a:extLst>
          </p:cNvPr>
          <p:cNvSpPr txBox="1"/>
          <p:nvPr/>
        </p:nvSpPr>
        <p:spPr>
          <a:xfrm>
            <a:off x="685800" y="6553200"/>
            <a:ext cx="10795000" cy="153888"/>
          </a:xfrm>
          <a:prstGeom prst="rect">
            <a:avLst/>
          </a:prstGeom>
          <a:noFill/>
        </p:spPr>
        <p:txBody>
          <a:bodyPr vert="horz" wrap="square" lIns="0" tIns="0" rIns="0" bIns="0" rtlCol="0">
            <a:spAutoFit/>
          </a:bodyPr>
          <a:lstStyle/>
          <a:p>
            <a:r>
              <a:rPr lang="en-US" sz="1000">
                <a:solidFill>
                  <a:srgbClr val="5A6470"/>
                </a:solidFill>
                <a:latin typeface="Segoe UI" panose="020B0502040204020203" pitchFamily="34" charset="0"/>
              </a:rPr>
              <a:t>Same-host (localhost) echo round-trip, median p50. Dotted line is the machine's floor (2.78 microseconds); standard gRPC over loopback TCP sits near 1,000.</a:t>
            </a:r>
          </a:p>
        </p:txBody>
      </p:sp>
    </p:spTree>
    <p:extLst>
      <p:ext uri="{BB962C8B-B14F-4D97-AF65-F5344CB8AC3E}">
        <p14:creationId xmlns:p14="http://schemas.microsoft.com/office/powerpoint/2010/main" val="13431429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35B8704-FC6D-F38B-C421-D668C4991314}"/>
              </a:ext>
            </a:extLst>
          </p:cNvPr>
          <p:cNvSpPr/>
          <p:nvPr/>
        </p:nvSpPr>
        <p:spPr>
          <a:xfrm>
            <a:off x="0" y="0"/>
            <a:ext cx="127000" cy="68580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56649C3-5B1F-A62C-8D53-AEF003586216}"/>
              </a:ext>
            </a:extLst>
          </p:cNvPr>
          <p:cNvSpPr txBox="1"/>
          <p:nvPr/>
        </p:nvSpPr>
        <p:spPr>
          <a:xfrm>
            <a:off x="685800" y="330200"/>
            <a:ext cx="10795000" cy="184666"/>
          </a:xfrm>
          <a:prstGeom prst="rect">
            <a:avLst/>
          </a:prstGeom>
          <a:noFill/>
        </p:spPr>
        <p:txBody>
          <a:bodyPr vert="horz" wrap="square" lIns="0" tIns="0" rIns="0" bIns="0" rtlCol="0">
            <a:spAutoFit/>
          </a:bodyPr>
          <a:lstStyle/>
          <a:p>
            <a:r>
              <a:rPr lang="en-US" sz="1200" b="1">
                <a:solidFill>
                  <a:srgbClr val="03B585"/>
                </a:solidFill>
                <a:latin typeface="Segoe UI" panose="020B0502040204020203" pitchFamily="34" charset="0"/>
              </a:rPr>
              <a:t>PART 1: ACROSS THE NETWORK</a:t>
            </a:r>
          </a:p>
        </p:txBody>
      </p:sp>
      <p:sp>
        <p:nvSpPr>
          <p:cNvPr id="4" name="TextBox 3">
            <a:extLst>
              <a:ext uri="{FF2B5EF4-FFF2-40B4-BE49-F238E27FC236}">
                <a16:creationId xmlns:a16="http://schemas.microsoft.com/office/drawing/2014/main" id="{A591A44F-DFD1-AD94-55A6-80E50BFBAC27}"/>
              </a:ext>
            </a:extLst>
          </p:cNvPr>
          <p:cNvSpPr txBox="1"/>
          <p:nvPr/>
        </p:nvSpPr>
        <p:spPr>
          <a:xfrm>
            <a:off x="685800" y="584200"/>
            <a:ext cx="10795000" cy="769441"/>
          </a:xfrm>
          <a:prstGeom prst="rect">
            <a:avLst/>
          </a:prstGeom>
          <a:noFill/>
        </p:spPr>
        <p:txBody>
          <a:bodyPr vert="horz" wrap="square" lIns="0" tIns="0" rIns="0" bIns="0" rtlCol="0">
            <a:spAutoFit/>
          </a:bodyPr>
          <a:lstStyle/>
          <a:p>
            <a:r>
              <a:rPr lang="en-US" sz="2500" b="1">
                <a:solidFill>
                  <a:srgbClr val="1B1B1B"/>
                </a:solidFill>
                <a:latin typeface="Segoe UI" panose="020B0502040204020203" pitchFamily="34" charset="0"/>
              </a:rPr>
              <a:t>Skipping the memory copies gave almost four times the streaming throughput</a:t>
            </a:r>
          </a:p>
        </p:txBody>
      </p:sp>
      <p:sp>
        <p:nvSpPr>
          <p:cNvPr id="5" name="Rectangle 4">
            <a:extLst>
              <a:ext uri="{FF2B5EF4-FFF2-40B4-BE49-F238E27FC236}">
                <a16:creationId xmlns:a16="http://schemas.microsoft.com/office/drawing/2014/main" id="{AFA51C9B-FFA3-3AB5-8A28-8FE7DC2DA4EB}"/>
              </a:ext>
            </a:extLst>
          </p:cNvPr>
          <p:cNvSpPr/>
          <p:nvPr/>
        </p:nvSpPr>
        <p:spPr>
          <a:xfrm>
            <a:off x="711200" y="1676400"/>
            <a:ext cx="889000" cy="635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28936B5F-AE38-3CC0-4688-C4E109CB29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75000" y="2248127"/>
            <a:ext cx="5842000" cy="3822246"/>
          </a:xfrm>
          <a:prstGeom prst="rect">
            <a:avLst/>
          </a:prstGeom>
        </p:spPr>
      </p:pic>
      <p:sp>
        <p:nvSpPr>
          <p:cNvPr id="8" name="TextBox 7">
            <a:extLst>
              <a:ext uri="{FF2B5EF4-FFF2-40B4-BE49-F238E27FC236}">
                <a16:creationId xmlns:a16="http://schemas.microsoft.com/office/drawing/2014/main" id="{8400CDE3-3633-1EB8-9D95-012F266684D9}"/>
              </a:ext>
            </a:extLst>
          </p:cNvPr>
          <p:cNvSpPr txBox="1"/>
          <p:nvPr/>
        </p:nvSpPr>
        <p:spPr>
          <a:xfrm>
            <a:off x="685800" y="6553200"/>
            <a:ext cx="10795000" cy="153888"/>
          </a:xfrm>
          <a:prstGeom prst="rect">
            <a:avLst/>
          </a:prstGeom>
          <a:noFill/>
        </p:spPr>
        <p:txBody>
          <a:bodyPr vert="horz" wrap="square" lIns="0" tIns="0" rIns="0" bIns="0" rtlCol="0">
            <a:spAutoFit/>
          </a:bodyPr>
          <a:lstStyle/>
          <a:p>
            <a:r>
              <a:rPr lang="en-US" sz="1000">
                <a:solidFill>
                  <a:srgbClr val="5A6470"/>
                </a:solidFill>
                <a:latin typeface="Segoe UI" panose="020B0502040204020203" pitchFamily="34" charset="0"/>
              </a:rPr>
              <a:t>Same-host streaming throughput. Zero-copy writes straight into shared memory instead of copying it twice.</a:t>
            </a:r>
          </a:p>
        </p:txBody>
      </p:sp>
    </p:spTree>
    <p:extLst>
      <p:ext uri="{BB962C8B-B14F-4D97-AF65-F5344CB8AC3E}">
        <p14:creationId xmlns:p14="http://schemas.microsoft.com/office/powerpoint/2010/main" val="6488891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47FDDF2-452B-A973-6BB0-EF65F3E8AF5D}"/>
              </a:ext>
            </a:extLst>
          </p:cNvPr>
          <p:cNvSpPr/>
          <p:nvPr/>
        </p:nvSpPr>
        <p:spPr>
          <a:xfrm>
            <a:off x="0" y="0"/>
            <a:ext cx="127000" cy="68580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FBE5C39-2B84-E4F8-F5A4-862A605B977B}"/>
              </a:ext>
            </a:extLst>
          </p:cNvPr>
          <p:cNvSpPr txBox="1"/>
          <p:nvPr/>
        </p:nvSpPr>
        <p:spPr>
          <a:xfrm>
            <a:off x="685800" y="330200"/>
            <a:ext cx="10795000" cy="184666"/>
          </a:xfrm>
          <a:prstGeom prst="rect">
            <a:avLst/>
          </a:prstGeom>
          <a:noFill/>
        </p:spPr>
        <p:txBody>
          <a:bodyPr vert="horz" wrap="square" lIns="0" tIns="0" rIns="0" bIns="0" rtlCol="0">
            <a:spAutoFit/>
          </a:bodyPr>
          <a:lstStyle/>
          <a:p>
            <a:r>
              <a:rPr lang="en-US" sz="1200" b="1">
                <a:solidFill>
                  <a:srgbClr val="03B585"/>
                </a:solidFill>
                <a:latin typeface="Segoe UI" panose="020B0502040204020203" pitchFamily="34" charset="0"/>
              </a:rPr>
              <a:t>PART 1: ACROSS THE NETWORK</a:t>
            </a:r>
          </a:p>
        </p:txBody>
      </p:sp>
      <p:sp>
        <p:nvSpPr>
          <p:cNvPr id="4" name="TextBox 3">
            <a:extLst>
              <a:ext uri="{FF2B5EF4-FFF2-40B4-BE49-F238E27FC236}">
                <a16:creationId xmlns:a16="http://schemas.microsoft.com/office/drawing/2014/main" id="{C58BC58D-31BD-173D-DD19-40670B90F845}"/>
              </a:ext>
            </a:extLst>
          </p:cNvPr>
          <p:cNvSpPr txBox="1"/>
          <p:nvPr/>
        </p:nvSpPr>
        <p:spPr>
          <a:xfrm>
            <a:off x="685800" y="584200"/>
            <a:ext cx="10795000" cy="384721"/>
          </a:xfrm>
          <a:prstGeom prst="rect">
            <a:avLst/>
          </a:prstGeom>
          <a:noFill/>
        </p:spPr>
        <p:txBody>
          <a:bodyPr vert="horz" wrap="square" lIns="0" tIns="0" rIns="0" bIns="0" rtlCol="0">
            <a:spAutoFit/>
          </a:bodyPr>
          <a:lstStyle/>
          <a:p>
            <a:r>
              <a:rPr lang="en-US" sz="2500" b="1">
                <a:solidFill>
                  <a:srgbClr val="1B1B1B"/>
                </a:solidFill>
                <a:latin typeface="Segoe UI" panose="020B0502040204020203" pitchFamily="34" charset="0"/>
              </a:rPr>
              <a:t>Our transport runs the network link at 98 percent of its rated speed</a:t>
            </a:r>
          </a:p>
        </p:txBody>
      </p:sp>
      <p:sp>
        <p:nvSpPr>
          <p:cNvPr id="5" name="Rectangle 4">
            <a:extLst>
              <a:ext uri="{FF2B5EF4-FFF2-40B4-BE49-F238E27FC236}">
                <a16:creationId xmlns:a16="http://schemas.microsoft.com/office/drawing/2014/main" id="{0037AA8C-56F3-C775-7256-642F8EBE2608}"/>
              </a:ext>
            </a:extLst>
          </p:cNvPr>
          <p:cNvSpPr/>
          <p:nvPr/>
        </p:nvSpPr>
        <p:spPr>
          <a:xfrm>
            <a:off x="711200" y="1676400"/>
            <a:ext cx="889000" cy="635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90680EE0-7B29-45DB-7B2E-3C749337FD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8000" y="1965611"/>
            <a:ext cx="6604000" cy="4323777"/>
          </a:xfrm>
          <a:prstGeom prst="rect">
            <a:avLst/>
          </a:prstGeom>
        </p:spPr>
      </p:pic>
      <p:sp>
        <p:nvSpPr>
          <p:cNvPr id="8" name="TextBox 7">
            <a:extLst>
              <a:ext uri="{FF2B5EF4-FFF2-40B4-BE49-F238E27FC236}">
                <a16:creationId xmlns:a16="http://schemas.microsoft.com/office/drawing/2014/main" id="{DCAFDA9C-7909-6FF3-228D-4207480F8D92}"/>
              </a:ext>
            </a:extLst>
          </p:cNvPr>
          <p:cNvSpPr txBox="1"/>
          <p:nvPr/>
        </p:nvSpPr>
        <p:spPr>
          <a:xfrm>
            <a:off x="7493000" y="2095500"/>
            <a:ext cx="4254500" cy="3231654"/>
          </a:xfrm>
          <a:prstGeom prst="rect">
            <a:avLst/>
          </a:prstGeom>
          <a:noFill/>
        </p:spPr>
        <p:txBody>
          <a:bodyPr vert="horz" wrap="square" lIns="0" tIns="0" rIns="0" bIns="0" rtlCol="0">
            <a:spAutoFit/>
          </a:bodyPr>
          <a:lstStyle/>
          <a:p>
            <a:r>
              <a:rPr lang="en-US" sz="1500">
                <a:solidFill>
                  <a:srgbClr val="1B1B1B"/>
                </a:solidFill>
                <a:latin typeface="Segoe UI" panose="020B0502040204020203" pitchFamily="34" charset="0"/>
              </a:rPr>
              <a:t>This test measures how much data per second crosses the 50-gigabit link.</a:t>
            </a:r>
          </a:p>
          <a:p>
            <a:endParaRPr lang="en-US" sz="1500">
              <a:solidFill>
                <a:srgbClr val="1B1B1B"/>
              </a:solidFill>
              <a:latin typeface="Segoe UI" panose="020B0502040204020203" pitchFamily="34" charset="0"/>
            </a:endParaRPr>
          </a:p>
          <a:p>
            <a:r>
              <a:rPr lang="en-US" sz="1500">
                <a:solidFill>
                  <a:srgbClr val="1B1B1B"/>
                </a:solidFill>
                <a:latin typeface="Segoe UI" panose="020B0502040204020203" pitchFamily="34" charset="0"/>
              </a:rPr>
              <a:t>Our first measurement came in at 5.8 gigabytes per second and we read it as the limit of the hardware. It was not. The network was configured with an undersized packet size. Once corrected, the same link carried 6.13 gigabytes per second, which is 98 percent of what a 50-gigabit link can theoretically deliver.</a:t>
            </a:r>
          </a:p>
          <a:p>
            <a:endParaRPr lang="en-US" sz="1500">
              <a:solidFill>
                <a:srgbClr val="1B1B1B"/>
              </a:solidFill>
              <a:latin typeface="Segoe UI" panose="020B0502040204020203" pitchFamily="34" charset="0"/>
            </a:endParaRPr>
          </a:p>
          <a:p>
            <a:r>
              <a:rPr lang="en-US" sz="1500">
                <a:solidFill>
                  <a:srgbClr val="1B1B1B"/>
                </a:solidFill>
                <a:latin typeface="Segoe UI" panose="020B0502040204020203" pitchFamily="34" charset="0"/>
              </a:rPr>
              <a:t>There is almost nothing left to win on the wire. Everything that remains is in what happens after the data arrives, which is Part 2.</a:t>
            </a:r>
          </a:p>
        </p:txBody>
      </p:sp>
      <p:sp>
        <p:nvSpPr>
          <p:cNvPr id="9" name="TextBox 8">
            <a:extLst>
              <a:ext uri="{FF2B5EF4-FFF2-40B4-BE49-F238E27FC236}">
                <a16:creationId xmlns:a16="http://schemas.microsoft.com/office/drawing/2014/main" id="{27BF48A7-15D6-D1B9-D4DC-5677B70CD577}"/>
              </a:ext>
            </a:extLst>
          </p:cNvPr>
          <p:cNvSpPr txBox="1"/>
          <p:nvPr/>
        </p:nvSpPr>
        <p:spPr>
          <a:xfrm>
            <a:off x="685800" y="6553200"/>
            <a:ext cx="10795000" cy="307777"/>
          </a:xfrm>
          <a:prstGeom prst="rect">
            <a:avLst/>
          </a:prstGeom>
          <a:noFill/>
        </p:spPr>
        <p:txBody>
          <a:bodyPr vert="horz" wrap="square" lIns="0" tIns="0" rIns="0" bIns="0" rtlCol="0">
            <a:spAutoFit/>
          </a:bodyPr>
          <a:lstStyle/>
          <a:p>
            <a:r>
              <a:rPr lang="en-US" sz="1000">
                <a:solidFill>
                  <a:srgbClr val="5A6470"/>
                </a:solidFill>
                <a:latin typeface="Segoe UI" panose="020B0502040204020203" pitchFamily="34" charset="0"/>
              </a:rPr>
              <a:t>Raw network throughput between two machines, 4 MB transfers. This is not the GPU latency test. An earlier version of this slide compared us against NVIDIA here; that comparison measured the misconfigured network on both sides and has been withdrawn.</a:t>
            </a:r>
          </a:p>
        </p:txBody>
      </p:sp>
    </p:spTree>
    <p:extLst>
      <p:ext uri="{BB962C8B-B14F-4D97-AF65-F5344CB8AC3E}">
        <p14:creationId xmlns:p14="http://schemas.microsoft.com/office/powerpoint/2010/main" val="970084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05F0BA5-97AD-2206-1281-6B5A0AC477DF}"/>
              </a:ext>
            </a:extLst>
          </p:cNvPr>
          <p:cNvSpPr/>
          <p:nvPr/>
        </p:nvSpPr>
        <p:spPr>
          <a:xfrm>
            <a:off x="0" y="0"/>
            <a:ext cx="127000" cy="68580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CF10215-833E-C4B0-85DC-3D32B4B79CFE}"/>
              </a:ext>
            </a:extLst>
          </p:cNvPr>
          <p:cNvSpPr txBox="1"/>
          <p:nvPr/>
        </p:nvSpPr>
        <p:spPr>
          <a:xfrm>
            <a:off x="685800" y="330200"/>
            <a:ext cx="10795000" cy="184666"/>
          </a:xfrm>
          <a:prstGeom prst="rect">
            <a:avLst/>
          </a:prstGeom>
          <a:noFill/>
        </p:spPr>
        <p:txBody>
          <a:bodyPr vert="horz" wrap="square" lIns="0" tIns="0" rIns="0" bIns="0" rtlCol="0">
            <a:spAutoFit/>
          </a:bodyPr>
          <a:lstStyle/>
          <a:p>
            <a:r>
              <a:rPr lang="en-US" sz="1200" b="1">
                <a:solidFill>
                  <a:srgbClr val="03B585"/>
                </a:solidFill>
                <a:latin typeface="Segoe UI" panose="020B0502040204020203" pitchFamily="34" charset="0"/>
              </a:rPr>
              <a:t>PART 2: INTO THE GPU</a:t>
            </a:r>
          </a:p>
        </p:txBody>
      </p:sp>
      <p:sp>
        <p:nvSpPr>
          <p:cNvPr id="4" name="TextBox 3">
            <a:extLst>
              <a:ext uri="{FF2B5EF4-FFF2-40B4-BE49-F238E27FC236}">
                <a16:creationId xmlns:a16="http://schemas.microsoft.com/office/drawing/2014/main" id="{F2E45D61-EE83-1976-B741-66015AFA3866}"/>
              </a:ext>
            </a:extLst>
          </p:cNvPr>
          <p:cNvSpPr txBox="1"/>
          <p:nvPr/>
        </p:nvSpPr>
        <p:spPr>
          <a:xfrm>
            <a:off x="685800" y="584200"/>
            <a:ext cx="10795000" cy="384721"/>
          </a:xfrm>
          <a:prstGeom prst="rect">
            <a:avLst/>
          </a:prstGeom>
          <a:noFill/>
        </p:spPr>
        <p:txBody>
          <a:bodyPr vert="horz" wrap="square" lIns="0" tIns="0" rIns="0" bIns="0" rtlCol="0">
            <a:spAutoFit/>
          </a:bodyPr>
          <a:lstStyle/>
          <a:p>
            <a:r>
              <a:rPr lang="en-US" sz="2500" b="1">
                <a:solidFill>
                  <a:srgbClr val="1B1B1B"/>
                </a:solidFill>
                <a:latin typeface="Segoe UI" panose="020B0502040204020203" pitchFamily="34" charset="0"/>
              </a:rPr>
              <a:t>In the GPU pipeline, both transports now skip the big CPU copy</a:t>
            </a:r>
          </a:p>
        </p:txBody>
      </p:sp>
      <p:sp>
        <p:nvSpPr>
          <p:cNvPr id="5" name="Rectangle 4">
            <a:extLst>
              <a:ext uri="{FF2B5EF4-FFF2-40B4-BE49-F238E27FC236}">
                <a16:creationId xmlns:a16="http://schemas.microsoft.com/office/drawing/2014/main" id="{4EA610B8-052C-7D69-7897-CA754EE8204A}"/>
              </a:ext>
            </a:extLst>
          </p:cNvPr>
          <p:cNvSpPr/>
          <p:nvPr/>
        </p:nvSpPr>
        <p:spPr>
          <a:xfrm>
            <a:off x="711200" y="1676400"/>
            <a:ext cx="889000" cy="635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52AAB334-C34B-3E4C-141C-8E96627811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4962" y="1968500"/>
            <a:ext cx="8102077" cy="4381500"/>
          </a:xfrm>
          <a:prstGeom prst="rect">
            <a:avLst/>
          </a:prstGeom>
        </p:spPr>
      </p:pic>
      <p:sp>
        <p:nvSpPr>
          <p:cNvPr id="8" name="TextBox 7">
            <a:extLst>
              <a:ext uri="{FF2B5EF4-FFF2-40B4-BE49-F238E27FC236}">
                <a16:creationId xmlns:a16="http://schemas.microsoft.com/office/drawing/2014/main" id="{0C6294B6-9D6E-999D-D991-A1537842DBEA}"/>
              </a:ext>
            </a:extLst>
          </p:cNvPr>
          <p:cNvSpPr txBox="1"/>
          <p:nvPr/>
        </p:nvSpPr>
        <p:spPr>
          <a:xfrm>
            <a:off x="685800" y="6553200"/>
            <a:ext cx="10795000" cy="153888"/>
          </a:xfrm>
          <a:prstGeom prst="rect">
            <a:avLst/>
          </a:prstGeom>
          <a:noFill/>
        </p:spPr>
        <p:txBody>
          <a:bodyPr vert="horz" wrap="square" lIns="0" tIns="0" rIns="0" bIns="0" rtlCol="0">
            <a:spAutoFit/>
          </a:bodyPr>
          <a:lstStyle/>
          <a:p>
            <a:r>
              <a:rPr lang="en-US" sz="1000">
                <a:solidFill>
                  <a:srgbClr val="5A6470"/>
                </a:solidFill>
                <a:latin typeface="Segoe UI" panose="020B0502040204020203" pitchFamily="34" charset="0"/>
              </a:rPr>
              <a:t>One small copy still happens on the GPU. The large copy on the CPU side is gone.</a:t>
            </a:r>
          </a:p>
        </p:txBody>
      </p:sp>
    </p:spTree>
    <p:extLst>
      <p:ext uri="{BB962C8B-B14F-4D97-AF65-F5344CB8AC3E}">
        <p14:creationId xmlns:p14="http://schemas.microsoft.com/office/powerpoint/2010/main" val="30559029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BAF94DA-A8E8-6497-EF69-DE021B4C6A60}"/>
              </a:ext>
            </a:extLst>
          </p:cNvPr>
          <p:cNvSpPr/>
          <p:nvPr/>
        </p:nvSpPr>
        <p:spPr>
          <a:xfrm>
            <a:off x="0" y="0"/>
            <a:ext cx="127000" cy="68580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FB42164-B297-A710-627D-1E2D73817C4B}"/>
              </a:ext>
            </a:extLst>
          </p:cNvPr>
          <p:cNvSpPr txBox="1"/>
          <p:nvPr/>
        </p:nvSpPr>
        <p:spPr>
          <a:xfrm>
            <a:off x="685800" y="330200"/>
            <a:ext cx="10795000" cy="184666"/>
          </a:xfrm>
          <a:prstGeom prst="rect">
            <a:avLst/>
          </a:prstGeom>
          <a:noFill/>
        </p:spPr>
        <p:txBody>
          <a:bodyPr vert="horz" wrap="square" lIns="0" tIns="0" rIns="0" bIns="0" rtlCol="0">
            <a:spAutoFit/>
          </a:bodyPr>
          <a:lstStyle/>
          <a:p>
            <a:r>
              <a:rPr lang="en-US" sz="1200" b="1">
                <a:solidFill>
                  <a:srgbClr val="03B585"/>
                </a:solidFill>
                <a:latin typeface="Segoe UI" panose="020B0502040204020203" pitchFamily="34" charset="0"/>
              </a:rPr>
              <a:t>PART 2: INTO THE GPU</a:t>
            </a:r>
          </a:p>
        </p:txBody>
      </p:sp>
      <p:sp>
        <p:nvSpPr>
          <p:cNvPr id="4" name="TextBox 3">
            <a:extLst>
              <a:ext uri="{FF2B5EF4-FFF2-40B4-BE49-F238E27FC236}">
                <a16:creationId xmlns:a16="http://schemas.microsoft.com/office/drawing/2014/main" id="{BFEC5BF2-16C0-15D9-2A55-7956704A11BA}"/>
              </a:ext>
            </a:extLst>
          </p:cNvPr>
          <p:cNvSpPr txBox="1"/>
          <p:nvPr/>
        </p:nvSpPr>
        <p:spPr>
          <a:xfrm>
            <a:off x="685800" y="584200"/>
            <a:ext cx="10795000" cy="384721"/>
          </a:xfrm>
          <a:prstGeom prst="rect">
            <a:avLst/>
          </a:prstGeom>
          <a:noFill/>
        </p:spPr>
        <p:txBody>
          <a:bodyPr vert="horz" wrap="square" lIns="0" tIns="0" rIns="0" bIns="0" rtlCol="0">
            <a:spAutoFit/>
          </a:bodyPr>
          <a:lstStyle/>
          <a:p>
            <a:r>
              <a:rPr lang="en-US" sz="2500" b="1">
                <a:solidFill>
                  <a:srgbClr val="1B1B1B"/>
                </a:solidFill>
                <a:latin typeface="Segoe UI" panose="020B0502040204020203" pitchFamily="34" charset="0"/>
              </a:rPr>
              <a:t>Getting a buffer into the GPU, DAQiri was faster at every size we tested</a:t>
            </a:r>
          </a:p>
        </p:txBody>
      </p:sp>
      <p:sp>
        <p:nvSpPr>
          <p:cNvPr id="5" name="Rectangle 4">
            <a:extLst>
              <a:ext uri="{FF2B5EF4-FFF2-40B4-BE49-F238E27FC236}">
                <a16:creationId xmlns:a16="http://schemas.microsoft.com/office/drawing/2014/main" id="{CD823451-23D0-E56B-DB19-68FDCD040378}"/>
              </a:ext>
            </a:extLst>
          </p:cNvPr>
          <p:cNvSpPr/>
          <p:nvPr/>
        </p:nvSpPr>
        <p:spPr>
          <a:xfrm>
            <a:off x="711200" y="1676400"/>
            <a:ext cx="889000" cy="635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32E7FE44-0331-3EED-43F7-D839790237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8000" y="2164872"/>
            <a:ext cx="7239000" cy="3925257"/>
          </a:xfrm>
          <a:prstGeom prst="rect">
            <a:avLst/>
          </a:prstGeom>
        </p:spPr>
      </p:pic>
      <p:sp>
        <p:nvSpPr>
          <p:cNvPr id="8" name="TextBox 7">
            <a:extLst>
              <a:ext uri="{FF2B5EF4-FFF2-40B4-BE49-F238E27FC236}">
                <a16:creationId xmlns:a16="http://schemas.microsoft.com/office/drawing/2014/main" id="{A4A91597-170E-6BBC-5AA3-74D3307EB049}"/>
              </a:ext>
            </a:extLst>
          </p:cNvPr>
          <p:cNvSpPr txBox="1"/>
          <p:nvPr/>
        </p:nvSpPr>
        <p:spPr>
          <a:xfrm>
            <a:off x="8001000" y="2095500"/>
            <a:ext cx="3810000" cy="1969770"/>
          </a:xfrm>
          <a:prstGeom prst="rect">
            <a:avLst/>
          </a:prstGeom>
          <a:noFill/>
        </p:spPr>
        <p:txBody>
          <a:bodyPr vert="horz" wrap="square" lIns="0" tIns="0" rIns="0" bIns="0" rtlCol="0">
            <a:spAutoFit/>
          </a:bodyPr>
          <a:lstStyle/>
          <a:p>
            <a:r>
              <a:rPr lang="en-US" sz="1600">
                <a:solidFill>
                  <a:srgbClr val="1B1B1B"/>
                </a:solidFill>
                <a:latin typeface="Segoe UI" panose="020B0502040204020203" pitchFamily="34" charset="0"/>
              </a:rPr>
              <a:t>The two transports tied on raw throughput in Part 1. For the time one buffer takes to reach the GPU, DAQiri came out ahead at every payload.</a:t>
            </a:r>
          </a:p>
          <a:p>
            <a:endParaRPr lang="en-US" sz="1600">
              <a:solidFill>
                <a:srgbClr val="1B1B1B"/>
              </a:solidFill>
              <a:latin typeface="Segoe UI" panose="020B0502040204020203" pitchFamily="34" charset="0"/>
            </a:endParaRPr>
          </a:p>
          <a:p>
            <a:r>
              <a:rPr lang="en-US" sz="1600">
                <a:solidFill>
                  <a:srgbClr val="1B1B1B"/>
                </a:solidFill>
                <a:latin typeface="Segoe UI" panose="020B0502040204020203" pitchFamily="34" charset="0"/>
              </a:rPr>
              <a:t>Throughput and latency are separate questions, and here they point different ways.</a:t>
            </a:r>
          </a:p>
        </p:txBody>
      </p:sp>
      <p:sp>
        <p:nvSpPr>
          <p:cNvPr id="9" name="TextBox 8">
            <a:extLst>
              <a:ext uri="{FF2B5EF4-FFF2-40B4-BE49-F238E27FC236}">
                <a16:creationId xmlns:a16="http://schemas.microsoft.com/office/drawing/2014/main" id="{5AFBF302-F960-E916-A5F6-7C6FB212B3CE}"/>
              </a:ext>
            </a:extLst>
          </p:cNvPr>
          <p:cNvSpPr txBox="1"/>
          <p:nvPr/>
        </p:nvSpPr>
        <p:spPr>
          <a:xfrm>
            <a:off x="685800" y="6553200"/>
            <a:ext cx="10795000" cy="153888"/>
          </a:xfrm>
          <a:prstGeom prst="rect">
            <a:avLst/>
          </a:prstGeom>
          <a:noFill/>
        </p:spPr>
        <p:txBody>
          <a:bodyPr vert="horz" wrap="square" lIns="0" tIns="0" rIns="0" bIns="0" rtlCol="0">
            <a:spAutoFit/>
          </a:bodyPr>
          <a:lstStyle/>
          <a:p>
            <a:r>
              <a:rPr lang="en-US" sz="1000">
                <a:solidFill>
                  <a:srgbClr val="5A6470"/>
                </a:solidFill>
                <a:latin typeface="Segoe UI" panose="020B0502040204020203" pitchFamily="34" charset="0"/>
              </a:rPr>
              <a:t>End-to-end latency per buffer (p50), both pipelines paced the same for a fair test.</a:t>
            </a:r>
          </a:p>
        </p:txBody>
      </p:sp>
    </p:spTree>
    <p:extLst>
      <p:ext uri="{BB962C8B-B14F-4D97-AF65-F5344CB8AC3E}">
        <p14:creationId xmlns:p14="http://schemas.microsoft.com/office/powerpoint/2010/main" val="15062401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27C48FF-CB35-0BAB-6CBE-716486D1D8A2}"/>
              </a:ext>
            </a:extLst>
          </p:cNvPr>
          <p:cNvSpPr/>
          <p:nvPr/>
        </p:nvSpPr>
        <p:spPr>
          <a:xfrm>
            <a:off x="0" y="0"/>
            <a:ext cx="127000" cy="68580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BA390AE-0E09-3824-0CF1-A20BF36A379B}"/>
              </a:ext>
            </a:extLst>
          </p:cNvPr>
          <p:cNvSpPr txBox="1"/>
          <p:nvPr/>
        </p:nvSpPr>
        <p:spPr>
          <a:xfrm>
            <a:off x="685800" y="330200"/>
            <a:ext cx="10795000" cy="184666"/>
          </a:xfrm>
          <a:prstGeom prst="rect">
            <a:avLst/>
          </a:prstGeom>
          <a:noFill/>
        </p:spPr>
        <p:txBody>
          <a:bodyPr vert="horz" wrap="square" lIns="0" tIns="0" rIns="0" bIns="0" rtlCol="0">
            <a:spAutoFit/>
          </a:bodyPr>
          <a:lstStyle/>
          <a:p>
            <a:r>
              <a:rPr lang="en-US" sz="1200" b="1">
                <a:solidFill>
                  <a:srgbClr val="03B585"/>
                </a:solidFill>
                <a:latin typeface="Segoe UI" panose="020B0502040204020203" pitchFamily="34" charset="0"/>
              </a:rPr>
              <a:t>PART 2: INTO THE GPU</a:t>
            </a:r>
          </a:p>
        </p:txBody>
      </p:sp>
      <p:sp>
        <p:nvSpPr>
          <p:cNvPr id="4" name="TextBox 3">
            <a:extLst>
              <a:ext uri="{FF2B5EF4-FFF2-40B4-BE49-F238E27FC236}">
                <a16:creationId xmlns:a16="http://schemas.microsoft.com/office/drawing/2014/main" id="{DF102035-ED24-EB25-1356-E4D6031B25F5}"/>
              </a:ext>
            </a:extLst>
          </p:cNvPr>
          <p:cNvSpPr txBox="1"/>
          <p:nvPr/>
        </p:nvSpPr>
        <p:spPr>
          <a:xfrm>
            <a:off x="685800" y="584200"/>
            <a:ext cx="10795000" cy="384721"/>
          </a:xfrm>
          <a:prstGeom prst="rect">
            <a:avLst/>
          </a:prstGeom>
          <a:noFill/>
        </p:spPr>
        <p:txBody>
          <a:bodyPr vert="horz" wrap="square" lIns="0" tIns="0" rIns="0" bIns="0" rtlCol="0">
            <a:spAutoFit/>
          </a:bodyPr>
          <a:lstStyle/>
          <a:p>
            <a:r>
              <a:rPr lang="en-US" sz="2500" b="1">
                <a:solidFill>
                  <a:srgbClr val="1B1B1B"/>
                </a:solidFill>
                <a:latin typeface="Segoe UI" panose="020B0502040204020203" pitchFamily="34" charset="0"/>
              </a:rPr>
              <a:t>One open item: at the largest payload, DAQiri delivered fewer messages</a:t>
            </a:r>
          </a:p>
        </p:txBody>
      </p:sp>
      <p:sp>
        <p:nvSpPr>
          <p:cNvPr id="5" name="Rectangle 4">
            <a:extLst>
              <a:ext uri="{FF2B5EF4-FFF2-40B4-BE49-F238E27FC236}">
                <a16:creationId xmlns:a16="http://schemas.microsoft.com/office/drawing/2014/main" id="{599BB81A-0D9E-317E-526C-6A3274212AB3}"/>
              </a:ext>
            </a:extLst>
          </p:cNvPr>
          <p:cNvSpPr/>
          <p:nvPr/>
        </p:nvSpPr>
        <p:spPr>
          <a:xfrm>
            <a:off x="711200" y="1676400"/>
            <a:ext cx="889000" cy="635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80757443-C96C-91E4-D853-5201D30788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8000" y="1975253"/>
            <a:ext cx="7620000" cy="4304494"/>
          </a:xfrm>
          <a:prstGeom prst="rect">
            <a:avLst/>
          </a:prstGeom>
        </p:spPr>
      </p:pic>
      <p:sp>
        <p:nvSpPr>
          <p:cNvPr id="8" name="TextBox 7">
            <a:extLst>
              <a:ext uri="{FF2B5EF4-FFF2-40B4-BE49-F238E27FC236}">
                <a16:creationId xmlns:a16="http://schemas.microsoft.com/office/drawing/2014/main" id="{DE1AB1BF-0B8E-4CC0-82BA-EAA7A13E18E0}"/>
              </a:ext>
            </a:extLst>
          </p:cNvPr>
          <p:cNvSpPr txBox="1"/>
          <p:nvPr/>
        </p:nvSpPr>
        <p:spPr>
          <a:xfrm>
            <a:off x="8382000" y="2413000"/>
            <a:ext cx="3365500" cy="984885"/>
          </a:xfrm>
          <a:prstGeom prst="rect">
            <a:avLst/>
          </a:prstGeom>
          <a:noFill/>
        </p:spPr>
        <p:txBody>
          <a:bodyPr vert="horz" wrap="square" lIns="0" tIns="0" rIns="0" bIns="0" rtlCol="0">
            <a:spAutoFit/>
          </a:bodyPr>
          <a:lstStyle/>
          <a:p>
            <a:r>
              <a:rPr lang="en-US" sz="1600">
                <a:solidFill>
                  <a:srgbClr val="5A6470"/>
                </a:solidFill>
                <a:latin typeface="Segoe UI" panose="020B0502040204020203" pitchFamily="34" charset="0"/>
              </a:rPr>
              <a:t>The messages that did arrive were still fast. We are checking whether this is a limit of the test link or a setting we can change.</a:t>
            </a:r>
          </a:p>
        </p:txBody>
      </p:sp>
      <p:sp>
        <p:nvSpPr>
          <p:cNvPr id="9" name="TextBox 8">
            <a:extLst>
              <a:ext uri="{FF2B5EF4-FFF2-40B4-BE49-F238E27FC236}">
                <a16:creationId xmlns:a16="http://schemas.microsoft.com/office/drawing/2014/main" id="{235BED27-274F-68C9-617E-E41344FEE9FD}"/>
              </a:ext>
            </a:extLst>
          </p:cNvPr>
          <p:cNvSpPr txBox="1"/>
          <p:nvPr/>
        </p:nvSpPr>
        <p:spPr>
          <a:xfrm>
            <a:off x="685800" y="6553200"/>
            <a:ext cx="10795000" cy="153888"/>
          </a:xfrm>
          <a:prstGeom prst="rect">
            <a:avLst/>
          </a:prstGeom>
          <a:noFill/>
        </p:spPr>
        <p:txBody>
          <a:bodyPr vert="horz" wrap="square" lIns="0" tIns="0" rIns="0" bIns="0" rtlCol="0">
            <a:spAutoFit/>
          </a:bodyPr>
          <a:lstStyle/>
          <a:p>
            <a:r>
              <a:rPr lang="en-US" sz="1000">
                <a:solidFill>
                  <a:srgbClr val="5A6470"/>
                </a:solidFill>
                <a:latin typeface="Segoe UI" panose="020B0502040204020203" pitchFamily="34" charset="0"/>
              </a:rPr>
              <a:t>Under investigation. It does not change the latency results above.</a:t>
            </a:r>
          </a:p>
        </p:txBody>
      </p:sp>
    </p:spTree>
    <p:extLst>
      <p:ext uri="{BB962C8B-B14F-4D97-AF65-F5344CB8AC3E}">
        <p14:creationId xmlns:p14="http://schemas.microsoft.com/office/powerpoint/2010/main" val="1846302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CBC79AC-3DC7-1561-A396-5AF56BE11EF0}"/>
              </a:ext>
            </a:extLst>
          </p:cNvPr>
          <p:cNvSpPr/>
          <p:nvPr/>
        </p:nvSpPr>
        <p:spPr>
          <a:xfrm>
            <a:off x="0" y="0"/>
            <a:ext cx="127000" cy="68580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6321FAE-5CC3-7EF7-22ED-0EEA80B5D655}"/>
              </a:ext>
            </a:extLst>
          </p:cNvPr>
          <p:cNvSpPr txBox="1"/>
          <p:nvPr/>
        </p:nvSpPr>
        <p:spPr>
          <a:xfrm>
            <a:off x="685800" y="381000"/>
            <a:ext cx="10795000" cy="415498"/>
          </a:xfrm>
          <a:prstGeom prst="rect">
            <a:avLst/>
          </a:prstGeom>
          <a:noFill/>
        </p:spPr>
        <p:txBody>
          <a:bodyPr vert="horz" wrap="square" lIns="0" tIns="0" rIns="0" bIns="0" rtlCol="0">
            <a:spAutoFit/>
          </a:bodyPr>
          <a:lstStyle/>
          <a:p>
            <a:r>
              <a:rPr lang="en-US" sz="2700" b="1">
                <a:solidFill>
                  <a:srgbClr val="1B1B1B"/>
                </a:solidFill>
                <a:latin typeface="Segoe UI" panose="020B0502040204020203" pitchFamily="34" charset="0"/>
              </a:rPr>
              <a:t>The bottom line: moving data faster lets the GPU act in real time</a:t>
            </a:r>
          </a:p>
        </p:txBody>
      </p:sp>
      <p:sp>
        <p:nvSpPr>
          <p:cNvPr id="4" name="Rectangle 3">
            <a:extLst>
              <a:ext uri="{FF2B5EF4-FFF2-40B4-BE49-F238E27FC236}">
                <a16:creationId xmlns:a16="http://schemas.microsoft.com/office/drawing/2014/main" id="{D9301618-6895-6BDE-9B4F-707948C5B1E0}"/>
              </a:ext>
            </a:extLst>
          </p:cNvPr>
          <p:cNvSpPr/>
          <p:nvPr/>
        </p:nvSpPr>
        <p:spPr>
          <a:xfrm>
            <a:off x="711200" y="1625600"/>
            <a:ext cx="889000" cy="635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B5840AE-32D4-9C75-4034-00211EA85EF1}"/>
              </a:ext>
            </a:extLst>
          </p:cNvPr>
          <p:cNvSpPr txBox="1"/>
          <p:nvPr/>
        </p:nvSpPr>
        <p:spPr>
          <a:xfrm>
            <a:off x="685800" y="2159000"/>
            <a:ext cx="10795000" cy="3277820"/>
          </a:xfrm>
          <a:prstGeom prst="rect">
            <a:avLst/>
          </a:prstGeom>
          <a:noFill/>
        </p:spPr>
        <p:txBody>
          <a:bodyPr vert="horz" wrap="square" lIns="0" tIns="0" rIns="0" bIns="0" rtlCol="0">
            <a:spAutoFit/>
          </a:bodyPr>
          <a:lstStyle/>
          <a:p>
            <a:pPr marL="457200" indent="-457200">
              <a:spcAft>
                <a:spcPts val="1800"/>
              </a:spcAft>
              <a:buClr>
                <a:srgbClr val="03B585"/>
              </a:buClr>
              <a:buFont typeface="+mj-lt"/>
              <a:buChar char="•"/>
            </a:pPr>
            <a:r>
              <a:rPr lang="en-US" sz="2100">
                <a:solidFill>
                  <a:srgbClr val="1B1B1B"/>
                </a:solidFill>
                <a:latin typeface="Segoe UI" panose="020B0502040204020203" pitchFamily="34" charset="0"/>
              </a:rPr>
              <a:t>Up to 281 times lower latency and about four times the throughput, with no change to application code</a:t>
            </a:r>
          </a:p>
          <a:p>
            <a:pPr marL="457200" indent="-457200">
              <a:spcAft>
                <a:spcPts val="1800"/>
              </a:spcAft>
              <a:buClr>
                <a:srgbClr val="03B585"/>
              </a:buClr>
              <a:buFont typeface="+mj-lt"/>
              <a:buChar char="•"/>
            </a:pPr>
            <a:r>
              <a:rPr lang="en-US" sz="2100">
                <a:solidFill>
                  <a:srgbClr val="1B1B1B"/>
                </a:solidFill>
                <a:latin typeface="Segoe UI" panose="020B0502040204020203" pitchFamily="34" charset="0"/>
              </a:rPr>
              <a:t>A software transport that keeps pace with dedicated acquisition hardware on the network</a:t>
            </a:r>
          </a:p>
          <a:p>
            <a:pPr marL="457200" indent="-457200">
              <a:spcAft>
                <a:spcPts val="1800"/>
              </a:spcAft>
              <a:buClr>
                <a:srgbClr val="03B585"/>
              </a:buClr>
              <a:buFont typeface="+mj-lt"/>
              <a:buChar char="•"/>
            </a:pPr>
            <a:r>
              <a:rPr lang="en-US" sz="2100">
                <a:solidFill>
                  <a:srgbClr val="1B1B1B"/>
                </a:solidFill>
                <a:latin typeface="Segoe UI" panose="020B0502040204020203" pitchFamily="34" charset="0"/>
              </a:rPr>
              <a:t>A GPU pipeline that reaches the accelerator in tens of microseconds instead of hundreds</a:t>
            </a:r>
          </a:p>
          <a:p>
            <a:pPr marL="457200" indent="-457200">
              <a:spcAft>
                <a:spcPts val="1800"/>
              </a:spcAft>
              <a:buClr>
                <a:srgbClr val="03B585"/>
              </a:buClr>
              <a:buFont typeface="+mj-lt"/>
              <a:buChar char="•"/>
            </a:pPr>
            <a:r>
              <a:rPr lang="en-US" sz="2100">
                <a:solidFill>
                  <a:srgbClr val="1B1B1B"/>
                </a:solidFill>
                <a:latin typeface="Segoe UI" panose="020B0502040204020203" pitchFamily="34" charset="0"/>
              </a:rPr>
              <a:t>That headroom makes tighter control loops and faster inference practical, and widens the hardware we can support</a:t>
            </a:r>
          </a:p>
        </p:txBody>
      </p:sp>
    </p:spTree>
    <p:extLst>
      <p:ext uri="{BB962C8B-B14F-4D97-AF65-F5344CB8AC3E}">
        <p14:creationId xmlns:p14="http://schemas.microsoft.com/office/powerpoint/2010/main" val="12883652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DD00771-9043-B41A-6D06-B2D2A78F988D}"/>
              </a:ext>
            </a:extLst>
          </p:cNvPr>
          <p:cNvSpPr/>
          <p:nvPr/>
        </p:nvSpPr>
        <p:spPr>
          <a:xfrm>
            <a:off x="0" y="0"/>
            <a:ext cx="127000" cy="68580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9B37FD0A-89E0-1209-C26D-7223203911AE}"/>
              </a:ext>
            </a:extLst>
          </p:cNvPr>
          <p:cNvSpPr txBox="1"/>
          <p:nvPr/>
        </p:nvSpPr>
        <p:spPr>
          <a:xfrm>
            <a:off x="685800" y="381000"/>
            <a:ext cx="10795000" cy="415498"/>
          </a:xfrm>
          <a:prstGeom prst="rect">
            <a:avLst/>
          </a:prstGeom>
          <a:noFill/>
        </p:spPr>
        <p:txBody>
          <a:bodyPr vert="horz" wrap="square" lIns="0" tIns="0" rIns="0" bIns="0" rtlCol="0">
            <a:spAutoFit/>
          </a:bodyPr>
          <a:lstStyle/>
          <a:p>
            <a:r>
              <a:rPr lang="en-US" sz="2700" b="1">
                <a:solidFill>
                  <a:srgbClr val="1B1B1B"/>
                </a:solidFill>
                <a:latin typeface="Segoe UI" panose="020B0502040204020203" pitchFamily="34" charset="0"/>
              </a:rPr>
              <a:t>Next: close the open item, then test on production-style hardware</a:t>
            </a:r>
          </a:p>
        </p:txBody>
      </p:sp>
      <p:sp>
        <p:nvSpPr>
          <p:cNvPr id="4" name="Rectangle 3">
            <a:extLst>
              <a:ext uri="{FF2B5EF4-FFF2-40B4-BE49-F238E27FC236}">
                <a16:creationId xmlns:a16="http://schemas.microsoft.com/office/drawing/2014/main" id="{C25A1C67-BF60-6578-8261-1F59688DC9AD}"/>
              </a:ext>
            </a:extLst>
          </p:cNvPr>
          <p:cNvSpPr/>
          <p:nvPr/>
        </p:nvSpPr>
        <p:spPr>
          <a:xfrm>
            <a:off x="711200" y="1625600"/>
            <a:ext cx="889000" cy="635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66EB7E6-1A79-776A-C474-FA6E1F395C96}"/>
              </a:ext>
            </a:extLst>
          </p:cNvPr>
          <p:cNvSpPr txBox="1"/>
          <p:nvPr/>
        </p:nvSpPr>
        <p:spPr>
          <a:xfrm>
            <a:off x="685800" y="2159000"/>
            <a:ext cx="10795000" cy="1754326"/>
          </a:xfrm>
          <a:prstGeom prst="rect">
            <a:avLst/>
          </a:prstGeom>
          <a:noFill/>
        </p:spPr>
        <p:txBody>
          <a:bodyPr vert="horz" wrap="square" lIns="0" tIns="0" rIns="0" bIns="0" rtlCol="0">
            <a:spAutoFit/>
          </a:bodyPr>
          <a:lstStyle/>
          <a:p>
            <a:pPr marL="457200" indent="-457200">
              <a:spcAft>
                <a:spcPts val="1800"/>
              </a:spcAft>
              <a:buClr>
                <a:srgbClr val="03B585"/>
              </a:buClr>
              <a:buFont typeface="+mj-lt"/>
              <a:buChar char="•"/>
            </a:pPr>
            <a:r>
              <a:rPr lang="en-US" sz="2100">
                <a:solidFill>
                  <a:srgbClr val="1B1B1B"/>
                </a:solidFill>
                <a:latin typeface="Segoe UI" panose="020B0502040204020203" pitchFamily="34" charset="0"/>
              </a:rPr>
              <a:t>Find what causes the large-payload delivery limit and run the test again</a:t>
            </a:r>
          </a:p>
          <a:p>
            <a:pPr marL="457200" indent="-457200">
              <a:spcAft>
                <a:spcPts val="1800"/>
              </a:spcAft>
              <a:buClr>
                <a:srgbClr val="03B585"/>
              </a:buClr>
              <a:buFont typeface="+mj-lt"/>
              <a:buChar char="•"/>
            </a:pPr>
            <a:r>
              <a:rPr lang="en-US" sz="2100">
                <a:solidFill>
                  <a:srgbClr val="1B1B1B"/>
                </a:solidFill>
                <a:latin typeface="Segoe UI" panose="020B0502040204020203" pitchFamily="34" charset="0"/>
              </a:rPr>
              <a:t>Confirm the results on the main network-to-GPU path once the test system is back online</a:t>
            </a:r>
          </a:p>
          <a:p>
            <a:pPr marL="457200" indent="-457200">
              <a:spcAft>
                <a:spcPts val="1800"/>
              </a:spcAft>
              <a:buClr>
                <a:srgbClr val="03B585"/>
              </a:buClr>
              <a:buFont typeface="+mj-lt"/>
              <a:buChar char="•"/>
            </a:pPr>
            <a:r>
              <a:rPr lang="en-US" sz="2100">
                <a:solidFill>
                  <a:srgbClr val="1B1B1B"/>
                </a:solidFill>
                <a:latin typeface="Segoe UI" panose="020B0502040204020203" pitchFamily="34" charset="0"/>
              </a:rPr>
              <a:t>Write up the findings as a transport recommendation other NI teams can use</a:t>
            </a:r>
          </a:p>
        </p:txBody>
      </p:sp>
      <p:sp>
        <p:nvSpPr>
          <p:cNvPr id="6" name="TextBox 5">
            <a:extLst>
              <a:ext uri="{FF2B5EF4-FFF2-40B4-BE49-F238E27FC236}">
                <a16:creationId xmlns:a16="http://schemas.microsoft.com/office/drawing/2014/main" id="{8BF0DB25-91B8-5351-34CD-07F6C8C309D4}"/>
              </a:ext>
            </a:extLst>
          </p:cNvPr>
          <p:cNvSpPr txBox="1"/>
          <p:nvPr/>
        </p:nvSpPr>
        <p:spPr>
          <a:xfrm>
            <a:off x="685800" y="5969000"/>
            <a:ext cx="10795000" cy="276999"/>
          </a:xfrm>
          <a:prstGeom prst="rect">
            <a:avLst/>
          </a:prstGeom>
          <a:noFill/>
        </p:spPr>
        <p:txBody>
          <a:bodyPr vert="horz" wrap="square" lIns="0" tIns="0" rIns="0" bIns="0" rtlCol="0">
            <a:spAutoFit/>
          </a:bodyPr>
          <a:lstStyle/>
          <a:p>
            <a:r>
              <a:rPr lang="en-US" sz="1800" b="1">
                <a:solidFill>
                  <a:srgbClr val="03B585"/>
                </a:solidFill>
                <a:latin typeface="Segoe UI" panose="020B0502040204020203" pitchFamily="34" charset="0"/>
              </a:rPr>
              <a:t>Thanks. Happy to take questions.</a:t>
            </a:r>
          </a:p>
        </p:txBody>
      </p:sp>
    </p:spTree>
    <p:extLst>
      <p:ext uri="{BB962C8B-B14F-4D97-AF65-F5344CB8AC3E}">
        <p14:creationId xmlns:p14="http://schemas.microsoft.com/office/powerpoint/2010/main" val="7814230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785</Words>
  <Application>Microsoft Office PowerPoint</Application>
  <PresentationFormat>Custom</PresentationFormat>
  <Paragraphs>56</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Arial</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Oluwadamilola</dc:creator>
  <cp:lastModifiedBy>Thomas, Oluwadamilola</cp:lastModifiedBy>
  <cp:revision>1</cp:revision>
  <dcterms:created xsi:type="dcterms:W3CDTF">2026-08-26T15:55:52Z</dcterms:created>
  <dcterms:modified xsi:type="dcterms:W3CDTF">2026-08-26T15:55:52Z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38901aa-f724-46bf-bb4f-aef09392934b_Enabled">
    <vt:lpwstr>true</vt:lpwstr>
  </property>
  <property fmtid="{D5CDD505-2E9C-101B-9397-08002B2CF9AE}" pid="3" name="MSIP_Label_d38901aa-f724-46bf-bb4f-aef09392934b_SetDate">
    <vt:lpwstr>2026-08-26T15:55:52Z</vt:lpwstr>
  </property>
  <property fmtid="{D5CDD505-2E9C-101B-9397-08002B2CF9AE}" pid="4" name="MSIP_Label_d38901aa-f724-46bf-bb4f-aef09392934b_Method">
    <vt:lpwstr>Standard</vt:lpwstr>
  </property>
  <property fmtid="{D5CDD505-2E9C-101B-9397-08002B2CF9AE}" pid="5" name="MSIP_Label_d38901aa-f724-46bf-bb4f-aef09392934b_Name">
    <vt:lpwstr>Internal - No Label</vt:lpwstr>
  </property>
  <property fmtid="{D5CDD505-2E9C-101B-9397-08002B2CF9AE}" pid="6" name="MSIP_Label_d38901aa-f724-46bf-bb4f-aef09392934b_SiteId">
    <vt:lpwstr>eb06985d-06ca-4a17-81da-629ab99f6505</vt:lpwstr>
  </property>
  <property fmtid="{D5CDD505-2E9C-101B-9397-08002B2CF9AE}" pid="7" name="MSIP_Label_d38901aa-f724-46bf-bb4f-aef09392934b_ActionId">
    <vt:lpwstr>386a647f-37a1-43a8-af41-287a347f7353</vt:lpwstr>
  </property>
  <property fmtid="{D5CDD505-2E9C-101B-9397-08002B2CF9AE}" pid="8" name="MSIP_Label_d38901aa-f724-46bf-bb4f-aef09392934b_ContentBits">
    <vt:lpwstr>0</vt:lpwstr>
  </property>
  <property fmtid="{D5CDD505-2E9C-101B-9397-08002B2CF9AE}" pid="9" name="MSIP_Label_d38901aa-f724-46bf-bb4f-aef09392934b_Tag">
    <vt:lpwstr>10, 3, 0, 1</vt:lpwstr>
  </property>
</Properties>
</file>
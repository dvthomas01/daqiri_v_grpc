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607" autoAdjust="0"/>
  </p:normalViewPr>
  <p:slideViewPr>
    <p:cSldViewPr snapToGrid="0">
      <p:cViewPr varScale="1">
        <p:scale>
          <a:sx n="51" d="100"/>
          <a:sy n="51" d="100"/>
        </p:scale>
        <p:origin x="72" y="8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67845-44EE-468A-B3F4-DD2E5590B9B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34F6A8-3E44-4C63-86E5-776686C4AB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178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93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GPU compute itself is fast. What actually costs us time is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data to it. I split that journey into two parts: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is getting data across the network,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2 is getting it into the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We kept the application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code,that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being the GRPC API and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protobugg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identical and only changed the transport underneath gRPC.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Serialization: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gRPC library converts the language-specific message object into a compact, language-agnostic binary byte array using Protocol Buffers.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 Allocation: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serialized bytes are copied from application memory into temporary kernel network buffers managed by the HTTP/2 transport layer.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Framing and Transport: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HTTP/2 breaks the byte array into binary data frames, applies compression headers, and transmits them across the network via a TCP socket.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Deserialization: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receiving gRPC server reads the network frames, uncompresses them, and parses the raw binary bytes back into a native language object for processing.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 gRPC echoes in about a millisecond, but the the shared‑memory path does it in 3.3 microseconds  which is 281 times faster.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this by we just stopped going through the kernel and copying buffers an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dinstead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a machines local ram or a RoCE cable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65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 idea, but now measuring bulk throughput instead of round‑trip latency.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Removing the memory copies takes us from about 1.8 gigabytes per second to 23.6 which is nearly four times the data through the same link.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matters when the instrument is streaming continuously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22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 throughput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machine to machine transport our transport is competitive with a dedicated commercial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79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we're into Part 2 — into the GPU. This chart shows what the expensive part actually is. The tall bars are with a CPU copy staging the data; the short bars are with that copy removed. That one copy is roughly 120 microseconds — it dwarfs everything else, including the FFT. So the whole game in Part 2 is eliminating that copy, which both transports now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5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compare them head to head on getting a buffer into the GPU. DAQiri is faster at every payload size — between 27% and 64% quicker. Worth tying back to slide 5: on raw network throughput they tied, but on GPU‑pipeline latency DAQiri wins. Those are two different questions and both answers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36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the biggest payload, 128 KB,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DAQiri's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TCP‑loopback path dropped messages — it delivered fewer than gRPC did. Everywhere else DAQiri delivers fully. This is a known open item, not a showstopper; I have a diagnostic plan and it's on the next‑steps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518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Pulling it together: the bottleneck for real‑time GPU work is the data path, not the compute. On the network leg we're competitive with NVIDIA; on the GPU leg DAQiri is fastest, and both avoid the copy that used to dominate. Faster delivery is what lets the GPU actually act on live data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4F6A8-3E44-4C63-86E5-776686C4AB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342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DF231-22D9-808E-6EFF-A9531209B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9A15FA-4C86-CA14-258E-99845D893D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204A7-FD44-73C0-2093-A75A048FE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15EC-9E5A-6738-1D7F-48670142A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25A35-FA06-1013-BC50-3C16FE9A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37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2510B-7F21-05C9-6C47-A93B35253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6C1C2-6A5F-4CC9-9034-EA98F0777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FAE0D-CD05-131C-68FF-32F080E5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BAEEA-2E4A-0898-5BC8-1DCC85328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3EE50-BCEF-C59F-32DA-A2653CDC5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35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A0C0E-6600-D375-6900-D2115BED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2D36AA-AA5D-F2DB-E293-B4779B7E9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3D211-CDB7-86FA-0438-1DA698955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5B4BE-43F6-82BB-4976-C0B49E412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8481E-1677-ACA2-1954-800C511C1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15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2BB5-1B9C-7B87-E09F-8837E5F49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F1A57-FB59-8AA5-043D-7E1D8AFF12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547E2D-FE58-A486-F7E6-C088D3B9C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C7F75A-6945-37B5-FEDD-B0CA65C7F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D81A4-8551-5756-E572-7F57C94D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E99D8-347B-FF5A-24D6-FA9806EF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616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0D28-0E26-5374-CDD9-24634158B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EA1FE-043E-D72A-6768-3C40A3AB2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D58C2-70C0-0469-CDA0-E4783AC8E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B0AACC-54A0-3612-5484-2FD3262E40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A910F5-FC1D-9EDF-79BE-F71116B0A9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596265-48DE-DBD6-FF16-923D3860D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8C3B14-F4F1-0BA3-43B2-493DD3AA3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97ECE1-E427-320C-3412-D288FBB0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07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EAA6-76F6-60CC-1548-BAD31219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A8EB2B-A4B5-F245-0364-310F00846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F38C36-BA18-FD54-6CEF-B5F519EF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FCCBE2-2615-7CBE-866B-0D6FE92A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13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D4A111-8D96-3E6E-B001-DE2FEB06E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5B6695-03C9-7341-894C-6E80B6338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7C8DB-DED7-A5EA-823D-AD813605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202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0DA82-E86B-202E-EA72-5BE8C817A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38782-AB91-C83D-3E2E-F2BE23980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DE2C-B831-B611-9AD6-A171B9BC7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9BC2F5-F487-48BF-EDD6-4F6874D8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2FC16-B43F-67AA-433B-96E5A50BD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71EF44-67C0-B564-B52A-959ECB1D1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210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82D25-AC16-AA40-E5F0-49DAABEE9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A14BAB-C098-90D4-0CDF-AE7CEEEF56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7E94A3-E19A-1301-DBCE-C3988AD97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ED9A1-73EC-DEE3-B7D8-497967704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DA3E4-D8C0-37E7-C3A2-C6F4EB057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7C711-9D2D-D614-FDC6-1DC910E4A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53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1E20-2F1A-54AF-1CF0-68C7A0EA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4C95D-F226-5FA2-3575-74BABC0E98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F2D3D-5EA4-A02F-4189-A5E26530F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A5D10-3EFA-28AC-B8E7-6D49C78B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2CEE-D247-77E6-D3AC-5AFF831A6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59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8BC57-D59C-F302-EC0F-791CF5C43C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3FFECF-2DF2-6A47-8158-C17D0F4EA8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66694F-D9E6-B4FB-0EB6-FF96F0F3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BDF3F-2F03-2CBB-0F56-75D7DCC73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AB947-F5EA-67AB-9E91-217314AB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78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1B82E8-9560-B534-1EDC-5656AD8F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611B89-4FE2-B552-C06E-D4187817F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4F142-46BB-6A77-2100-B93EE757C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ABCCA6-1E40-423B-8940-3FCD696164A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7898B-E138-5FAC-C3E1-4223CBBFF9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A1604-6EBF-5DDD-0297-F15569D9C8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FFE4CB-5011-4BFC-A3D7-23EF8FD3C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78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655890-1375-3788-D164-60898DE7E8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B1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053B15-5B7E-B24C-9449-2D3FEF936910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B0E9E-25B6-6E43-24DB-104211E9620B}"/>
              </a:ext>
            </a:extLst>
          </p:cNvPr>
          <p:cNvSpPr txBox="1"/>
          <p:nvPr/>
        </p:nvSpPr>
        <p:spPr>
          <a:xfrm>
            <a:off x="889000" y="2222500"/>
            <a:ext cx="101600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400" b="1" dirty="0">
                <a:solidFill>
                  <a:srgbClr val="FFFFFF"/>
                </a:solidFill>
                <a:latin typeface="Segoe UI" panose="020B0502040204020203" pitchFamily="34" charset="0"/>
              </a:rPr>
              <a:t>Getting Live Hardware Data</a:t>
            </a:r>
          </a:p>
          <a:p>
            <a:r>
              <a:rPr lang="en-US" sz="4400" b="1" dirty="0">
                <a:solidFill>
                  <a:srgbClr val="FFFFFF"/>
                </a:solidFill>
                <a:latin typeface="Segoe UI" panose="020B0502040204020203" pitchFamily="34" charset="0"/>
              </a:rPr>
              <a:t>to the GPU, Faster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0DE3E-4F0F-616A-04F5-9E3F15814762}"/>
              </a:ext>
            </a:extLst>
          </p:cNvPr>
          <p:cNvSpPr txBox="1"/>
          <p:nvPr/>
        </p:nvSpPr>
        <p:spPr>
          <a:xfrm>
            <a:off x="939800" y="4064000"/>
            <a:ext cx="10160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200" dirty="0">
                <a:solidFill>
                  <a:srgbClr val="03B585"/>
                </a:solidFill>
                <a:latin typeface="Segoe UI" panose="020B0502040204020203" pitchFamily="34" charset="0"/>
              </a:rPr>
              <a:t>Dami Thomas</a:t>
            </a:r>
          </a:p>
        </p:txBody>
      </p:sp>
      <p:pic>
        <p:nvPicPr>
          <p:cNvPr id="6" name="Slide 1">
            <a:hlinkClick r:id="" action="ppaction://media"/>
            <a:extLst>
              <a:ext uri="{FF2B5EF4-FFF2-40B4-BE49-F238E27FC236}">
                <a16:creationId xmlns:a16="http://schemas.microsoft.com/office/drawing/2014/main" id="{0CEF3950-E497-7D07-CCF4-5D77AA700DA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89000" y="5441676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07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83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298D6B-26E3-6C42-9C50-625AA5AD0B8F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1DD7C-7EA0-77A0-2C81-4B65843370BE}"/>
              </a:ext>
            </a:extLst>
          </p:cNvPr>
          <p:cNvSpPr txBox="1"/>
          <p:nvPr/>
        </p:nvSpPr>
        <p:spPr>
          <a:xfrm>
            <a:off x="685800" y="381000"/>
            <a:ext cx="10795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 dirty="0">
                <a:solidFill>
                  <a:srgbClr val="1B1B1B"/>
                </a:solidFill>
                <a:latin typeface="Segoe UI" panose="020B0502040204020203" pitchFamily="34" charset="0"/>
              </a:rPr>
              <a:t>The data path, not the math, is what slows real time GPU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5B5F39-DB4D-8304-0A0D-92826997714C}"/>
              </a:ext>
            </a:extLst>
          </p:cNvPr>
          <p:cNvSpPr/>
          <p:nvPr/>
        </p:nvSpPr>
        <p:spPr>
          <a:xfrm>
            <a:off x="711200" y="16256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23AB1-5A4C-137E-1446-4C5AD88E2345}"/>
              </a:ext>
            </a:extLst>
          </p:cNvPr>
          <p:cNvSpPr txBox="1"/>
          <p:nvPr/>
        </p:nvSpPr>
        <p:spPr>
          <a:xfrm>
            <a:off x="685800" y="2032000"/>
            <a:ext cx="5969000" cy="34624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000" dirty="0">
                <a:solidFill>
                  <a:srgbClr val="1B1B1B"/>
                </a:solidFill>
                <a:latin typeface="Segoe UI" panose="020B0502040204020203" pitchFamily="34" charset="0"/>
              </a:rPr>
              <a:t>Instruments send data without pause, and it has to reach the GPU in microseconds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000" dirty="0">
                <a:solidFill>
                  <a:srgbClr val="1B1B1B"/>
                </a:solidFill>
                <a:latin typeface="Segoe UI" panose="020B0502040204020203" pitchFamily="34" charset="0"/>
              </a:rPr>
              <a:t>The usual network path adds delay from the operating system and from copying data in memory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000" dirty="0">
                <a:solidFill>
                  <a:srgbClr val="1B1B1B"/>
                </a:solidFill>
                <a:latin typeface="Segoe UI" panose="020B0502040204020203" pitchFamily="34" charset="0"/>
              </a:rPr>
              <a:t>That delay, not the FFT math, is what usually holds real time work back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000" dirty="0">
                <a:solidFill>
                  <a:srgbClr val="1B1B1B"/>
                </a:solidFill>
                <a:latin typeface="Segoe UI" panose="020B0502040204020203" pitchFamily="34" charset="0"/>
              </a:rPr>
              <a:t>So we measured the path in two stages, then compared transports at each stage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20F01A-464D-9211-BE79-3A8FF2C97D04}"/>
              </a:ext>
            </a:extLst>
          </p:cNvPr>
          <p:cNvSpPr/>
          <p:nvPr/>
        </p:nvSpPr>
        <p:spPr>
          <a:xfrm>
            <a:off x="7112000" y="1778000"/>
            <a:ext cx="4318000" cy="660400"/>
          </a:xfrm>
          <a:prstGeom prst="rect">
            <a:avLst/>
          </a:prstGeom>
          <a:solidFill>
            <a:srgbClr val="5A64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635C41-631A-C0A3-902B-A30BF1A582C0}"/>
              </a:ext>
            </a:extLst>
          </p:cNvPr>
          <p:cNvSpPr txBox="1"/>
          <p:nvPr/>
        </p:nvSpPr>
        <p:spPr>
          <a:xfrm>
            <a:off x="7112000" y="1955800"/>
            <a:ext cx="431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Live instrument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F1A38-8572-C5DA-7DB2-57508DEE0F12}"/>
              </a:ext>
            </a:extLst>
          </p:cNvPr>
          <p:cNvSpPr txBox="1"/>
          <p:nvPr/>
        </p:nvSpPr>
        <p:spPr>
          <a:xfrm>
            <a:off x="7112000" y="2463800"/>
            <a:ext cx="4318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5A6470"/>
                </a:solidFill>
                <a:latin typeface="Segoe UI" panose="020B0502040204020203" pitchFamily="34" charset="0"/>
              </a:rPr>
              <a:t>▼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2C8E6D-4006-B6B2-83A7-CA3E5AA3ECFA}"/>
              </a:ext>
            </a:extLst>
          </p:cNvPr>
          <p:cNvSpPr/>
          <p:nvPr/>
        </p:nvSpPr>
        <p:spPr>
          <a:xfrm>
            <a:off x="7112000" y="2768600"/>
            <a:ext cx="4318000" cy="6604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D894AA-0459-BA4C-2BA1-B5025A996C05}"/>
              </a:ext>
            </a:extLst>
          </p:cNvPr>
          <p:cNvSpPr txBox="1"/>
          <p:nvPr/>
        </p:nvSpPr>
        <p:spPr>
          <a:xfrm>
            <a:off x="7112000" y="2946400"/>
            <a:ext cx="431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Part 1: across the network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F901-3A1D-C736-1739-3C019AAD3675}"/>
              </a:ext>
            </a:extLst>
          </p:cNvPr>
          <p:cNvSpPr txBox="1"/>
          <p:nvPr/>
        </p:nvSpPr>
        <p:spPr>
          <a:xfrm>
            <a:off x="7112000" y="3454400"/>
            <a:ext cx="4318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5A6470"/>
                </a:solidFill>
                <a:latin typeface="Segoe UI" panose="020B0502040204020203" pitchFamily="34" charset="0"/>
              </a:rPr>
              <a:t>▼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5702A6-3934-3DE8-83D7-A2875FECCEFB}"/>
              </a:ext>
            </a:extLst>
          </p:cNvPr>
          <p:cNvSpPr/>
          <p:nvPr/>
        </p:nvSpPr>
        <p:spPr>
          <a:xfrm>
            <a:off x="7112000" y="3759200"/>
            <a:ext cx="4318000" cy="6604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3D5A5-B315-6FD3-5A36-A91BE2BA1CF9}"/>
              </a:ext>
            </a:extLst>
          </p:cNvPr>
          <p:cNvSpPr txBox="1"/>
          <p:nvPr/>
        </p:nvSpPr>
        <p:spPr>
          <a:xfrm>
            <a:off x="7112000" y="3937000"/>
            <a:ext cx="431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Part 2: into the GPU (FFT)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F31385-E8D4-A66B-FCFA-501F1888E4F5}"/>
              </a:ext>
            </a:extLst>
          </p:cNvPr>
          <p:cNvSpPr txBox="1"/>
          <p:nvPr/>
        </p:nvSpPr>
        <p:spPr>
          <a:xfrm>
            <a:off x="7112000" y="5537200"/>
            <a:ext cx="4318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300">
                <a:solidFill>
                  <a:srgbClr val="5A6470"/>
                </a:solidFill>
                <a:latin typeface="Segoe UI" panose="020B0502040204020203" pitchFamily="34" charset="0"/>
              </a:rPr>
              <a:t>I measured the delay added at each stage, then went after what was left.</a:t>
            </a:r>
            <a:endParaRPr lang="en-US" sz="1300" dirty="0">
              <a:solidFill>
                <a:srgbClr val="5A6470"/>
              </a:solidFill>
              <a:latin typeface="Segoe UI" panose="020B0502040204020203" pitchFamily="34" charset="0"/>
            </a:endParaRPr>
          </a:p>
        </p:txBody>
      </p:sp>
      <p:pic>
        <p:nvPicPr>
          <p:cNvPr id="15" name="Slide 2">
            <a:hlinkClick r:id="" action="ppaction://media"/>
            <a:extLst>
              <a:ext uri="{FF2B5EF4-FFF2-40B4-BE49-F238E27FC236}">
                <a16:creationId xmlns:a16="http://schemas.microsoft.com/office/drawing/2014/main" id="{CFF7CCF6-7B9E-91D1-5BB3-A9500EF8E9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4900" y="5837386"/>
            <a:ext cx="406400" cy="406400"/>
          </a:xfrm>
          <a:prstGeom prst="rect">
            <a:avLst/>
          </a:prstGeom>
        </p:spPr>
      </p:pic>
      <p:sp>
        <p:nvSpPr>
          <p:cNvPr id="16" name="Part3Arrow">
            <a:extLst>
              <a:ext uri="{FF2B5EF4-FFF2-40B4-BE49-F238E27FC236}">
                <a16:creationId xmlns:a16="http://schemas.microsoft.com/office/drawing/2014/main" id="{A2260A6C-601F-0CFD-17BE-EEF9904D8477}"/>
              </a:ext>
            </a:extLst>
          </p:cNvPr>
          <p:cNvSpPr txBox="1"/>
          <p:nvPr/>
        </p:nvSpPr>
        <p:spPr>
          <a:xfrm>
            <a:off x="7112000" y="4445000"/>
            <a:ext cx="43180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5A6470"/>
                </a:solidFill>
                <a:latin typeface="Segoe UI" panose="020B0502040204020203" pitchFamily="34" charset="0"/>
              </a:rPr>
              <a:t>▼</a:t>
            </a:r>
          </a:p>
        </p:txBody>
      </p:sp>
      <p:sp>
        <p:nvSpPr>
          <p:cNvPr id="17" name="Part3Box">
            <a:extLst>
              <a:ext uri="{FF2B5EF4-FFF2-40B4-BE49-F238E27FC236}">
                <a16:creationId xmlns:a16="http://schemas.microsoft.com/office/drawing/2014/main" id="{E33873CC-64C5-B2E9-C922-EBAB98021388}"/>
              </a:ext>
            </a:extLst>
          </p:cNvPr>
          <p:cNvSpPr/>
          <p:nvPr/>
        </p:nvSpPr>
        <p:spPr>
          <a:xfrm>
            <a:off x="7112000" y="4749800"/>
            <a:ext cx="4318000" cy="6604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t3Label">
            <a:extLst>
              <a:ext uri="{FF2B5EF4-FFF2-40B4-BE49-F238E27FC236}">
                <a16:creationId xmlns:a16="http://schemas.microsoft.com/office/drawing/2014/main" id="{0E8839D7-5707-2863-BADB-212A8A15A422}"/>
              </a:ext>
            </a:extLst>
          </p:cNvPr>
          <p:cNvSpPr txBox="1"/>
          <p:nvPr/>
        </p:nvSpPr>
        <p:spPr>
          <a:xfrm>
            <a:off x="7112000" y="4927600"/>
            <a:ext cx="4318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Part 3: closing the gap</a:t>
            </a:r>
          </a:p>
        </p:txBody>
      </p:sp>
    </p:spTree>
    <p:extLst>
      <p:ext uri="{BB962C8B-B14F-4D97-AF65-F5344CB8AC3E}">
        <p14:creationId xmlns:p14="http://schemas.microsoft.com/office/powerpoint/2010/main" val="41339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422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08FADE-5C11-D4F3-B32C-1BE8663491BC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278C83-462F-F28B-5FF6-02D24DC04B0C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1: ACROSS THE NETWORK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9F4CA0-0BF2-7E30-2E34-205FF20FD9D8}"/>
              </a:ext>
            </a:extLst>
          </p:cNvPr>
          <p:cNvSpPr txBox="1"/>
          <p:nvPr/>
        </p:nvSpPr>
        <p:spPr>
          <a:xfrm>
            <a:off x="685800" y="584200"/>
            <a:ext cx="107950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B1B1B"/>
                </a:solidFill>
                <a:latin typeface="Segoe UI" panose="020B0502040204020203" pitchFamily="34" charset="0"/>
              </a:rPr>
              <a:t>Keeping the same code but swapping the transport cut latency up to 281 times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890425-3183-0CFF-01C4-209E42D31280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8FF6DF-3B2D-AE8A-DB7E-F59A21AFA8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161505"/>
            <a:ext cx="7239000" cy="39319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D3DD26B-381A-AC29-6936-AA98BC475DC3}"/>
              </a:ext>
            </a:extLst>
          </p:cNvPr>
          <p:cNvSpPr txBox="1"/>
          <p:nvPr/>
        </p:nvSpPr>
        <p:spPr>
          <a:xfrm>
            <a:off x="8001000" y="2095500"/>
            <a:ext cx="3810000" cy="38779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1B1B"/>
                </a:solidFill>
                <a:latin typeface="Segoe UI" panose="020B0502040204020203" pitchFamily="34" charset="0"/>
              </a:rPr>
              <a:t>When both sides run on the same machine, shared memory passes the data straight across and skips the operating system's copies. A round trip takes 3.3 microseconds. That is within half a microsecond of the machine's physical limit, and about 281 times faster than standard gRPC.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1B1B1B"/>
              </a:solidFill>
              <a:latin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1B1B"/>
                </a:solidFill>
                <a:latin typeface="Segoe UI" panose="020B0502040204020203" pitchFamily="34" charset="0"/>
              </a:rPr>
              <a:t>When the data has to reach a second machine, RDMA handles that instead. I put it head to head with NVIDIA on the next slides.</a:t>
            </a:r>
          </a:p>
        </p:txBody>
      </p:sp>
      <p:pic>
        <p:nvPicPr>
          <p:cNvPr id="6" name="slide 3">
            <a:hlinkClick r:id="" action="ppaction://media"/>
            <a:extLst>
              <a:ext uri="{FF2B5EF4-FFF2-40B4-BE49-F238E27FC236}">
                <a16:creationId xmlns:a16="http://schemas.microsoft.com/office/drawing/2014/main" id="{E3432764-E29B-12EA-FB9F-D7174D3B44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85800" y="6324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79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0A4DBD-9D4B-32C8-F545-9577C25B7B0B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CC8E9-33A9-6E3E-471C-3CF90EE96440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1: ACROSS THE NETWORK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6654B4-28CD-1B59-4643-0544E3D2EB5D}"/>
              </a:ext>
            </a:extLst>
          </p:cNvPr>
          <p:cNvSpPr txBox="1"/>
          <p:nvPr/>
        </p:nvSpPr>
        <p:spPr>
          <a:xfrm>
            <a:off x="685800" y="584200"/>
            <a:ext cx="107950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B1B1B"/>
                </a:solidFill>
                <a:latin typeface="Segoe UI" panose="020B0502040204020203" pitchFamily="34" charset="0"/>
              </a:rPr>
              <a:t>Skipping the memory copies gave almost four times the streaming throughput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74A30-75D0-1405-C828-C69BC0FDB7D9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B4CD4D-B322-F158-92C9-9AAEFE83C5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0" y="2248127"/>
            <a:ext cx="5842000" cy="3822246"/>
          </a:xfrm>
          <a:prstGeom prst="rect">
            <a:avLst/>
          </a:prstGeom>
        </p:spPr>
      </p:pic>
      <p:pic>
        <p:nvPicPr>
          <p:cNvPr id="6" name="Slide 4">
            <a:hlinkClick r:id="" action="ppaction://media"/>
            <a:extLst>
              <a:ext uri="{FF2B5EF4-FFF2-40B4-BE49-F238E27FC236}">
                <a16:creationId xmlns:a16="http://schemas.microsoft.com/office/drawing/2014/main" id="{6ED328B1-1CA9-EF69-9C29-448CB4298D8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006764" y="5580846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783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1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5B4E1D-8533-EE22-76BF-7C42B3469E2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32" y="1968500"/>
            <a:ext cx="6102336" cy="431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2DC3861-D188-40DC-762C-1CA562A99FC7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D5106-9B09-851B-901B-8073D56B6A24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1: ACROSS THE NETWORK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0E7D6-9BE2-A983-3721-E99B41A7FB87}"/>
              </a:ext>
            </a:extLst>
          </p:cNvPr>
          <p:cNvSpPr txBox="1"/>
          <p:nvPr/>
        </p:nvSpPr>
        <p:spPr>
          <a:xfrm>
            <a:off x="685800" y="584200"/>
            <a:ext cx="107950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B1B1B"/>
                </a:solidFill>
                <a:latin typeface="Segoe UI" panose="020B0502040204020203" pitchFamily="34" charset="0"/>
              </a:rPr>
              <a:t>On raw network throughput, gRPC Direct over RDMA reaches 98% of the 50-gigabit line rate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1B4FF1-93B6-CA26-7C91-286ED7B4457F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9ADF95-B9CF-C81B-5050-DB2402A0B6A7}"/>
              </a:ext>
            </a:extLst>
          </p:cNvPr>
          <p:cNvSpPr txBox="1"/>
          <p:nvPr/>
        </p:nvSpPr>
        <p:spPr>
          <a:xfrm>
            <a:off x="7493000" y="2095500"/>
            <a:ext cx="4254500" cy="338554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1B1B1B"/>
                </a:solidFill>
                <a:latin typeface="Segoe UI" panose="020B0502040204020203" pitchFamily="34" charset="0"/>
              </a:rPr>
              <a:t>This test measures how much data per second crosses the 50-gigabit link. gRPC Direct over RDMA sustains 6.13 gigabytes per second, which is 98 percent of the theoretical maximum.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>
              <a:solidFill>
                <a:srgbClr val="1B1B1B"/>
              </a:solidFill>
              <a:latin typeface="Segoe UI" panose="020B05020402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1B1B1B"/>
                </a:solidFill>
                <a:latin typeface="Segoe UI" panose="020B0502040204020203" pitchFamily="34" charset="0"/>
              </a:rPr>
              <a:t>That is a throughput result. How fast a single buffer reaches the GPU is a separate question, and Part 2 answers it.</a:t>
            </a:r>
            <a:endParaRPr lang="en-US" sz="2000" dirty="0">
              <a:solidFill>
                <a:srgbClr val="1B1B1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slide 5">
            <a:hlinkClick r:id="" action="ppaction://media"/>
            <a:extLst>
              <a:ext uri="{FF2B5EF4-FFF2-40B4-BE49-F238E27FC236}">
                <a16:creationId xmlns:a16="http://schemas.microsoft.com/office/drawing/2014/main" id="{F562C980-4953-892B-9FEB-EB0129601CD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952500" y="61214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251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23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CA72E3-200E-9C60-3BF0-E20E6B09C663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373865-E1AE-CA63-9A1D-4A976FA6F0AE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2: INTO THE GPU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FF5F6-CAB1-4D86-B67A-5906EA3E65E0}"/>
              </a:ext>
            </a:extLst>
          </p:cNvPr>
          <p:cNvSpPr txBox="1"/>
          <p:nvPr/>
        </p:nvSpPr>
        <p:spPr>
          <a:xfrm>
            <a:off x="685800" y="584200"/>
            <a:ext cx="10795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 dirty="0">
                <a:solidFill>
                  <a:srgbClr val="1B1B1B"/>
                </a:solidFill>
                <a:latin typeface="Segoe UI" panose="020B0502040204020203" pitchFamily="34" charset="0"/>
              </a:rPr>
              <a:t>In the GPU pipeline, both transports now skip the big CPU copy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65D53A-C75F-6671-0E45-AC71D72BB659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D29A1B-6099-117B-940B-7C79A7BFD9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962" y="1968500"/>
            <a:ext cx="8102077" cy="4381500"/>
          </a:xfrm>
          <a:prstGeom prst="rect">
            <a:avLst/>
          </a:prstGeom>
        </p:spPr>
      </p:pic>
      <p:pic>
        <p:nvPicPr>
          <p:cNvPr id="6" name="Slide 6">
            <a:hlinkClick r:id="" action="ppaction://media"/>
            <a:extLst>
              <a:ext uri="{FF2B5EF4-FFF2-40B4-BE49-F238E27FC236}">
                <a16:creationId xmlns:a16="http://schemas.microsoft.com/office/drawing/2014/main" id="{FA8D02D8-123A-335A-202B-0882C08FBA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9300" y="5943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077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1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895A20-F9CA-0C90-BFC9-1EA1D77434B0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F95FC-A7F7-44BE-56B7-C941BCC22CBD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2: INTO THE GPU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1C39F3-9945-942B-7301-462FFDF3665C}"/>
              </a:ext>
            </a:extLst>
          </p:cNvPr>
          <p:cNvSpPr txBox="1"/>
          <p:nvPr/>
        </p:nvSpPr>
        <p:spPr>
          <a:xfrm>
            <a:off x="685800" y="584200"/>
            <a:ext cx="10795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B1B1B"/>
                </a:solidFill>
                <a:latin typeface="Segoe UI" panose="020B0502040204020203" pitchFamily="34" charset="0"/>
              </a:rPr>
              <a:t>Getting a buffer into the GPU, DAQiri was faster at every size we tested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F45CC1-F596-9BC5-2F03-BB77D87B3E19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FD9BC0-40E7-D742-82B1-C03BF84AE7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164872"/>
            <a:ext cx="7239000" cy="39252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3B817B-B68F-F325-B5CE-27046208A392}"/>
              </a:ext>
            </a:extLst>
          </p:cNvPr>
          <p:cNvSpPr txBox="1"/>
          <p:nvPr/>
        </p:nvSpPr>
        <p:spPr>
          <a:xfrm>
            <a:off x="8001000" y="2095500"/>
            <a:ext cx="3810000" cy="369331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1B1B1B"/>
                </a:solidFill>
                <a:latin typeface="Segoe UI" panose="020B0502040204020203" pitchFamily="34" charset="0"/>
              </a:rPr>
              <a:t>Part 1 measured how much data per second the link carries. This measures something different: how long one buffer takes to get from the wire into the GPU.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1B1B1B"/>
              </a:solidFill>
              <a:latin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1B1B1B"/>
                </a:solidFill>
                <a:latin typeface="Segoe UI" panose="020B0502040204020203" pitchFamily="34" charset="0"/>
              </a:rPr>
              <a:t>DAQiri came out ahead at every payload size. Throughput and latency are separate questions, and Part 3 is about closing this one.</a:t>
            </a:r>
            <a:endParaRPr lang="en-US" sz="2000" dirty="0">
              <a:solidFill>
                <a:srgbClr val="1B1B1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slide 7">
            <a:hlinkClick r:id="" action="ppaction://media"/>
            <a:extLst>
              <a:ext uri="{FF2B5EF4-FFF2-40B4-BE49-F238E27FC236}">
                <a16:creationId xmlns:a16="http://schemas.microsoft.com/office/drawing/2014/main" id="{4C37B270-133F-A9D7-AA2A-B66B3090AE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9300" y="6048565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86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1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E62529-07A8-2CF5-17A1-CCB0E5FB603E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057402-F221-0226-EC89-BF9A5FB50397}"/>
              </a:ext>
            </a:extLst>
          </p:cNvPr>
          <p:cNvSpPr txBox="1"/>
          <p:nvPr/>
        </p:nvSpPr>
        <p:spPr>
          <a:xfrm>
            <a:off x="685800" y="330200"/>
            <a:ext cx="1079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3B585"/>
                </a:solidFill>
                <a:latin typeface="Segoe UI" panose="020B0502040204020203" pitchFamily="34" charset="0"/>
              </a:rPr>
              <a:t>PART 2: INTO THE GPU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378F-1A31-3948-1660-7DF9F6AF524B}"/>
              </a:ext>
            </a:extLst>
          </p:cNvPr>
          <p:cNvSpPr txBox="1"/>
          <p:nvPr/>
        </p:nvSpPr>
        <p:spPr>
          <a:xfrm>
            <a:off x="685800" y="584200"/>
            <a:ext cx="10795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 b="1">
                <a:solidFill>
                  <a:srgbClr val="1B1B1B"/>
                </a:solidFill>
                <a:latin typeface="Segoe UI" panose="020B0502040204020203" pitchFamily="34" charset="0"/>
              </a:rPr>
              <a:t>One open item: at the largest payload, DAQiri delivered fewer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46F610-39D2-E4BA-BF64-0FA8F7B89957}"/>
              </a:ext>
            </a:extLst>
          </p:cNvPr>
          <p:cNvSpPr/>
          <p:nvPr/>
        </p:nvSpPr>
        <p:spPr>
          <a:xfrm>
            <a:off x="711200" y="16764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3B27B9-5952-330F-9095-327330CDC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981389"/>
            <a:ext cx="7620000" cy="42922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AF5A6B-763C-B4AD-7CBC-5C25108F9E02}"/>
              </a:ext>
            </a:extLst>
          </p:cNvPr>
          <p:cNvSpPr txBox="1"/>
          <p:nvPr/>
        </p:nvSpPr>
        <p:spPr>
          <a:xfrm>
            <a:off x="8382000" y="2413000"/>
            <a:ext cx="3365500" cy="1538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5A6470"/>
                </a:solidFill>
                <a:latin typeface="Segoe UI" panose="020B0502040204020203" pitchFamily="34" charset="0"/>
              </a:rPr>
              <a:t>The messages that did arrive were still fast. I am checking whether this is a limit of the test link or a setting we can change.</a:t>
            </a:r>
          </a:p>
        </p:txBody>
      </p:sp>
      <p:pic>
        <p:nvPicPr>
          <p:cNvPr id="6" name="slide 8">
            <a:hlinkClick r:id="" action="ppaction://media"/>
            <a:extLst>
              <a:ext uri="{FF2B5EF4-FFF2-40B4-BE49-F238E27FC236}">
                <a16:creationId xmlns:a16="http://schemas.microsoft.com/office/drawing/2014/main" id="{737B31D6-1ADC-5CED-4822-E75B82EAC4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9300" y="6273612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98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93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A9ECFD-3928-B245-7856-D2D144243126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243C5-FC85-70C5-047F-ED76F481999A}"/>
              </a:ext>
            </a:extLst>
          </p:cNvPr>
          <p:cNvSpPr txBox="1"/>
          <p:nvPr/>
        </p:nvSpPr>
        <p:spPr>
          <a:xfrm>
            <a:off x="685800" y="381000"/>
            <a:ext cx="10795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1B1B1B"/>
                </a:solidFill>
                <a:latin typeface="Segoe UI" panose="020B0502040204020203" pitchFamily="34" charset="0"/>
              </a:rPr>
              <a:t>The bottom line: moving data faster lets the GPU act in real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5106AE-4564-42C5-1AF4-C7D81E7BB8AF}"/>
              </a:ext>
            </a:extLst>
          </p:cNvPr>
          <p:cNvSpPr/>
          <p:nvPr/>
        </p:nvSpPr>
        <p:spPr>
          <a:xfrm>
            <a:off x="711200" y="16256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694AD7-B657-9AC7-8144-F5B3ABCCE43F}"/>
              </a:ext>
            </a:extLst>
          </p:cNvPr>
          <p:cNvSpPr txBox="1"/>
          <p:nvPr/>
        </p:nvSpPr>
        <p:spPr>
          <a:xfrm>
            <a:off x="685800" y="2159000"/>
            <a:ext cx="10795000" cy="32778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Up to 281 times lower latency and about four times the throughput, with no change to application code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A software transport using our gRPC Direct implementation that keeps pace with Nvidia’s dedicated acquisition hardware on the network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A GPU pipeline that reaches the accelerator in tens of microseconds instead of hundreds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That headroom makes tighter control loops and faster inference practical, and widens the hardware we can support</a:t>
            </a:r>
          </a:p>
        </p:txBody>
      </p:sp>
      <p:pic>
        <p:nvPicPr>
          <p:cNvPr id="6" name="Slide 9">
            <a:hlinkClick r:id="" action="ppaction://media"/>
            <a:extLst>
              <a:ext uri="{FF2B5EF4-FFF2-40B4-BE49-F238E27FC236}">
                <a16:creationId xmlns:a16="http://schemas.microsoft.com/office/drawing/2014/main" id="{47E78DCF-03AC-E8AD-8F2A-C5FCE2E7BC0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08000" y="5844375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327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5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AF412-8CF0-380B-3FFA-64F49E628828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811094-AEDF-66B1-E8D7-0C157D87D7F4}"/>
              </a:ext>
            </a:extLst>
          </p:cNvPr>
          <p:cNvSpPr txBox="1"/>
          <p:nvPr/>
        </p:nvSpPr>
        <p:spPr>
          <a:xfrm>
            <a:off x="685800" y="381000"/>
            <a:ext cx="10795000" cy="61555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000" b="1" dirty="0">
                <a:solidFill>
                  <a:srgbClr val="1B1B1B"/>
                </a:solidFill>
                <a:latin typeface="Segoe UI" panose="020B0502040204020203" pitchFamily="34" charset="0"/>
              </a:rPr>
              <a:t>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47507C-8114-805E-09A8-97E9EC384A49}"/>
              </a:ext>
            </a:extLst>
          </p:cNvPr>
          <p:cNvSpPr/>
          <p:nvPr/>
        </p:nvSpPr>
        <p:spPr>
          <a:xfrm>
            <a:off x="711200" y="1625600"/>
            <a:ext cx="889000" cy="63500"/>
          </a:xfrm>
          <a:prstGeom prst="rect">
            <a:avLst/>
          </a:prstGeom>
          <a:solidFill>
            <a:srgbClr val="03B58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99878-1E93-1909-7AFB-09249BD273FE}"/>
              </a:ext>
            </a:extLst>
          </p:cNvPr>
          <p:cNvSpPr txBox="1"/>
          <p:nvPr/>
        </p:nvSpPr>
        <p:spPr>
          <a:xfrm>
            <a:off x="685800" y="2159000"/>
            <a:ext cx="10795000" cy="143116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Find what causes the large payload delivery limit and run the test again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Confirm the results on the main network to GPU path using real hardware data</a:t>
            </a:r>
          </a:p>
          <a:p>
            <a:pPr marL="457200" indent="-457200">
              <a:spcAft>
                <a:spcPts val="1800"/>
              </a:spcAft>
              <a:buClr>
                <a:srgbClr val="03B585"/>
              </a:buClr>
              <a:buFont typeface="+mj-lt"/>
              <a:buChar char="•"/>
            </a:pPr>
            <a:r>
              <a:rPr lang="en-US" sz="2100" dirty="0">
                <a:solidFill>
                  <a:srgbClr val="1B1B1B"/>
                </a:solidFill>
                <a:latin typeface="Segoe UI" panose="020B0502040204020203" pitchFamily="34" charset="0"/>
              </a:rPr>
              <a:t>Write up the findings as a transport recommendation other NI teams can 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67F869-F2D4-0D70-E819-C99A88C58D3E}"/>
              </a:ext>
            </a:extLst>
          </p:cNvPr>
          <p:cNvSpPr txBox="1"/>
          <p:nvPr/>
        </p:nvSpPr>
        <p:spPr>
          <a:xfrm>
            <a:off x="685800" y="5969000"/>
            <a:ext cx="1079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 dirty="0">
                <a:solidFill>
                  <a:srgbClr val="03B585"/>
                </a:solidFill>
                <a:latin typeface="Segoe UI" panose="020B0502040204020203" pitchFamily="34" charset="0"/>
              </a:rPr>
              <a:t>Thanks. Happy to take questions.</a:t>
            </a:r>
          </a:p>
        </p:txBody>
      </p:sp>
      <p:pic>
        <p:nvPicPr>
          <p:cNvPr id="7" name="slide 10">
            <a:hlinkClick r:id="" action="ppaction://media"/>
            <a:extLst>
              <a:ext uri="{FF2B5EF4-FFF2-40B4-BE49-F238E27FC236}">
                <a16:creationId xmlns:a16="http://schemas.microsoft.com/office/drawing/2014/main" id="{E222D136-42F0-F20C-6C2D-032A2F57558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8000" y="5029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13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90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3279</TotalTime>
  <Words>1165</Words>
  <Application>Microsoft Office PowerPoint</Application>
  <PresentationFormat>Widescreen</PresentationFormat>
  <Paragraphs>80</Paragraphs>
  <Slides>10</Slides>
  <Notes>9</Notes>
  <HiddenSlides>0</HiddenSlides>
  <MMClips>10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Oluwadamilola</dc:creator>
  <cp:lastModifiedBy>Thomas, Oluwadamilola</cp:lastModifiedBy>
  <cp:revision>20</cp:revision>
  <dcterms:created xsi:type="dcterms:W3CDTF">2026-07-29T20:43:58Z</dcterms:created>
  <dcterms:modified xsi:type="dcterms:W3CDTF">2026-08-26T16:47:55Z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38901aa-f724-46bf-bb4f-aef09392934b_Enabled">
    <vt:lpwstr>true</vt:lpwstr>
  </property>
  <property fmtid="{D5CDD505-2E9C-101B-9397-08002B2CF9AE}" pid="3" name="MSIP_Label_d38901aa-f724-46bf-bb4f-aef09392934b_SetDate">
    <vt:lpwstr>2026-07-29T20:43:58Z</vt:lpwstr>
  </property>
  <property fmtid="{D5CDD505-2E9C-101B-9397-08002B2CF9AE}" pid="4" name="MSIP_Label_d38901aa-f724-46bf-bb4f-aef09392934b_Method">
    <vt:lpwstr>Standard</vt:lpwstr>
  </property>
  <property fmtid="{D5CDD505-2E9C-101B-9397-08002B2CF9AE}" pid="5" name="MSIP_Label_d38901aa-f724-46bf-bb4f-aef09392934b_Name">
    <vt:lpwstr>Internal - No Label</vt:lpwstr>
  </property>
  <property fmtid="{D5CDD505-2E9C-101B-9397-08002B2CF9AE}" pid="6" name="MSIP_Label_d38901aa-f724-46bf-bb4f-aef09392934b_SiteId">
    <vt:lpwstr>eb06985d-06ca-4a17-81da-629ab99f6505</vt:lpwstr>
  </property>
  <property fmtid="{D5CDD505-2E9C-101B-9397-08002B2CF9AE}" pid="7" name="MSIP_Label_d38901aa-f724-46bf-bb4f-aef09392934b_ActionId">
    <vt:lpwstr>7ed34bb2-dbeb-47dd-9cb9-95e5c7649961</vt:lpwstr>
  </property>
  <property fmtid="{D5CDD505-2E9C-101B-9397-08002B2CF9AE}" pid="8" name="MSIP_Label_d38901aa-f724-46bf-bb4f-aef09392934b_ContentBits">
    <vt:lpwstr>0</vt:lpwstr>
  </property>
  <property fmtid="{D5CDD505-2E9C-101B-9397-08002B2CF9AE}" pid="9" name="MSIP_Label_d38901aa-f724-46bf-bb4f-aef09392934b_Tag">
    <vt:lpwstr>10, 3, 0, 1</vt:lpwstr>
  </property>
</Properties>
</file>
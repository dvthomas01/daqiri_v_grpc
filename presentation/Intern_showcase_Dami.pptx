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6" r:id="rId9"/>
    <p:sldId id="267" r:id="rId10"/>
    <p:sldId id="268" r:id="rId11"/>
    <p:sldId id="269" r:id="rId12"/>
    <p:sldId id="270" r:id="rId13"/>
    <p:sldId id="271" r:id="rId14"/>
    <p:sldId id="264" r:id="rId15"/>
  </p:sldIdLst>
  <p:sldSz cx="12192000" cy="6858000"/>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907" autoAdjust="0"/>
  </p:normalViewPr>
  <p:slideViewPr>
    <p:cSldViewPr snapToGrid="0">
      <p:cViewPr>
        <p:scale>
          <a:sx n="50" d="100"/>
          <a:sy n="50" d="100"/>
        </p:scale>
        <p:origin x="460" y="-49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A67845-44EE-468A-B3F4-DD2E5590B9B0}"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34F6A8-3E44-4C63-86E5-776686C4AB5B}" type="slidenum">
              <a:rPr lang="en-US" smtClean="0"/>
              <a:t>‹#›</a:t>
            </a:fld>
            <a:endParaRPr lang="en-US"/>
          </a:p>
        </p:txBody>
      </p:sp>
    </p:spTree>
    <p:extLst>
      <p:ext uri="{BB962C8B-B14F-4D97-AF65-F5344CB8AC3E}">
        <p14:creationId xmlns:p14="http://schemas.microsoft.com/office/powerpoint/2010/main" val="2732178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[20 sec]</a:t>
            </a:r>
          </a:p>
          <a:p>
            <a:r>
              <a:rPr lang="en-US"/>
              <a:t>I'm Dami. I spent the summer on one question: when an instrument is producing data without stopping, how long does it take to get that data into a GPU, and what is actually eating the time.</a:t>
            </a:r>
          </a:p>
          <a:p>
            <a:r>
              <a:rPr lang="en-US"/>
              <a:t>I'll go through the path in two stages, then what I did about the gap I found.</a:t>
            </a:r>
            <a:endParaRPr lang="en-US" dirty="0"/>
          </a:p>
        </p:txBody>
      </p:sp>
      <p:sp>
        <p:nvSpPr>
          <p:cNvPr id="4" name="Slide Number Placeholder 3"/>
          <p:cNvSpPr>
            <a:spLocks noGrp="1"/>
          </p:cNvSpPr>
          <p:nvPr>
            <p:ph type="sldNum" sz="quarter" idx="5"/>
          </p:nvPr>
        </p:nvSpPr>
        <p:spPr/>
        <p:txBody>
          <a:bodyPr/>
          <a:lstStyle/>
          <a:p>
            <a:fld id="{E334F6A8-3E44-4C63-86E5-776686C4AB5B}" type="slidenum">
              <a:rPr lang="en-US" smtClean="0"/>
              <a:t>1</a:t>
            </a:fld>
            <a:endParaRPr lang="en-US"/>
          </a:p>
        </p:txBody>
      </p:sp>
    </p:spTree>
    <p:extLst>
      <p:ext uri="{BB962C8B-B14F-4D97-AF65-F5344CB8AC3E}">
        <p14:creationId xmlns:p14="http://schemas.microsoft.com/office/powerpoint/2010/main" val="121493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a:solidFill>
                  <a:schemeClr val="tx1"/>
                </a:solidFill>
                <a:effectLst/>
                <a:latin typeface="+mn-lt"/>
                <a:ea typeface="+mn-ea"/>
                <a:cs typeface="+mn-cs"/>
              </a:rPr>
              <a:t>[60 sec]</a:t>
            </a:r>
          </a:p>
          <a:p>
            <a:r>
              <a:rPr lang="en-US" b="0" i="0" kern="1200">
                <a:solidFill>
                  <a:schemeClr val="tx1"/>
                </a:solidFill>
                <a:effectLst/>
                <a:latin typeface="+mn-lt"/>
                <a:ea typeface="+mn-ea"/>
                <a:cs typeface="+mn-cs"/>
              </a:rPr>
              <a:t>When GPU work is slow, people assume the math is slow. Usually it isn't. A 4 megabyte FFT on this hardware takes about 60 microseconds. Getting those 4 megabytes to the GPU can take twice that.</a:t>
            </a:r>
          </a:p>
          <a:p>
            <a:r>
              <a:rPr lang="en-US" b="0" i="0" kern="1200">
                <a:solidFill>
                  <a:schemeClr val="tx1"/>
                </a:solidFill>
                <a:effectLst/>
                <a:latin typeface="+mn-lt"/>
                <a:ea typeface="+mn-ea"/>
                <a:cs typeface="+mn-cs"/>
              </a:rPr>
              <a:t>So the interesting problem is the plumbing, not the math. I split the path into two stages and measured what each one adds.</a:t>
            </a:r>
          </a:p>
          <a:p>
            <a:r>
              <a:rPr lang="en-US" b="0" i="0" kern="1200">
                <a:solidFill>
                  <a:schemeClr val="tx1"/>
                </a:solidFill>
                <a:effectLst/>
                <a:latin typeface="+mn-lt"/>
                <a:ea typeface="+mn-ea"/>
                <a:cs typeface="+mn-cs"/>
              </a:rPr>
              <a:t>Part 1 is the network: instrument to computer. Part 2 is memory: computer to GPU. Part 3 is what I did about what I found in Part 2.</a:t>
            </a:r>
            <a:endParaRPr lang="en-US" dirty="0"/>
          </a:p>
        </p:txBody>
      </p:sp>
      <p:sp>
        <p:nvSpPr>
          <p:cNvPr id="4" name="Slide Number Placeholder 3"/>
          <p:cNvSpPr>
            <a:spLocks noGrp="1"/>
          </p:cNvSpPr>
          <p:nvPr>
            <p:ph type="sldNum" sz="quarter" idx="5"/>
          </p:nvPr>
        </p:nvSpPr>
        <p:spPr/>
        <p:txBody>
          <a:bodyPr/>
          <a:lstStyle/>
          <a:p>
            <a:fld id="{E334F6A8-3E44-4C63-86E5-776686C4AB5B}" type="slidenum">
              <a:rPr lang="en-US" smtClean="0"/>
              <a:t>2</a:t>
            </a:fld>
            <a:endParaRPr lang="en-US"/>
          </a:p>
        </p:txBody>
      </p:sp>
    </p:spTree>
    <p:extLst>
      <p:ext uri="{BB962C8B-B14F-4D97-AF65-F5344CB8AC3E}">
        <p14:creationId xmlns:p14="http://schemas.microsoft.com/office/powerpoint/2010/main" val="10997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a:solidFill>
                  <a:schemeClr val="tx1"/>
                </a:solidFill>
                <a:effectLst/>
                <a:latin typeface="+mn-lt"/>
                <a:ea typeface="+mn-ea"/>
                <a:cs typeface="+mn-cs"/>
              </a:rPr>
              <a:t>[70 sec]</a:t>
            </a:r>
          </a:p>
          <a:p>
            <a:r>
              <a:rPr lang="en-US" b="0" i="0" kern="1200">
                <a:solidFill>
                  <a:schemeClr val="tx1"/>
                </a:solidFill>
                <a:effectLst/>
                <a:latin typeface="+mn-lt"/>
                <a:ea typeface="+mn-ea"/>
                <a:cs typeface="+mn-cs"/>
              </a:rPr>
              <a:t>Same application code in all three bars. Only the transport underneath changes.</a:t>
            </a:r>
          </a:p>
          <a:p>
            <a:r>
              <a:rPr lang="en-US" b="0" i="0" kern="1200">
                <a:solidFill>
                  <a:schemeClr val="tx1"/>
                </a:solidFill>
                <a:effectLst/>
                <a:latin typeface="+mn-lt"/>
                <a:ea typeface="+mn-ea"/>
                <a:cs typeface="+mn-cs"/>
              </a:rPr>
              <a:t>Standard gRPC over a socket does a round trip in about 929 microseconds. Fast TCP is the same TCP with Nagle's algorithm turned off. Nagle is a rule that holds a small send while it waits for an acknowledgement, which is exactly wrong for send-one-wait-for-reply traffic. Turning it off gets you to 21 microseconds.</a:t>
            </a:r>
          </a:p>
          <a:p>
            <a:r>
              <a:rPr lang="en-US" b="0" i="0" kern="1200">
                <a:solidFill>
                  <a:schemeClr val="tx1"/>
                </a:solidFill>
                <a:effectLst/>
                <a:latin typeface="+mn-lt"/>
                <a:ea typeface="+mn-ea"/>
                <a:cs typeface="+mn-cs"/>
              </a:rPr>
              <a:t>Shared memory drops it to 3.3, because the receiver reads the same physical pages the sender wrote. Nothing moves.</a:t>
            </a:r>
          </a:p>
          <a:p>
            <a:r>
              <a:rPr lang="en-US" b="0" i="0" kern="1200">
                <a:solidFill>
                  <a:schemeClr val="tx1"/>
                </a:solidFill>
                <a:effectLst/>
                <a:latin typeface="+mn-lt"/>
                <a:ea typeface="+mn-ea"/>
                <a:cs typeface="+mn-cs"/>
              </a:rPr>
              <a:t>Say this out loud: all three are on one machine. This is the software cost, not the wire.</a:t>
            </a:r>
            <a:endParaRPr lang="en-US" dirty="0"/>
          </a:p>
        </p:txBody>
      </p:sp>
      <p:sp>
        <p:nvSpPr>
          <p:cNvPr id="4" name="Slide Number Placeholder 3"/>
          <p:cNvSpPr>
            <a:spLocks noGrp="1"/>
          </p:cNvSpPr>
          <p:nvPr>
            <p:ph type="sldNum" sz="quarter" idx="5"/>
          </p:nvPr>
        </p:nvSpPr>
        <p:spPr/>
        <p:txBody>
          <a:bodyPr/>
          <a:lstStyle/>
          <a:p>
            <a:fld id="{E334F6A8-3E44-4C63-86E5-776686C4AB5B}" type="slidenum">
              <a:rPr lang="en-US" smtClean="0"/>
              <a:t>3</a:t>
            </a:fld>
            <a:endParaRPr lang="en-US"/>
          </a:p>
        </p:txBody>
      </p:sp>
    </p:spTree>
    <p:extLst>
      <p:ext uri="{BB962C8B-B14F-4D97-AF65-F5344CB8AC3E}">
        <p14:creationId xmlns:p14="http://schemas.microsoft.com/office/powerpoint/2010/main" val="847865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a:solidFill>
                  <a:schemeClr val="tx1"/>
                </a:solidFill>
                <a:effectLst/>
                <a:latin typeface="+mn-lt"/>
                <a:ea typeface="+mn-ea"/>
                <a:cs typeface="+mn-cs"/>
              </a:rPr>
              <a:t>[55 sec]</a:t>
            </a:r>
          </a:p>
          <a:p>
            <a:r>
              <a:rPr lang="en-US" b="0" i="0" kern="1200">
                <a:solidFill>
                  <a:schemeClr val="tx1"/>
                </a:solidFill>
                <a:effectLst/>
                <a:latin typeface="+mn-lt"/>
                <a:ea typeface="+mn-ea"/>
                <a:cs typeface="+mn-cs"/>
              </a:rPr>
              <a:t>Same idea, but throughput instead of latency, and still one machine.</a:t>
            </a:r>
          </a:p>
          <a:p>
            <a:r>
              <a:rPr lang="en-US" b="0" i="0" kern="1200">
                <a:solidFill>
                  <a:schemeClr val="tx1"/>
                </a:solidFill>
                <a:effectLst/>
                <a:latin typeface="+mn-lt"/>
                <a:ea typeface="+mn-ea"/>
                <a:cs typeface="+mn-cs"/>
              </a:rPr>
              <a:t>Standard gRPC copies the payload at least twice: once to serialize it, once for the receiver to unpack it. That caps it near 1.78 gigabytes a second. The zero copy path writes straight into memory the receiver already maps, so nothing is copied, and it runs about four times faster.</a:t>
            </a:r>
          </a:p>
          <a:p>
            <a:r>
              <a:rPr lang="en-US" b="0" i="0" kern="1200">
                <a:solidFill>
                  <a:schemeClr val="tx1"/>
                </a:solidFill>
                <a:effectLst/>
                <a:latin typeface="+mn-lt"/>
                <a:ea typeface="+mn-ea"/>
                <a:cs typeface="+mn-cs"/>
              </a:rPr>
              <a:t>One caveat I'd rather say than be caught on: this number comes from an earlier run and I don't have the full conditions written down. The direction is right. Don't hold me to the decimal.</a:t>
            </a:r>
            <a:endParaRPr lang="en-US" dirty="0"/>
          </a:p>
        </p:txBody>
      </p:sp>
      <p:sp>
        <p:nvSpPr>
          <p:cNvPr id="4" name="Slide Number Placeholder 3"/>
          <p:cNvSpPr>
            <a:spLocks noGrp="1"/>
          </p:cNvSpPr>
          <p:nvPr>
            <p:ph type="sldNum" sz="quarter" idx="5"/>
          </p:nvPr>
        </p:nvSpPr>
        <p:spPr/>
        <p:txBody>
          <a:bodyPr/>
          <a:lstStyle/>
          <a:p>
            <a:fld id="{E334F6A8-3E44-4C63-86E5-776686C4AB5B}" type="slidenum">
              <a:rPr lang="en-US" smtClean="0"/>
              <a:t>4</a:t>
            </a:fld>
            <a:endParaRPr lang="en-US"/>
          </a:p>
        </p:txBody>
      </p:sp>
    </p:spTree>
    <p:extLst>
      <p:ext uri="{BB962C8B-B14F-4D97-AF65-F5344CB8AC3E}">
        <p14:creationId xmlns:p14="http://schemas.microsoft.com/office/powerpoint/2010/main" val="1494228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[70 sec]</a:t>
            </a:r>
          </a:p>
          <a:p>
            <a:r>
              <a:rPr lang="en-US"/>
              <a:t>Now a real network link.</a:t>
            </a:r>
          </a:p>
          <a:p>
            <a:r>
              <a:rPr lang="en-US"/>
              <a:t>The math: 50 gigabits per second, divide by 8, gives 6.25 gigabytes per second as the ceiling. We measured 6.13. That's 98 percent.</a:t>
            </a:r>
          </a:p>
          <a:p>
            <a:r>
              <a:rPr lang="en-US"/>
              <a:t>If someone asks how you reach 98 percent with packet headers in the way: at a 4 kilobyte MTU, the Ethernet, IP, UDP and RoCE headers add up to roughly 82 bytes per packet, which is about 2 percent. So 98 is the ceiling for this frame size, and we're sitting on it.</a:t>
            </a:r>
          </a:p>
          <a:p>
            <a:r>
              <a:rPr lang="en-US"/>
              <a:t>This is throughput. How long a single buffer takes to arrive is a separate question, and that's Part 2.</a:t>
            </a:r>
            <a:endParaRPr lang="en-US" dirty="0"/>
          </a:p>
        </p:txBody>
      </p:sp>
      <p:sp>
        <p:nvSpPr>
          <p:cNvPr id="4" name="Slide Number Placeholder 3"/>
          <p:cNvSpPr>
            <a:spLocks noGrp="1"/>
          </p:cNvSpPr>
          <p:nvPr>
            <p:ph type="sldNum" sz="quarter" idx="5"/>
          </p:nvPr>
        </p:nvSpPr>
        <p:spPr/>
        <p:txBody>
          <a:bodyPr/>
          <a:lstStyle/>
          <a:p>
            <a:fld id="{E334F6A8-3E44-4C63-86E5-776686C4AB5B}" type="slidenum">
              <a:rPr lang="en-US" smtClean="0"/>
              <a:t>5</a:t>
            </a:fld>
            <a:endParaRPr lang="en-US"/>
          </a:p>
        </p:txBody>
      </p:sp>
    </p:spTree>
    <p:extLst>
      <p:ext uri="{BB962C8B-B14F-4D97-AF65-F5344CB8AC3E}">
        <p14:creationId xmlns:p14="http://schemas.microsoft.com/office/powerpoint/2010/main" val="22024790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a:solidFill>
                  <a:schemeClr val="tx1"/>
                </a:solidFill>
                <a:effectLst/>
                <a:latin typeface="+mn-lt"/>
                <a:ea typeface="+mn-ea"/>
                <a:cs typeface="+mn-cs"/>
              </a:rPr>
              <a:t>[60 sec]</a:t>
            </a:r>
          </a:p>
          <a:p>
            <a:r>
              <a:rPr lang="en-US" b="0" i="0" kern="1200">
                <a:solidFill>
                  <a:schemeClr val="tx1"/>
                </a:solidFill>
                <a:effectLst/>
                <a:latin typeface="+mn-lt"/>
                <a:ea typeface="+mn-ea"/>
                <a:cs typeface="+mn-cs"/>
              </a:rPr>
              <a:t>Second stage, computer to GPU.</a:t>
            </a:r>
          </a:p>
          <a:p>
            <a:r>
              <a:rPr lang="en-US" b="0" i="0" kern="1200">
                <a:solidFill>
                  <a:schemeClr val="tx1"/>
                </a:solidFill>
                <a:effectLst/>
                <a:latin typeface="+mn-lt"/>
                <a:ea typeface="+mn-ea"/>
                <a:cs typeface="+mn-cs"/>
              </a:rPr>
              <a:t>This machine has unified memory, so the CPU and GPU share one pool. A buffer in host memory can be read by the GPU with no transfer at all, if you set it up correctly. Both transports now do that.</a:t>
            </a:r>
          </a:p>
          <a:p>
            <a:r>
              <a:rPr lang="en-US" b="0" i="0" kern="1200">
                <a:solidFill>
                  <a:schemeClr val="tx1"/>
                </a:solidFill>
                <a:effectLst/>
                <a:latin typeface="+mn-lt"/>
                <a:ea typeface="+mn-ea"/>
                <a:cs typeface="+mn-cs"/>
              </a:rPr>
              <a:t>That matters for the next slide. From here on, when one is faster than the other, it is not because one is copying and the other isn't. They start level.</a:t>
            </a:r>
            <a:endParaRPr lang="en-US" dirty="0"/>
          </a:p>
        </p:txBody>
      </p:sp>
      <p:sp>
        <p:nvSpPr>
          <p:cNvPr id="4" name="Slide Number Placeholder 3"/>
          <p:cNvSpPr>
            <a:spLocks noGrp="1"/>
          </p:cNvSpPr>
          <p:nvPr>
            <p:ph type="sldNum" sz="quarter" idx="5"/>
          </p:nvPr>
        </p:nvSpPr>
        <p:spPr/>
        <p:txBody>
          <a:bodyPr/>
          <a:lstStyle/>
          <a:p>
            <a:fld id="{E334F6A8-3E44-4C63-86E5-776686C4AB5B}" type="slidenum">
              <a:rPr lang="en-US" smtClean="0"/>
              <a:t>6</a:t>
            </a:fld>
            <a:endParaRPr lang="en-US"/>
          </a:p>
        </p:txBody>
      </p:sp>
    </p:spTree>
    <p:extLst>
      <p:ext uri="{BB962C8B-B14F-4D97-AF65-F5344CB8AC3E}">
        <p14:creationId xmlns:p14="http://schemas.microsoft.com/office/powerpoint/2010/main" val="1167452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a:solidFill>
                  <a:schemeClr val="tx1"/>
                </a:solidFill>
                <a:effectLst/>
                <a:latin typeface="+mn-lt"/>
                <a:ea typeface="+mn-ea"/>
                <a:cs typeface="+mn-cs"/>
              </a:rPr>
              <a:t>[70 sec]</a:t>
            </a:r>
          </a:p>
          <a:p>
            <a:r>
              <a:rPr lang="en-US" b="0" i="0" kern="1200">
                <a:solidFill>
                  <a:schemeClr val="tx1"/>
                </a:solidFill>
                <a:effectLst/>
                <a:latin typeface="+mn-lt"/>
                <a:ea typeface="+mn-ea"/>
                <a:cs typeface="+mn-cs"/>
              </a:rPr>
              <a:t>This is the comparison that set up the rest of my summer.</a:t>
            </a:r>
          </a:p>
          <a:p>
            <a:r>
              <a:rPr lang="en-US" b="0" i="0" kern="1200">
                <a:solidFill>
                  <a:schemeClr val="tx1"/>
                </a:solidFill>
                <a:effectLst/>
                <a:latin typeface="+mn-lt"/>
                <a:ea typeface="+mn-ea"/>
                <a:cs typeface="+mn-cs"/>
              </a:rPr>
              <a:t>Time for one buffer to go from arrival to a finished FFT, at four payload sizes. DAQiri is ahead at every one, by 27 to 64 percent.</a:t>
            </a:r>
          </a:p>
          <a:p>
            <a:r>
              <a:rPr lang="en-US" b="0" i="0" kern="1200">
                <a:solidFill>
                  <a:schemeClr val="tx1"/>
                </a:solidFill>
                <a:effectLst/>
                <a:latin typeface="+mn-lt"/>
                <a:ea typeface="+mn-ea"/>
                <a:cs typeface="+mn-cs"/>
              </a:rPr>
              <a:t>Notice that Part 1 and Part 2 point different ways. On throughput the two are close. On per-buffer latency they aren't. Those are genuinely different questions. Throughput asks how much fits down the pipe. Latency asks how long one thing takes to get through. A system can be good at one and bad at the other.</a:t>
            </a:r>
          </a:p>
          <a:p>
            <a:r>
              <a:rPr lang="en-US" b="0" i="0" kern="1200">
                <a:solidFill>
                  <a:schemeClr val="tx1"/>
                </a:solidFill>
                <a:effectLst/>
                <a:latin typeface="+mn-lt"/>
                <a:ea typeface="+mn-ea"/>
                <a:cs typeface="+mn-cs"/>
              </a:rPr>
              <a:t>So: why is DAQiri ahead? That's Part 3.</a:t>
            </a:r>
            <a:endParaRPr lang="en-US" dirty="0"/>
          </a:p>
        </p:txBody>
      </p:sp>
      <p:sp>
        <p:nvSpPr>
          <p:cNvPr id="4" name="Slide Number Placeholder 3"/>
          <p:cNvSpPr>
            <a:spLocks noGrp="1"/>
          </p:cNvSpPr>
          <p:nvPr>
            <p:ph type="sldNum" sz="quarter" idx="5"/>
          </p:nvPr>
        </p:nvSpPr>
        <p:spPr/>
        <p:txBody>
          <a:bodyPr/>
          <a:lstStyle/>
          <a:p>
            <a:fld id="{E334F6A8-3E44-4C63-86E5-776686C4AB5B}" type="slidenum">
              <a:rPr lang="en-US" smtClean="0"/>
              <a:t>7</a:t>
            </a:fld>
            <a:endParaRPr lang="en-US"/>
          </a:p>
        </p:txBody>
      </p:sp>
    </p:spTree>
    <p:extLst>
      <p:ext uri="{BB962C8B-B14F-4D97-AF65-F5344CB8AC3E}">
        <p14:creationId xmlns:p14="http://schemas.microsoft.com/office/powerpoint/2010/main" val="420236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[75 sec]</a:t>
            </a:r>
          </a:p>
          <a:p>
            <a:r>
              <a:rPr lang="en-US"/>
              <a:t>The trick on this slide is simple. Take the total time, subtract the FFT time. What's left is everything the pipeline does around the math.</a:t>
            </a:r>
          </a:p>
          <a:p>
            <a:r>
              <a:rPr lang="en-US"/>
              <a:t>Now look at the shape, not the values. DAQiri's leftover time is flat: about 5 microseconds whether the buffer is 16 kilobytes or 4 megabytes. Flat means fixed overhead. A setup step, a launch, a notification. It doesn't care how much data there is.</a:t>
            </a:r>
          </a:p>
          <a:p>
            <a:r>
              <a:rPr lang="en-US"/>
              <a:t>gRPC Direct's climbs from 8 to 82. A cost that grows with the byte count means something is reading or writing every byte.</a:t>
            </a:r>
          </a:p>
          <a:p>
            <a:r>
              <a:rPr lang="en-US"/>
              <a:t>So I stopped looking for a slow FFT and started looking for a copy.</a:t>
            </a:r>
            <a:endParaRPr lang="en-US" dirty="0"/>
          </a:p>
        </p:txBody>
      </p:sp>
      <p:sp>
        <p:nvSpPr>
          <p:cNvPr id="4" name="Slide Number Placeholder 3"/>
          <p:cNvSpPr>
            <a:spLocks noGrp="1"/>
          </p:cNvSpPr>
          <p:nvPr>
            <p:ph type="sldNum" sz="quarter" idx="5"/>
          </p:nvPr>
        </p:nvSpPr>
        <p:spPr/>
        <p:txBody>
          <a:bodyPr/>
          <a:lstStyle/>
          <a:p>
            <a:fld id="{E334F6A8-3E44-4C63-86E5-776686C4AB5B}" type="slidenum">
              <a:rPr lang="en-US" smtClean="0"/>
              <a:t>8</a:t>
            </a:fld>
            <a:endParaRPr lang="en-US"/>
          </a:p>
        </p:txBody>
      </p:sp>
    </p:spTree>
    <p:extLst>
      <p:ext uri="{BB962C8B-B14F-4D97-AF65-F5344CB8AC3E}">
        <p14:creationId xmlns:p14="http://schemas.microsoft.com/office/powerpoint/2010/main" val="2202479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[85 sec]</a:t>
            </a:r>
          </a:p>
          <a:p>
            <a:r>
              <a:rPr lang="en-US"/>
              <a:t>And there was one.</a:t>
            </a:r>
          </a:p>
          <a:p>
            <a:r>
              <a:rPr lang="en-US"/>
              <a:t>Every location in memory has an address, which is just a number. 16 byte aligned means that number divides evenly by 16. Some wide load instructions prefer that.</a:t>
            </a:r>
          </a:p>
          <a:p>
            <a:r>
              <a:rPr lang="en-US"/>
              <a:t>Our receiver had a line that said: if this buffer isn't 16 byte aligned, copy it somewhere that is. That looks like careful code. The problem is that protobuf, the library that packs the message, guarantees 8 byte alignment and never promises 16. So the check failed on every single message, forever, and every message paid to copy itself. cuFFT was happy with 8 the whole time.</a:t>
            </a:r>
          </a:p>
          <a:p>
            <a:r>
              <a:rPr lang="en-US"/>
              <a:t>The fix stops guessing. If the pointer isn't 16 aligned, we ask cuFFT directly whether it will take it. It says yes, and the copy disappears.</a:t>
            </a:r>
          </a:p>
          <a:p>
            <a:r>
              <a:rPr lang="en-US"/>
              <a:t>Why did this hide for so long? The copy is asynchronous. The call returns when the work is queued, not when the bytes have moved. Our timer read 3.5 microseconds. The real 77 showed up later and got billed to the FFT. Worth remembering: an async API will happily let you time the wrong thing.</a:t>
            </a:r>
            <a:endParaRPr lang="en-US" dirty="0"/>
          </a:p>
        </p:txBody>
      </p:sp>
      <p:sp>
        <p:nvSpPr>
          <p:cNvPr id="4" name="Slide Number Placeholder 3"/>
          <p:cNvSpPr>
            <a:spLocks noGrp="1"/>
          </p:cNvSpPr>
          <p:nvPr>
            <p:ph type="sldNum" sz="quarter" idx="5"/>
          </p:nvPr>
        </p:nvSpPr>
        <p:spPr/>
        <p:txBody>
          <a:bodyPr/>
          <a:lstStyle/>
          <a:p>
            <a:fld id="{E334F6A8-3E44-4C63-86E5-776686C4AB5B}" type="slidenum">
              <a:rPr lang="en-US" smtClean="0"/>
              <a:t>9</a:t>
            </a:fld>
            <a:endParaRPr lang="en-US"/>
          </a:p>
        </p:txBody>
      </p:sp>
    </p:spTree>
    <p:extLst>
      <p:ext uri="{BB962C8B-B14F-4D97-AF65-F5344CB8AC3E}">
        <p14:creationId xmlns:p14="http://schemas.microsoft.com/office/powerpoint/2010/main" val="2202479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[65 sec]</a:t>
            </a:r>
          </a:p>
          <a:p>
            <a:r>
              <a:rPr lang="en-US"/>
              <a:t>That fix was worth 1.71 times. DAQiri is still ahead, so where is the rest of it.</a:t>
            </a:r>
          </a:p>
          <a:p>
            <a:r>
              <a:rPr lang="en-US"/>
              <a:t>I split the remaining gap in two: the part inside the FFT library and the part outside it. Outside stays under 2 microseconds at every size. Inside grows with the payload, and at 4 megabytes it's 79 percent of what's left.</a:t>
            </a:r>
          </a:p>
          <a:p>
            <a:r>
              <a:rPr lang="en-US"/>
              <a:t>Launch overhead doesn't grow with payload, so this isn't launch overhead. It points at the buffer itself, at where the data is sitting when cuFFT reads it. Which is what sent me into memory.</a:t>
            </a:r>
            <a:endParaRPr lang="en-US" dirty="0"/>
          </a:p>
        </p:txBody>
      </p:sp>
      <p:sp>
        <p:nvSpPr>
          <p:cNvPr id="4" name="Slide Number Placeholder 3"/>
          <p:cNvSpPr>
            <a:spLocks noGrp="1"/>
          </p:cNvSpPr>
          <p:nvPr>
            <p:ph type="sldNum" sz="quarter" idx="5"/>
          </p:nvPr>
        </p:nvSpPr>
        <p:spPr/>
        <p:txBody>
          <a:bodyPr/>
          <a:lstStyle/>
          <a:p>
            <a:fld id="{E334F6A8-3E44-4C63-86E5-776686C4AB5B}" type="slidenum">
              <a:rPr lang="en-US" smtClean="0"/>
              <a:t>10</a:t>
            </a:fld>
            <a:endParaRPr lang="en-US"/>
          </a:p>
        </p:txBody>
      </p:sp>
    </p:spTree>
    <p:extLst>
      <p:ext uri="{BB962C8B-B14F-4D97-AF65-F5344CB8AC3E}">
        <p14:creationId xmlns:p14="http://schemas.microsoft.com/office/powerpoint/2010/main" val="2202479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[90 sec] Slow down here. This is the slide worth remembering.</a:t>
            </a:r>
          </a:p>
          <a:p>
            <a:r>
              <a:rPr lang="en-US"/>
              <a:t>There are two ways to get host memory a GPU can read. Let CUDA allocate the pages, or hand CUDA pages your program already owns.</a:t>
            </a:r>
          </a:p>
          <a:p>
            <a:r>
              <a:rPr lang="en-US"/>
              <a:t>Ours measured slower every way I tried it, by 7 to 11 microseconds, fifteen runs out of fifteen. That result is why I built the RDMA receiver the way I did.</a:t>
            </a:r>
          </a:p>
          <a:p>
            <a:r>
              <a:rPr lang="en-US"/>
              <a:t>Then I removed one thing from the test: the CPU loop that filled the buffer. The sign flipped. Ours came out 11 microseconds faster.</a:t>
            </a:r>
          </a:p>
          <a:p>
            <a:r>
              <a:rPr lang="en-US"/>
              <a:t>So I went and measured it in the setup that actually ships, where a network card fills the buffer and no CPU ever touches it. There the two are indistinguishable.</a:t>
            </a:r>
          </a:p>
          <a:p>
            <a:r>
              <a:rPr lang="en-US"/>
              <a:t>Both of the earlier measurements were correct about what they measured. The mistake on offer was carrying one of them into a configuration it had never seen. I nearly did.</a:t>
            </a:r>
            <a:endParaRPr lang="en-US" dirty="0"/>
          </a:p>
        </p:txBody>
      </p:sp>
      <p:sp>
        <p:nvSpPr>
          <p:cNvPr id="4" name="Slide Number Placeholder 3"/>
          <p:cNvSpPr>
            <a:spLocks noGrp="1"/>
          </p:cNvSpPr>
          <p:nvPr>
            <p:ph type="sldNum" sz="quarter" idx="5"/>
          </p:nvPr>
        </p:nvSpPr>
        <p:spPr/>
        <p:txBody>
          <a:bodyPr/>
          <a:lstStyle/>
          <a:p>
            <a:fld id="{E334F6A8-3E44-4C63-86E5-776686C4AB5B}" type="slidenum">
              <a:rPr lang="en-US" smtClean="0"/>
              <a:t>11</a:t>
            </a:fld>
            <a:endParaRPr lang="en-US"/>
          </a:p>
        </p:txBody>
      </p:sp>
    </p:spTree>
    <p:extLst>
      <p:ext uri="{BB962C8B-B14F-4D97-AF65-F5344CB8AC3E}">
        <p14:creationId xmlns:p14="http://schemas.microsoft.com/office/powerpoint/2010/main" val="2202479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[95 sec]</a:t>
            </a:r>
          </a:p>
          <a:p>
            <a:r>
              <a:rPr lang="en-US"/>
              <a:t>This is what I built.</a:t>
            </a:r>
          </a:p>
          <a:p>
            <a:r>
              <a:rPr lang="en-US"/>
              <a:t>On this chip, GPUDirect, where the card writes straight into GPU memory, isn't available. So the supported route is one host buffer registered twice: once with the network card, once with CUDA. Same bytes, two owners.</a:t>
            </a:r>
          </a:p>
          <a:p>
            <a:r>
              <a:rPr lang="en-US"/>
              <a:t>The card writes into it directly. cuFFT reads it where it landed. Nothing is staged anywhere. On a machine without GPUDirect that is the shortest path there is. There is no version of this that copies less.</a:t>
            </a:r>
          </a:p>
          <a:p>
            <a:r>
              <a:rPr lang="en-US"/>
              <a:t>On the next slide this path measures about 9 microseconds behind the local shared memory one, and I would rather be the one who says why that is still the result I would keep.</a:t>
            </a:r>
          </a:p>
          <a:p>
            <a:r>
              <a:rPr lang="en-US"/>
              <a:t>It is the only one of the four that can cross a machine boundary. The other three need the sender and the receiver in the same box. Shared memory has no answer to 'the instrument is over there.'</a:t>
            </a:r>
          </a:p>
          <a:p>
            <a:r>
              <a:rPr lang="en-US"/>
              <a:t>And DAQiri needs CUDA at both ends. The instrument chassis has no NVIDIA GPU in it. So on the topology we actually ship, the comparison is not 83 against 66. It is 83 against not possible.</a:t>
            </a:r>
          </a:p>
          <a:p>
            <a:r>
              <a:rPr lang="en-US"/>
              <a:t>It reaches 98 percent of line rate, so the ceiling is the hardware's and not ours. Put a faster link under it and the same code follows the link up.</a:t>
            </a:r>
          </a:p>
          <a:p>
            <a:r>
              <a:rPr lang="en-US"/>
              <a:t>For scale: moving 4 megabytes across 50 gigabit takes about 670 microseconds on the wire. Nine microseconds of receive-side work is under 2 percent of that. On a real hop it is not the thing you would notice.</a:t>
            </a:r>
          </a:p>
          <a:p>
            <a:r>
              <a:rPr lang="en-US"/>
              <a:t>And it is built from ordinary supported pieces: RoCE, a standard memory registration, and cudaHostRegister. Nothing here depends on a driver trick, so somebody can maintain it after I leave.</a:t>
            </a:r>
            <a:endParaRPr lang="en-US" dirty="0"/>
          </a:p>
        </p:txBody>
      </p:sp>
      <p:sp>
        <p:nvSpPr>
          <p:cNvPr id="4" name="Slide Number Placeholder 3"/>
          <p:cNvSpPr>
            <a:spLocks noGrp="1"/>
          </p:cNvSpPr>
          <p:nvPr>
            <p:ph type="sldNum" sz="quarter" idx="5"/>
          </p:nvPr>
        </p:nvSpPr>
        <p:spPr/>
        <p:txBody>
          <a:bodyPr/>
          <a:lstStyle/>
          <a:p>
            <a:fld id="{E334F6A8-3E44-4C63-86E5-776686C4AB5B}" type="slidenum">
              <a:rPr lang="en-US" smtClean="0"/>
              <a:t>12</a:t>
            </a:fld>
            <a:endParaRPr lang="en-US"/>
          </a:p>
        </p:txBody>
      </p:sp>
    </p:spTree>
    <p:extLst>
      <p:ext uri="{BB962C8B-B14F-4D97-AF65-F5344CB8AC3E}">
        <p14:creationId xmlns:p14="http://schemas.microsoft.com/office/powerpoint/2010/main" val="2202479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[100 sec]</a:t>
            </a:r>
          </a:p>
          <a:p>
            <a:r>
              <a:rPr lang="en-US"/>
              <a:t>Two charts. Left is one payload size with the full treatment. Right is all nine sizes, and only the two arms that take the same route into the GPU, because those are the pair where a difference tells you something.</a:t>
            </a:r>
          </a:p>
          <a:p>
            <a:r>
              <a:rPr lang="en-US"/>
              <a:t>Left first. Four transports, 4 megabyte buffers, twelve repetitions each, and every transport ran in all four positions so nobody got the good slot. The whiskers are what the measurement can actually resolve, which matters, because the noise floor here is about 4 microseconds. Three repetitions would have told me nothing.</a:t>
            </a:r>
          </a:p>
          <a:p>
            <a:r>
              <a:rPr lang="en-US"/>
              <a:t>gRPC Direct is 1.71 times faster than it started and sits about 7 microseconds behind DAQiri. It lost all twelve. I ran the whole test again at an eighth of the data rate and got 7 again, so that answer does not depend on how hard I drive it.</a:t>
            </a:r>
          </a:p>
          <a:p>
            <a:r>
              <a:rPr lang="en-US"/>
              <a:t>Now the right chart, and this is here because one payload size is a fair thing to object to. 4 megabytes could be the one width where those two happen to land like that. They do not. Across a 256-fold range gRPC Direct stays between 5 and 16 percent behind DAQiri, with no size where it falls off.</a:t>
            </a:r>
          </a:p>
          <a:p>
            <a:r>
              <a:rPr lang="en-US"/>
              <a:t>Do not read across the two charts. They are separate runs. The right one has 2 repetitions per point where the left has 12, and its 4 MB values land a few microseconds lower. It is on the slide for its shape, not its decimals.</a:t>
            </a:r>
          </a:p>
          <a:p>
            <a:r>
              <a:rPr lang="en-US"/>
              <a:t>If somebody subtracts the two bar labels and gets 7.9 while the headline says 7: the headline is the paired difference. All four arms run inside the same repetition, so I take opt minus DAQiri within each repetition and then the median of those twelve differences, which is 6.96. Subtracting two independent medians gives 7.91. The paired one is the right statistic for this design and it is the smaller of the two, so I am not flattering myself with it.</a:t>
            </a:r>
          </a:p>
          <a:p>
            <a:r>
              <a:rPr lang="en-US"/>
              <a:t>If somebody asks why the RDMA bar is higher than the shared memory bar: it is the only arm that can leave the machine, and it is the only arm the instrument chassis can run, because that chassis has no NVIDIA GPU in it. Slower than a route you cannot take is still the fastest route available.</a:t>
            </a:r>
          </a:p>
          <a:p>
            <a:r>
              <a:rPr lang="en-US"/>
              <a:t>One thing I cannot explain yet: the RDMA arm moves 23 microseconds between those two data rates and nothing else moves 2. That is the open question I am handing over.</a:t>
            </a:r>
          </a:p>
          <a:p>
            <a:r>
              <a:rPr lang="en-US"/>
              <a:t>And read the footnote out loud. All four run on one machine, so this is software cost with the wire taken out.</a:t>
            </a:r>
            <a:endParaRPr lang="en-US" dirty="0"/>
          </a:p>
        </p:txBody>
      </p:sp>
      <p:sp>
        <p:nvSpPr>
          <p:cNvPr id="4" name="Slide Number Placeholder 3"/>
          <p:cNvSpPr>
            <a:spLocks noGrp="1"/>
          </p:cNvSpPr>
          <p:nvPr>
            <p:ph type="sldNum" sz="quarter" idx="5"/>
          </p:nvPr>
        </p:nvSpPr>
        <p:spPr/>
        <p:txBody>
          <a:bodyPr/>
          <a:lstStyle/>
          <a:p>
            <a:fld id="{E334F6A8-3E44-4C63-86E5-776686C4AB5B}" type="slidenum">
              <a:rPr lang="en-US" smtClean="0"/>
              <a:t>13</a:t>
            </a:fld>
            <a:endParaRPr lang="en-US"/>
          </a:p>
        </p:txBody>
      </p:sp>
    </p:spTree>
    <p:extLst>
      <p:ext uri="{BB962C8B-B14F-4D97-AF65-F5344CB8AC3E}">
        <p14:creationId xmlns:p14="http://schemas.microsoft.com/office/powerpoint/2010/main" val="22024790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a:solidFill>
                  <a:schemeClr val="tx1"/>
                </a:solidFill>
                <a:effectLst/>
                <a:latin typeface="+mn-lt"/>
                <a:ea typeface="+mn-ea"/>
                <a:cs typeface="+mn-cs"/>
              </a:rPr>
              <a:t>[60 sec]</a:t>
            </a:r>
          </a:p>
          <a:p>
            <a:r>
              <a:rPr lang="en-US" b="0" i="0" kern="1200">
                <a:solidFill>
                  <a:schemeClr val="tx1"/>
                </a:solidFill>
                <a:effectLst/>
                <a:latin typeface="+mn-lt"/>
                <a:ea typeface="+mn-ea"/>
                <a:cs typeface="+mn-cs"/>
              </a:rPr>
              <a:t>Where this leaves us.</a:t>
            </a:r>
          </a:p>
          <a:p>
            <a:r>
              <a:rPr lang="en-US" b="0" i="0" kern="1200">
                <a:solidFill>
                  <a:schemeClr val="tx1"/>
                </a:solidFill>
                <a:effectLst/>
                <a:latin typeface="+mn-lt"/>
                <a:ea typeface="+mn-ea"/>
                <a:cs typeface="+mn-cs"/>
              </a:rPr>
              <a:t>Same application code, a much faster path underneath it. A transport that reaches 98 percent of line rate from a chassis with no GPU in it, which the alternative cannot do at all.</a:t>
            </a:r>
          </a:p>
          <a:p>
            <a:r>
              <a:rPr lang="en-US" b="0" i="0" kern="1200">
                <a:solidFill>
                  <a:schemeClr val="tx1"/>
                </a:solidFill>
                <a:effectLst/>
                <a:latin typeface="+mn-lt"/>
                <a:ea typeface="+mn-ea"/>
                <a:cs typeface="+mn-cs"/>
              </a:rPr>
              <a:t>In the GPU pipeline, a real root cause worth 1.71 times, and the remainder localized to inside the FFT library rather than the transport.</a:t>
            </a:r>
          </a:p>
          <a:p>
            <a:r>
              <a:rPr lang="en-US" b="0" i="0" kern="1200">
                <a:solidFill>
                  <a:schemeClr val="tx1"/>
                </a:solidFill>
                <a:effectLst/>
                <a:latin typeface="+mn-lt"/>
                <a:ea typeface="+mn-ea"/>
                <a:cs typeface="+mn-cs"/>
              </a:rPr>
              <a:t>I did not close the gap to DAQiri. I found out precisely where the rest of it lives. I'd rather tell you that than tell you I closed it.</a:t>
            </a:r>
          </a:p>
          <a:p>
            <a:r>
              <a:rPr lang="en-US" b="0" i="0" kern="1200">
                <a:solidFill>
                  <a:schemeClr val="tx1"/>
                </a:solidFill>
                <a:effectLst/>
                <a:latin typeface="+mn-lt"/>
                <a:ea typeface="+mn-ea"/>
                <a:cs typeface="+mn-cs"/>
              </a:rPr>
              <a:t>Happy to take questions.</a:t>
            </a:r>
            <a:endParaRPr lang="en-US" dirty="0"/>
          </a:p>
        </p:txBody>
      </p:sp>
      <p:sp>
        <p:nvSpPr>
          <p:cNvPr id="4" name="Slide Number Placeholder 3"/>
          <p:cNvSpPr>
            <a:spLocks noGrp="1"/>
          </p:cNvSpPr>
          <p:nvPr>
            <p:ph type="sldNum" sz="quarter" idx="5"/>
          </p:nvPr>
        </p:nvSpPr>
        <p:spPr/>
        <p:txBody>
          <a:bodyPr/>
          <a:lstStyle/>
          <a:p>
            <a:fld id="{E334F6A8-3E44-4C63-86E5-776686C4AB5B}" type="slidenum">
              <a:rPr lang="en-US" smtClean="0"/>
              <a:t>14</a:t>
            </a:fld>
            <a:endParaRPr lang="en-US"/>
          </a:p>
        </p:txBody>
      </p:sp>
    </p:spTree>
    <p:extLst>
      <p:ext uri="{BB962C8B-B14F-4D97-AF65-F5344CB8AC3E}">
        <p14:creationId xmlns:p14="http://schemas.microsoft.com/office/powerpoint/2010/main" val="2909342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DF231-22D9-808E-6EFF-A9531209B210}"/>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3A9A15FA-4C86-CA14-258E-99845D893DEB}"/>
              </a:ext>
            </a:extLst>
          </p:cNvPr>
          <p:cNvSpPr>
            <a:spLocks noGrp="1"/>
          </p:cNvSpPr>
          <p:nvPr>
            <p:ph type="subTitle" idx="1"/>
          </p:nvPr>
        </p:nvSpPr>
        <p:spPr>
          <a:xfrm>
            <a:off x="1524000" y="3602037"/>
            <a:ext cx="9144000" cy="165576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FFF204A7-FD44-73C0-2093-A75A048FE647}"/>
              </a:ext>
            </a:extLst>
          </p:cNvPr>
          <p:cNvSpPr>
            <a:spLocks noGrp="1"/>
          </p:cNvSpPr>
          <p:nvPr>
            <p:ph type="dt" sz="half" idx="10"/>
          </p:nvPr>
        </p:nvSpPr>
        <p:spPr/>
        <p:txBody>
          <a:bodyPr/>
          <a:lstStyle/>
          <a:p>
            <a:fld id="{85ABCCA6-1E40-423B-8940-3FCD696164A0}" type="datetimeFigureOut">
              <a:rPr lang="en-US" smtClean="0"/>
              <a:t>8/26/2026</a:t>
            </a:fld>
            <a:endParaRPr lang="en-US"/>
          </a:p>
        </p:txBody>
      </p:sp>
      <p:sp>
        <p:nvSpPr>
          <p:cNvPr id="5" name="Footer Placeholder 4">
            <a:extLst>
              <a:ext uri="{FF2B5EF4-FFF2-40B4-BE49-F238E27FC236}">
                <a16:creationId xmlns:a16="http://schemas.microsoft.com/office/drawing/2014/main" id="{5E7815EC-9E5A-6738-1D7F-48670142AA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125A35-FA06-1013-BC50-3C16FE9A32EE}"/>
              </a:ext>
            </a:extLst>
          </p:cNvPr>
          <p:cNvSpPr>
            <a:spLocks noGrp="1"/>
          </p:cNvSpPr>
          <p:nvPr>
            <p:ph type="sldNum" sz="quarter" idx="12"/>
          </p:nvPr>
        </p:nvSpPr>
        <p:spPr/>
        <p:txBody>
          <a:bodyPr/>
          <a:lstStyle/>
          <a:p>
            <a:fld id="{BDFFE4CB-5011-4BFC-A3D7-23EF8FD3CD48}" type="slidenum">
              <a:rPr lang="en-US" smtClean="0"/>
              <a:t>‹#›</a:t>
            </a:fld>
            <a:endParaRPr lang="en-US"/>
          </a:p>
        </p:txBody>
      </p:sp>
    </p:spTree>
    <p:extLst>
      <p:ext uri="{BB962C8B-B14F-4D97-AF65-F5344CB8AC3E}">
        <p14:creationId xmlns:p14="http://schemas.microsoft.com/office/powerpoint/2010/main" val="4280137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2510B-7F21-05C9-6C47-A93B352531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B6C1C2-6A5F-4CC9-9034-EA98F07779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5FAE0D-CD05-131C-68FF-32F080E50B9C}"/>
              </a:ext>
            </a:extLst>
          </p:cNvPr>
          <p:cNvSpPr>
            <a:spLocks noGrp="1"/>
          </p:cNvSpPr>
          <p:nvPr>
            <p:ph type="dt" sz="half" idx="10"/>
          </p:nvPr>
        </p:nvSpPr>
        <p:spPr/>
        <p:txBody>
          <a:bodyPr/>
          <a:lstStyle/>
          <a:p>
            <a:fld id="{85ABCCA6-1E40-423B-8940-3FCD696164A0}" type="datetimeFigureOut">
              <a:rPr lang="en-US" smtClean="0"/>
              <a:t>8/26/2026</a:t>
            </a:fld>
            <a:endParaRPr lang="en-US"/>
          </a:p>
        </p:txBody>
      </p:sp>
      <p:sp>
        <p:nvSpPr>
          <p:cNvPr id="5" name="Footer Placeholder 4">
            <a:extLst>
              <a:ext uri="{FF2B5EF4-FFF2-40B4-BE49-F238E27FC236}">
                <a16:creationId xmlns:a16="http://schemas.microsoft.com/office/drawing/2014/main" id="{4BFBAEEA-2E4A-0898-5BC8-1DCC85328B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3EE50-BCEF-C59F-32DA-A2653CDC5EF8}"/>
              </a:ext>
            </a:extLst>
          </p:cNvPr>
          <p:cNvSpPr>
            <a:spLocks noGrp="1"/>
          </p:cNvSpPr>
          <p:nvPr>
            <p:ph type="sldNum" sz="quarter" idx="12"/>
          </p:nvPr>
        </p:nvSpPr>
        <p:spPr/>
        <p:txBody>
          <a:bodyPr/>
          <a:lstStyle/>
          <a:p>
            <a:fld id="{BDFFE4CB-5011-4BFC-A3D7-23EF8FD3CD48}" type="slidenum">
              <a:rPr lang="en-US" smtClean="0"/>
              <a:t>‹#›</a:t>
            </a:fld>
            <a:endParaRPr lang="en-US"/>
          </a:p>
        </p:txBody>
      </p:sp>
    </p:spTree>
    <p:extLst>
      <p:ext uri="{BB962C8B-B14F-4D97-AF65-F5344CB8AC3E}">
        <p14:creationId xmlns:p14="http://schemas.microsoft.com/office/powerpoint/2010/main" val="44335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A0C0E-6600-D375-6900-D2115BEDCB31}"/>
              </a:ext>
            </a:extLst>
          </p:cNvPr>
          <p:cNvSpPr>
            <a:spLocks noGrp="1"/>
          </p:cNvSpPr>
          <p:nvPr>
            <p:ph type="title"/>
          </p:nvPr>
        </p:nvSpPr>
        <p:spPr>
          <a:xfrm>
            <a:off x="831851" y="1709741"/>
            <a:ext cx="105156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192D36AA-AA5D-F2DB-E293-B4779B7E92C9}"/>
              </a:ext>
            </a:extLst>
          </p:cNvPr>
          <p:cNvSpPr>
            <a:spLocks noGrp="1"/>
          </p:cNvSpPr>
          <p:nvPr>
            <p:ph type="body" idx="1"/>
          </p:nvPr>
        </p:nvSpPr>
        <p:spPr>
          <a:xfrm>
            <a:off x="831851" y="4589464"/>
            <a:ext cx="105156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D3D211-CDB7-86FA-0438-1DA698955967}"/>
              </a:ext>
            </a:extLst>
          </p:cNvPr>
          <p:cNvSpPr>
            <a:spLocks noGrp="1"/>
          </p:cNvSpPr>
          <p:nvPr>
            <p:ph type="dt" sz="half" idx="10"/>
          </p:nvPr>
        </p:nvSpPr>
        <p:spPr/>
        <p:txBody>
          <a:bodyPr/>
          <a:lstStyle/>
          <a:p>
            <a:fld id="{85ABCCA6-1E40-423B-8940-3FCD696164A0}" type="datetimeFigureOut">
              <a:rPr lang="en-US" smtClean="0"/>
              <a:t>8/26/2026</a:t>
            </a:fld>
            <a:endParaRPr lang="en-US"/>
          </a:p>
        </p:txBody>
      </p:sp>
      <p:sp>
        <p:nvSpPr>
          <p:cNvPr id="5" name="Footer Placeholder 4">
            <a:extLst>
              <a:ext uri="{FF2B5EF4-FFF2-40B4-BE49-F238E27FC236}">
                <a16:creationId xmlns:a16="http://schemas.microsoft.com/office/drawing/2014/main" id="{7B55B4BE-43F6-82BB-4976-C0B49E412A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C8481E-1677-ACA2-1954-800C511C1CF2}"/>
              </a:ext>
            </a:extLst>
          </p:cNvPr>
          <p:cNvSpPr>
            <a:spLocks noGrp="1"/>
          </p:cNvSpPr>
          <p:nvPr>
            <p:ph type="sldNum" sz="quarter" idx="12"/>
          </p:nvPr>
        </p:nvSpPr>
        <p:spPr/>
        <p:txBody>
          <a:bodyPr/>
          <a:lstStyle/>
          <a:p>
            <a:fld id="{BDFFE4CB-5011-4BFC-A3D7-23EF8FD3CD48}" type="slidenum">
              <a:rPr lang="en-US" smtClean="0"/>
              <a:t>‹#›</a:t>
            </a:fld>
            <a:endParaRPr lang="en-US"/>
          </a:p>
        </p:txBody>
      </p:sp>
    </p:spTree>
    <p:extLst>
      <p:ext uri="{BB962C8B-B14F-4D97-AF65-F5344CB8AC3E}">
        <p14:creationId xmlns:p14="http://schemas.microsoft.com/office/powerpoint/2010/main" val="2473115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2BB5-1B9C-7B87-E09F-8837E5F49F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0F1A57-FB59-8AA5-043D-7E1D8AFF12D5}"/>
              </a:ext>
            </a:extLst>
          </p:cNvPr>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547E2D-FE58-A486-F7E6-C088D3B9C3EA}"/>
              </a:ext>
            </a:extLst>
          </p:cNvPr>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C7F75A-6945-37B5-FEDD-B0CA65C7FB5B}"/>
              </a:ext>
            </a:extLst>
          </p:cNvPr>
          <p:cNvSpPr>
            <a:spLocks noGrp="1"/>
          </p:cNvSpPr>
          <p:nvPr>
            <p:ph type="dt" sz="half" idx="10"/>
          </p:nvPr>
        </p:nvSpPr>
        <p:spPr/>
        <p:txBody>
          <a:bodyPr/>
          <a:lstStyle/>
          <a:p>
            <a:fld id="{85ABCCA6-1E40-423B-8940-3FCD696164A0}" type="datetimeFigureOut">
              <a:rPr lang="en-US" smtClean="0"/>
              <a:t>8/26/2026</a:t>
            </a:fld>
            <a:endParaRPr lang="en-US"/>
          </a:p>
        </p:txBody>
      </p:sp>
      <p:sp>
        <p:nvSpPr>
          <p:cNvPr id="6" name="Footer Placeholder 5">
            <a:extLst>
              <a:ext uri="{FF2B5EF4-FFF2-40B4-BE49-F238E27FC236}">
                <a16:creationId xmlns:a16="http://schemas.microsoft.com/office/drawing/2014/main" id="{3B9D81A4-8551-5756-E572-7F57C94DD5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BE99D8-347B-FF5A-24D6-FA9806EFF83B}"/>
              </a:ext>
            </a:extLst>
          </p:cNvPr>
          <p:cNvSpPr>
            <a:spLocks noGrp="1"/>
          </p:cNvSpPr>
          <p:nvPr>
            <p:ph type="sldNum" sz="quarter" idx="12"/>
          </p:nvPr>
        </p:nvSpPr>
        <p:spPr/>
        <p:txBody>
          <a:bodyPr/>
          <a:lstStyle/>
          <a:p>
            <a:fld id="{BDFFE4CB-5011-4BFC-A3D7-23EF8FD3CD48}" type="slidenum">
              <a:rPr lang="en-US" smtClean="0"/>
              <a:t>‹#›</a:t>
            </a:fld>
            <a:endParaRPr lang="en-US"/>
          </a:p>
        </p:txBody>
      </p:sp>
    </p:spTree>
    <p:extLst>
      <p:ext uri="{BB962C8B-B14F-4D97-AF65-F5344CB8AC3E}">
        <p14:creationId xmlns:p14="http://schemas.microsoft.com/office/powerpoint/2010/main" val="678616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D0D28-0E26-5374-CDD9-24634158BE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0EA1FE-043E-D72A-6768-3C40A3AB233D}"/>
              </a:ext>
            </a:extLst>
          </p:cNvPr>
          <p:cNvSpPr>
            <a:spLocks noGrp="1"/>
          </p:cNvSpPr>
          <p:nvPr>
            <p:ph type="body" idx="1"/>
          </p:nvPr>
        </p:nvSpPr>
        <p:spPr>
          <a:xfrm>
            <a:off x="839790"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6AD58C2-70C0-0469-CDA0-E4783AC8EBCD}"/>
              </a:ext>
            </a:extLst>
          </p:cNvPr>
          <p:cNvSpPr>
            <a:spLocks noGrp="1"/>
          </p:cNvSpPr>
          <p:nvPr>
            <p:ph sz="half" idx="2"/>
          </p:nvPr>
        </p:nvSpPr>
        <p:spPr>
          <a:xfrm>
            <a:off x="839790" y="250507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B0AACC-54A0-3612-5484-2FD3262E40E8}"/>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31A910F5-FC1D-9EDF-79BE-F71116B0A987}"/>
              </a:ext>
            </a:extLst>
          </p:cNvPr>
          <p:cNvSpPr>
            <a:spLocks noGrp="1"/>
          </p:cNvSpPr>
          <p:nvPr>
            <p:ph sz="quarter" idx="4"/>
          </p:nvPr>
        </p:nvSpPr>
        <p:spPr>
          <a:xfrm>
            <a:off x="6172201" y="250507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596265-48DE-DBD6-FF16-923D3860D72E}"/>
              </a:ext>
            </a:extLst>
          </p:cNvPr>
          <p:cNvSpPr>
            <a:spLocks noGrp="1"/>
          </p:cNvSpPr>
          <p:nvPr>
            <p:ph type="dt" sz="half" idx="10"/>
          </p:nvPr>
        </p:nvSpPr>
        <p:spPr/>
        <p:txBody>
          <a:bodyPr/>
          <a:lstStyle/>
          <a:p>
            <a:fld id="{85ABCCA6-1E40-423B-8940-3FCD696164A0}" type="datetimeFigureOut">
              <a:rPr lang="en-US" smtClean="0"/>
              <a:t>8/26/2026</a:t>
            </a:fld>
            <a:endParaRPr lang="en-US"/>
          </a:p>
        </p:txBody>
      </p:sp>
      <p:sp>
        <p:nvSpPr>
          <p:cNvPr id="8" name="Footer Placeholder 7">
            <a:extLst>
              <a:ext uri="{FF2B5EF4-FFF2-40B4-BE49-F238E27FC236}">
                <a16:creationId xmlns:a16="http://schemas.microsoft.com/office/drawing/2014/main" id="{1A8C3B14-F4F1-0BA3-43B2-493DD3AA33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97ECE1-E427-320C-3412-D288FBB06129}"/>
              </a:ext>
            </a:extLst>
          </p:cNvPr>
          <p:cNvSpPr>
            <a:spLocks noGrp="1"/>
          </p:cNvSpPr>
          <p:nvPr>
            <p:ph type="sldNum" sz="quarter" idx="12"/>
          </p:nvPr>
        </p:nvSpPr>
        <p:spPr/>
        <p:txBody>
          <a:bodyPr/>
          <a:lstStyle/>
          <a:p>
            <a:fld id="{BDFFE4CB-5011-4BFC-A3D7-23EF8FD3CD48}" type="slidenum">
              <a:rPr lang="en-US" smtClean="0"/>
              <a:t>‹#›</a:t>
            </a:fld>
            <a:endParaRPr lang="en-US"/>
          </a:p>
        </p:txBody>
      </p:sp>
    </p:spTree>
    <p:extLst>
      <p:ext uri="{BB962C8B-B14F-4D97-AF65-F5344CB8AC3E}">
        <p14:creationId xmlns:p14="http://schemas.microsoft.com/office/powerpoint/2010/main" val="2353307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6EAA6-76F6-60CC-1548-BAD31219AC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A8EB2B-A4B5-F245-0364-310F0084677D}"/>
              </a:ext>
            </a:extLst>
          </p:cNvPr>
          <p:cNvSpPr>
            <a:spLocks noGrp="1"/>
          </p:cNvSpPr>
          <p:nvPr>
            <p:ph type="dt" sz="half" idx="10"/>
          </p:nvPr>
        </p:nvSpPr>
        <p:spPr/>
        <p:txBody>
          <a:bodyPr/>
          <a:lstStyle/>
          <a:p>
            <a:fld id="{85ABCCA6-1E40-423B-8940-3FCD696164A0}" type="datetimeFigureOut">
              <a:rPr lang="en-US" smtClean="0"/>
              <a:t>8/26/2026</a:t>
            </a:fld>
            <a:endParaRPr lang="en-US"/>
          </a:p>
        </p:txBody>
      </p:sp>
      <p:sp>
        <p:nvSpPr>
          <p:cNvPr id="4" name="Footer Placeholder 3">
            <a:extLst>
              <a:ext uri="{FF2B5EF4-FFF2-40B4-BE49-F238E27FC236}">
                <a16:creationId xmlns:a16="http://schemas.microsoft.com/office/drawing/2014/main" id="{90F38C36-BA18-FD54-6CEF-B5F519EFA6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FCCBE2-2615-7CBE-866B-0D6FE92A30D7}"/>
              </a:ext>
            </a:extLst>
          </p:cNvPr>
          <p:cNvSpPr>
            <a:spLocks noGrp="1"/>
          </p:cNvSpPr>
          <p:nvPr>
            <p:ph type="sldNum" sz="quarter" idx="12"/>
          </p:nvPr>
        </p:nvSpPr>
        <p:spPr/>
        <p:txBody>
          <a:bodyPr/>
          <a:lstStyle/>
          <a:p>
            <a:fld id="{BDFFE4CB-5011-4BFC-A3D7-23EF8FD3CD48}" type="slidenum">
              <a:rPr lang="en-US" smtClean="0"/>
              <a:t>‹#›</a:t>
            </a:fld>
            <a:endParaRPr lang="en-US"/>
          </a:p>
        </p:txBody>
      </p:sp>
    </p:spTree>
    <p:extLst>
      <p:ext uri="{BB962C8B-B14F-4D97-AF65-F5344CB8AC3E}">
        <p14:creationId xmlns:p14="http://schemas.microsoft.com/office/powerpoint/2010/main" val="1118013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D4A111-8D96-3E6E-B001-DE2FEB06EE7D}"/>
              </a:ext>
            </a:extLst>
          </p:cNvPr>
          <p:cNvSpPr>
            <a:spLocks noGrp="1"/>
          </p:cNvSpPr>
          <p:nvPr>
            <p:ph type="dt" sz="half" idx="10"/>
          </p:nvPr>
        </p:nvSpPr>
        <p:spPr/>
        <p:txBody>
          <a:bodyPr/>
          <a:lstStyle/>
          <a:p>
            <a:fld id="{85ABCCA6-1E40-423B-8940-3FCD696164A0}" type="datetimeFigureOut">
              <a:rPr lang="en-US" smtClean="0"/>
              <a:t>8/26/2026</a:t>
            </a:fld>
            <a:endParaRPr lang="en-US"/>
          </a:p>
        </p:txBody>
      </p:sp>
      <p:sp>
        <p:nvSpPr>
          <p:cNvPr id="3" name="Footer Placeholder 2">
            <a:extLst>
              <a:ext uri="{FF2B5EF4-FFF2-40B4-BE49-F238E27FC236}">
                <a16:creationId xmlns:a16="http://schemas.microsoft.com/office/drawing/2014/main" id="{C45B6695-03C9-7341-894C-6E80B6338A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97C8DB-DED7-A5EA-823D-AD8136052997}"/>
              </a:ext>
            </a:extLst>
          </p:cNvPr>
          <p:cNvSpPr>
            <a:spLocks noGrp="1"/>
          </p:cNvSpPr>
          <p:nvPr>
            <p:ph type="sldNum" sz="quarter" idx="12"/>
          </p:nvPr>
        </p:nvSpPr>
        <p:spPr/>
        <p:txBody>
          <a:bodyPr/>
          <a:lstStyle/>
          <a:p>
            <a:fld id="{BDFFE4CB-5011-4BFC-A3D7-23EF8FD3CD48}" type="slidenum">
              <a:rPr lang="en-US" smtClean="0"/>
              <a:t>‹#›</a:t>
            </a:fld>
            <a:endParaRPr lang="en-US"/>
          </a:p>
        </p:txBody>
      </p:sp>
    </p:spTree>
    <p:extLst>
      <p:ext uri="{BB962C8B-B14F-4D97-AF65-F5344CB8AC3E}">
        <p14:creationId xmlns:p14="http://schemas.microsoft.com/office/powerpoint/2010/main" val="1827202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0DA82-E86B-202E-EA72-5BE8C817AE6F}"/>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C3538782-AB91-C83D-3E2E-F2BE23980026}"/>
              </a:ext>
            </a:extLst>
          </p:cNvPr>
          <p:cNvSpPr>
            <a:spLocks noGrp="1"/>
          </p:cNvSpPr>
          <p:nvPr>
            <p:ph idx="1"/>
          </p:nvPr>
        </p:nvSpPr>
        <p:spPr>
          <a:xfrm>
            <a:off x="5183188"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6BDE2C-B831-B611-9AD6-A171B9BC7DE0}"/>
              </a:ext>
            </a:extLst>
          </p:cNvPr>
          <p:cNvSpPr>
            <a:spLocks noGrp="1"/>
          </p:cNvSpPr>
          <p:nvPr>
            <p:ph type="body" sz="half" idx="2"/>
          </p:nvPr>
        </p:nvSpPr>
        <p:spPr>
          <a:xfrm>
            <a:off x="839789" y="20574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C9BC2F5-F487-48BF-EDD6-4F6874D8DDD2}"/>
              </a:ext>
            </a:extLst>
          </p:cNvPr>
          <p:cNvSpPr>
            <a:spLocks noGrp="1"/>
          </p:cNvSpPr>
          <p:nvPr>
            <p:ph type="dt" sz="half" idx="10"/>
          </p:nvPr>
        </p:nvSpPr>
        <p:spPr/>
        <p:txBody>
          <a:bodyPr/>
          <a:lstStyle/>
          <a:p>
            <a:fld id="{85ABCCA6-1E40-423B-8940-3FCD696164A0}" type="datetimeFigureOut">
              <a:rPr lang="en-US" smtClean="0"/>
              <a:t>8/26/2026</a:t>
            </a:fld>
            <a:endParaRPr lang="en-US"/>
          </a:p>
        </p:txBody>
      </p:sp>
      <p:sp>
        <p:nvSpPr>
          <p:cNvPr id="6" name="Footer Placeholder 5">
            <a:extLst>
              <a:ext uri="{FF2B5EF4-FFF2-40B4-BE49-F238E27FC236}">
                <a16:creationId xmlns:a16="http://schemas.microsoft.com/office/drawing/2014/main" id="{7612FC16-B43F-67AA-433B-96E5A50BD5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71EF44-67C0-B564-B52A-959ECB1D10B5}"/>
              </a:ext>
            </a:extLst>
          </p:cNvPr>
          <p:cNvSpPr>
            <a:spLocks noGrp="1"/>
          </p:cNvSpPr>
          <p:nvPr>
            <p:ph type="sldNum" sz="quarter" idx="12"/>
          </p:nvPr>
        </p:nvSpPr>
        <p:spPr/>
        <p:txBody>
          <a:bodyPr/>
          <a:lstStyle/>
          <a:p>
            <a:fld id="{BDFFE4CB-5011-4BFC-A3D7-23EF8FD3CD48}" type="slidenum">
              <a:rPr lang="en-US" smtClean="0"/>
              <a:t>‹#›</a:t>
            </a:fld>
            <a:endParaRPr lang="en-US"/>
          </a:p>
        </p:txBody>
      </p:sp>
    </p:spTree>
    <p:extLst>
      <p:ext uri="{BB962C8B-B14F-4D97-AF65-F5344CB8AC3E}">
        <p14:creationId xmlns:p14="http://schemas.microsoft.com/office/powerpoint/2010/main" val="2104210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82D25-AC16-AA40-E5F0-49DAABEE9D06}"/>
              </a:ext>
            </a:extLst>
          </p:cNvPr>
          <p:cNvSpPr>
            <a:spLocks noGrp="1"/>
          </p:cNvSpPr>
          <p:nvPr>
            <p:ph type="title"/>
          </p:nvPr>
        </p:nvSpPr>
        <p:spPr>
          <a:xfrm>
            <a:off x="839789" y="457200"/>
            <a:ext cx="3932237"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0A14BAB-C098-90D4-0CDF-AE7CEEEF5644}"/>
              </a:ext>
            </a:extLst>
          </p:cNvPr>
          <p:cNvSpPr>
            <a:spLocks noGrp="1"/>
          </p:cNvSpPr>
          <p:nvPr>
            <p:ph type="pic" idx="1"/>
          </p:nvPr>
        </p:nvSpPr>
        <p:spPr>
          <a:xfrm>
            <a:off x="5183188" y="987428"/>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1F7E94A3-E19A-1301-DBCE-C3988AD9710A}"/>
              </a:ext>
            </a:extLst>
          </p:cNvPr>
          <p:cNvSpPr>
            <a:spLocks noGrp="1"/>
          </p:cNvSpPr>
          <p:nvPr>
            <p:ph type="body" sz="half" idx="2"/>
          </p:nvPr>
        </p:nvSpPr>
        <p:spPr>
          <a:xfrm>
            <a:off x="839789" y="20574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D9ED9A1-73EC-DEE3-B7D8-497967704F64}"/>
              </a:ext>
            </a:extLst>
          </p:cNvPr>
          <p:cNvSpPr>
            <a:spLocks noGrp="1"/>
          </p:cNvSpPr>
          <p:nvPr>
            <p:ph type="dt" sz="half" idx="10"/>
          </p:nvPr>
        </p:nvSpPr>
        <p:spPr/>
        <p:txBody>
          <a:bodyPr/>
          <a:lstStyle/>
          <a:p>
            <a:fld id="{85ABCCA6-1E40-423B-8940-3FCD696164A0}" type="datetimeFigureOut">
              <a:rPr lang="en-US" smtClean="0"/>
              <a:t>8/26/2026</a:t>
            </a:fld>
            <a:endParaRPr lang="en-US"/>
          </a:p>
        </p:txBody>
      </p:sp>
      <p:sp>
        <p:nvSpPr>
          <p:cNvPr id="6" name="Footer Placeholder 5">
            <a:extLst>
              <a:ext uri="{FF2B5EF4-FFF2-40B4-BE49-F238E27FC236}">
                <a16:creationId xmlns:a16="http://schemas.microsoft.com/office/drawing/2014/main" id="{07ADA3E4-D8C0-37E7-C3A2-C6F4EB0577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27C711-9D2D-D614-FDC6-1DC910E4A313}"/>
              </a:ext>
            </a:extLst>
          </p:cNvPr>
          <p:cNvSpPr>
            <a:spLocks noGrp="1"/>
          </p:cNvSpPr>
          <p:nvPr>
            <p:ph type="sldNum" sz="quarter" idx="12"/>
          </p:nvPr>
        </p:nvSpPr>
        <p:spPr/>
        <p:txBody>
          <a:bodyPr/>
          <a:lstStyle/>
          <a:p>
            <a:fld id="{BDFFE4CB-5011-4BFC-A3D7-23EF8FD3CD48}" type="slidenum">
              <a:rPr lang="en-US" smtClean="0"/>
              <a:t>‹#›</a:t>
            </a:fld>
            <a:endParaRPr lang="en-US"/>
          </a:p>
        </p:txBody>
      </p:sp>
    </p:spTree>
    <p:extLst>
      <p:ext uri="{BB962C8B-B14F-4D97-AF65-F5344CB8AC3E}">
        <p14:creationId xmlns:p14="http://schemas.microsoft.com/office/powerpoint/2010/main" val="1499853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71E20-2F1A-54AF-1CF0-68C7A0EA20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D4C95D-F226-5FA2-3575-74BABC0E98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8F2D3D-5EA4-A02F-4189-A5E26530FB40}"/>
              </a:ext>
            </a:extLst>
          </p:cNvPr>
          <p:cNvSpPr>
            <a:spLocks noGrp="1"/>
          </p:cNvSpPr>
          <p:nvPr>
            <p:ph type="dt" sz="half" idx="10"/>
          </p:nvPr>
        </p:nvSpPr>
        <p:spPr/>
        <p:txBody>
          <a:bodyPr/>
          <a:lstStyle/>
          <a:p>
            <a:fld id="{85ABCCA6-1E40-423B-8940-3FCD696164A0}" type="datetimeFigureOut">
              <a:rPr lang="en-US" smtClean="0"/>
              <a:t>8/26/2026</a:t>
            </a:fld>
            <a:endParaRPr lang="en-US"/>
          </a:p>
        </p:txBody>
      </p:sp>
      <p:sp>
        <p:nvSpPr>
          <p:cNvPr id="5" name="Footer Placeholder 4">
            <a:extLst>
              <a:ext uri="{FF2B5EF4-FFF2-40B4-BE49-F238E27FC236}">
                <a16:creationId xmlns:a16="http://schemas.microsoft.com/office/drawing/2014/main" id="{62FA5D10-3EFA-28AC-B8E7-6D49C78B0A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5C2CEE-D247-77E6-D3AC-5AFF831A62D7}"/>
              </a:ext>
            </a:extLst>
          </p:cNvPr>
          <p:cNvSpPr>
            <a:spLocks noGrp="1"/>
          </p:cNvSpPr>
          <p:nvPr>
            <p:ph type="sldNum" sz="quarter" idx="12"/>
          </p:nvPr>
        </p:nvSpPr>
        <p:spPr/>
        <p:txBody>
          <a:bodyPr/>
          <a:lstStyle/>
          <a:p>
            <a:fld id="{BDFFE4CB-5011-4BFC-A3D7-23EF8FD3CD48}" type="slidenum">
              <a:rPr lang="en-US" smtClean="0"/>
              <a:t>‹#›</a:t>
            </a:fld>
            <a:endParaRPr lang="en-US"/>
          </a:p>
        </p:txBody>
      </p:sp>
    </p:spTree>
    <p:extLst>
      <p:ext uri="{BB962C8B-B14F-4D97-AF65-F5344CB8AC3E}">
        <p14:creationId xmlns:p14="http://schemas.microsoft.com/office/powerpoint/2010/main" val="4032259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A8BC57-D59C-F302-EC0F-791CF5C43CA6}"/>
              </a:ext>
            </a:extLst>
          </p:cNvPr>
          <p:cNvSpPr>
            <a:spLocks noGrp="1"/>
          </p:cNvSpPr>
          <p:nvPr>
            <p:ph type="title" orient="vert"/>
          </p:nvPr>
        </p:nvSpPr>
        <p:spPr>
          <a:xfrm>
            <a:off x="8724901" y="365127"/>
            <a:ext cx="2628900" cy="581183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3FFECF-2DF2-6A47-8158-C17D0F4EA899}"/>
              </a:ext>
            </a:extLst>
          </p:cNvPr>
          <p:cNvSpPr>
            <a:spLocks noGrp="1"/>
          </p:cNvSpPr>
          <p:nvPr>
            <p:ph type="body" orient="vert" idx="1"/>
          </p:nvPr>
        </p:nvSpPr>
        <p:spPr>
          <a:xfrm>
            <a:off x="838201" y="365127"/>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66694F-D9E6-B4FB-0EB6-FF96F0F3DD97}"/>
              </a:ext>
            </a:extLst>
          </p:cNvPr>
          <p:cNvSpPr>
            <a:spLocks noGrp="1"/>
          </p:cNvSpPr>
          <p:nvPr>
            <p:ph type="dt" sz="half" idx="10"/>
          </p:nvPr>
        </p:nvSpPr>
        <p:spPr/>
        <p:txBody>
          <a:bodyPr/>
          <a:lstStyle/>
          <a:p>
            <a:fld id="{85ABCCA6-1E40-423B-8940-3FCD696164A0}" type="datetimeFigureOut">
              <a:rPr lang="en-US" smtClean="0"/>
              <a:t>8/26/2026</a:t>
            </a:fld>
            <a:endParaRPr lang="en-US"/>
          </a:p>
        </p:txBody>
      </p:sp>
      <p:sp>
        <p:nvSpPr>
          <p:cNvPr id="5" name="Footer Placeholder 4">
            <a:extLst>
              <a:ext uri="{FF2B5EF4-FFF2-40B4-BE49-F238E27FC236}">
                <a16:creationId xmlns:a16="http://schemas.microsoft.com/office/drawing/2014/main" id="{4B2BDF3F-2F03-2CBB-0F56-75D7DCC73E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5AB947-F5EA-67AB-9E91-217314ABA380}"/>
              </a:ext>
            </a:extLst>
          </p:cNvPr>
          <p:cNvSpPr>
            <a:spLocks noGrp="1"/>
          </p:cNvSpPr>
          <p:nvPr>
            <p:ph type="sldNum" sz="quarter" idx="12"/>
          </p:nvPr>
        </p:nvSpPr>
        <p:spPr/>
        <p:txBody>
          <a:bodyPr/>
          <a:lstStyle/>
          <a:p>
            <a:fld id="{BDFFE4CB-5011-4BFC-A3D7-23EF8FD3CD48}" type="slidenum">
              <a:rPr lang="en-US" smtClean="0"/>
              <a:t>‹#›</a:t>
            </a:fld>
            <a:endParaRPr lang="en-US"/>
          </a:p>
        </p:txBody>
      </p:sp>
    </p:spTree>
    <p:extLst>
      <p:ext uri="{BB962C8B-B14F-4D97-AF65-F5344CB8AC3E}">
        <p14:creationId xmlns:p14="http://schemas.microsoft.com/office/powerpoint/2010/main" val="2263978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1B82E8-9560-B534-1EDC-5656AD8FA4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611B89-4FE2-B552-C06E-D4187817FF17}"/>
              </a:ext>
            </a:extLst>
          </p:cNvPr>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24F142-46BB-6A77-2100-B93EE757CF9A}"/>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85ABCCA6-1E40-423B-8940-3FCD696164A0}" type="datetimeFigureOut">
              <a:rPr lang="en-US" smtClean="0"/>
              <a:t>8/26/2026</a:t>
            </a:fld>
            <a:endParaRPr lang="en-US"/>
          </a:p>
        </p:txBody>
      </p:sp>
      <p:sp>
        <p:nvSpPr>
          <p:cNvPr id="5" name="Footer Placeholder 4">
            <a:extLst>
              <a:ext uri="{FF2B5EF4-FFF2-40B4-BE49-F238E27FC236}">
                <a16:creationId xmlns:a16="http://schemas.microsoft.com/office/drawing/2014/main" id="{8437898B-E138-5FAC-C3E1-4223CBBFF9A9}"/>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53A1604-6EBF-5DDD-0297-F15569D9C8E9}"/>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BDFFE4CB-5011-4BFC-A3D7-23EF8FD3CD48}" type="slidenum">
              <a:rPr lang="en-US" smtClean="0"/>
              <a:t>‹#›</a:t>
            </a:fld>
            <a:endParaRPr lang="en-US"/>
          </a:p>
        </p:txBody>
      </p:sp>
    </p:spTree>
    <p:extLst>
      <p:ext uri="{BB962C8B-B14F-4D97-AF65-F5344CB8AC3E}">
        <p14:creationId xmlns:p14="http://schemas.microsoft.com/office/powerpoint/2010/main" val="39447860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655890-1375-3788-D164-60898DE7E8B3}"/>
              </a:ext>
            </a:extLst>
          </p:cNvPr>
          <p:cNvSpPr/>
          <p:nvPr/>
        </p:nvSpPr>
        <p:spPr>
          <a:xfrm>
            <a:off x="0" y="0"/>
            <a:ext cx="12192000" cy="6858000"/>
          </a:xfrm>
          <a:prstGeom prst="rect">
            <a:avLst/>
          </a:prstGeom>
          <a:solidFill>
            <a:srgbClr val="1B1B1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9053B15-5B7E-B24C-9449-2D3FEF936910}"/>
              </a:ext>
            </a:extLst>
          </p:cNvPr>
          <p:cNvSpPr/>
          <p:nvPr/>
        </p:nvSpPr>
        <p:spPr>
          <a:xfrm>
            <a:off x="0" y="0"/>
            <a:ext cx="1524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24B0E9E-25B6-6E43-24DB-104211E9620B}"/>
              </a:ext>
            </a:extLst>
          </p:cNvPr>
          <p:cNvSpPr txBox="1"/>
          <p:nvPr/>
        </p:nvSpPr>
        <p:spPr>
          <a:xfrm>
            <a:off x="889000" y="2222500"/>
            <a:ext cx="10160000" cy="1354217"/>
          </a:xfrm>
          <a:prstGeom prst="rect">
            <a:avLst/>
          </a:prstGeom>
          <a:noFill/>
        </p:spPr>
        <p:txBody>
          <a:bodyPr vert="horz" wrap="square" lIns="0" tIns="0" rIns="0" bIns="0" rtlCol="0">
            <a:spAutoFit/>
          </a:bodyPr>
          <a:lstStyle/>
          <a:p>
            <a:r>
              <a:rPr lang="en-US" sz="4400" b="1" dirty="0">
                <a:solidFill>
                  <a:srgbClr val="FFFFFF"/>
                </a:solidFill>
                <a:latin typeface="Segoe UI" panose="020B0502040204020203" pitchFamily="34" charset="0"/>
              </a:rPr>
              <a:t>Getting Live Hardware Data</a:t>
            </a:r>
          </a:p>
          <a:p>
            <a:r>
              <a:rPr lang="en-US" sz="4400" b="1" dirty="0">
                <a:solidFill>
                  <a:srgbClr val="FFFFFF"/>
                </a:solidFill>
                <a:latin typeface="Segoe UI" panose="020B0502040204020203" pitchFamily="34" charset="0"/>
              </a:rPr>
              <a:t>to the GPU, Faster</a:t>
            </a:r>
          </a:p>
        </p:txBody>
      </p:sp>
      <p:sp>
        <p:nvSpPr>
          <p:cNvPr id="5" name="TextBox 4">
            <a:extLst>
              <a:ext uri="{FF2B5EF4-FFF2-40B4-BE49-F238E27FC236}">
                <a16:creationId xmlns:a16="http://schemas.microsoft.com/office/drawing/2014/main" id="{F900DE3E-4F0F-616A-04F5-9E3F15814762}"/>
              </a:ext>
            </a:extLst>
          </p:cNvPr>
          <p:cNvSpPr txBox="1"/>
          <p:nvPr/>
        </p:nvSpPr>
        <p:spPr>
          <a:xfrm>
            <a:off x="939800" y="4064000"/>
            <a:ext cx="10160000" cy="492443"/>
          </a:xfrm>
          <a:prstGeom prst="rect">
            <a:avLst/>
          </a:prstGeom>
          <a:noFill/>
        </p:spPr>
        <p:txBody>
          <a:bodyPr vert="horz" wrap="square" lIns="0" tIns="0" rIns="0" bIns="0" rtlCol="0">
            <a:spAutoFit/>
          </a:bodyPr>
          <a:lstStyle/>
          <a:p>
            <a:r>
              <a:rPr lang="en-US" sz="3200" dirty="0">
                <a:solidFill>
                  <a:srgbClr val="03B585"/>
                </a:solidFill>
                <a:latin typeface="Segoe UI" panose="020B0502040204020203" pitchFamily="34" charset="0"/>
              </a:rPr>
              <a:t>Dami Thomas</a:t>
            </a:r>
          </a:p>
        </p:txBody>
      </p:sp>
    </p:spTree>
    <p:extLst>
      <p:ext uri="{BB962C8B-B14F-4D97-AF65-F5344CB8AC3E}">
        <p14:creationId xmlns:p14="http://schemas.microsoft.com/office/powerpoint/2010/main" val="3007307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298D6B-26E3-6C42-9C50-625AA5AD0B8F}"/>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831DD7C-7EA0-77A0-2C81-4B65843370BE}"/>
              </a:ext>
            </a:extLst>
          </p:cNvPr>
          <p:cNvSpPr txBox="1"/>
          <p:nvPr/>
        </p:nvSpPr>
        <p:spPr>
          <a:xfrm>
            <a:off x="685800" y="381000"/>
            <a:ext cx="10795000" cy="415498"/>
          </a:xfrm>
          <a:prstGeom prst="rect">
            <a:avLst/>
          </a:prstGeom>
          <a:noFill/>
        </p:spPr>
        <p:txBody>
          <a:bodyPr vert="horz" wrap="square" lIns="0" tIns="0" rIns="0" bIns="0" rtlCol="0">
            <a:spAutoFit/>
          </a:bodyPr>
          <a:lstStyle/>
          <a:p>
            <a:r>
              <a:rPr lang="en-US" sz="2700" b="1" dirty="0">
                <a:solidFill>
                  <a:srgbClr val="1B1B1B"/>
                </a:solidFill>
                <a:latin typeface="Segoe UI" panose="020B0502040204020203" pitchFamily="34" charset="0"/>
              </a:rPr>
              <a:t>The data path, not the math, is what slows real time GPU work</a:t>
            </a:r>
          </a:p>
        </p:txBody>
      </p:sp>
      <p:sp>
        <p:nvSpPr>
          <p:cNvPr id="4" name="Rectangle 3">
            <a:extLst>
              <a:ext uri="{FF2B5EF4-FFF2-40B4-BE49-F238E27FC236}">
                <a16:creationId xmlns:a16="http://schemas.microsoft.com/office/drawing/2014/main" id="{965B5F39-DB4D-8304-0A0D-92826997714C}"/>
              </a:ext>
            </a:extLst>
          </p:cNvPr>
          <p:cNvSpPr/>
          <p:nvPr/>
        </p:nvSpPr>
        <p:spPr>
          <a:xfrm>
            <a:off x="711200" y="16256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9823AB1-5A4C-137E-1446-4C5AD88E2345}"/>
              </a:ext>
            </a:extLst>
          </p:cNvPr>
          <p:cNvSpPr txBox="1"/>
          <p:nvPr/>
        </p:nvSpPr>
        <p:spPr>
          <a:xfrm>
            <a:off x="685800" y="2032000"/>
            <a:ext cx="5969000" cy="2616101"/>
          </a:xfrm>
          <a:prstGeom prst="rect">
            <a:avLst/>
          </a:prstGeom>
          <a:noFill/>
        </p:spPr>
        <p:txBody>
          <a:bodyPr vert="horz" wrap="square" lIns="0" tIns="0" rIns="0" bIns="0" rtlCol="0">
            <a:spAutoFit/>
          </a:bodyPr>
          <a:lstStyle/>
          <a:p>
            <a:pPr marL="457200" indent="-457200">
              <a:spcAft>
                <a:spcPts val="1800"/>
              </a:spcAft>
              <a:buClr>
                <a:srgbClr val="03B585"/>
              </a:buClr>
              <a:buFont typeface="+mj-lt"/>
              <a:buChar char="•"/>
            </a:pPr>
            <a:r>
              <a:rPr lang="en-US" sz="2000" dirty="0">
                <a:solidFill>
                  <a:srgbClr val="1B1B1B"/>
                </a:solidFill>
                <a:latin typeface="Segoe UI" panose="020B0502040204020203" pitchFamily="34" charset="0"/>
              </a:rPr>
              <a:t>Instruments send data without pause, and it has to reach the GPU in microseconds</a:t>
            </a:r>
          </a:p>
          <a:p>
            <a:pPr marL="457200" indent="-457200">
              <a:spcAft>
                <a:spcPts val="1800"/>
              </a:spcAft>
              <a:buClr>
                <a:srgbClr val="03B585"/>
              </a:buClr>
              <a:buFont typeface="+mj-lt"/>
              <a:buChar char="•"/>
            </a:pPr>
            <a:r>
              <a:rPr lang="en-US" sz="2000" dirty="0">
                <a:solidFill>
                  <a:srgbClr val="1B1B1B"/>
                </a:solidFill>
                <a:latin typeface="Segoe UI" panose="020B0502040204020203" pitchFamily="34" charset="0"/>
              </a:rPr>
              <a:t>The usual network path adds delay from the operating system and from copying data in memory</a:t>
            </a:r>
          </a:p>
          <a:p>
            <a:pPr marL="457200" indent="-457200">
              <a:spcAft>
                <a:spcPts val="1800"/>
              </a:spcAft>
              <a:buClr>
                <a:srgbClr val="03B585"/>
              </a:buClr>
              <a:buFont typeface="+mj-lt"/>
              <a:buChar char="•"/>
            </a:pPr>
            <a:r>
              <a:rPr lang="en-US" sz="2000" dirty="0">
                <a:solidFill>
                  <a:srgbClr val="1B1B1B"/>
                </a:solidFill>
                <a:latin typeface="Segoe UI" panose="020B0502040204020203" pitchFamily="34" charset="0"/>
              </a:rPr>
              <a:t>So I measured the path in stages, then compared transports at each stage</a:t>
            </a:r>
          </a:p>
        </p:txBody>
      </p:sp>
      <p:sp>
        <p:nvSpPr>
          <p:cNvPr id="6" name="Rectangle 5">
            <a:extLst>
              <a:ext uri="{FF2B5EF4-FFF2-40B4-BE49-F238E27FC236}">
                <a16:creationId xmlns:a16="http://schemas.microsoft.com/office/drawing/2014/main" id="{2E20F01A-464D-9211-BE79-3A8FF2C97D04}"/>
              </a:ext>
            </a:extLst>
          </p:cNvPr>
          <p:cNvSpPr/>
          <p:nvPr/>
        </p:nvSpPr>
        <p:spPr>
          <a:xfrm>
            <a:off x="7112000" y="1778000"/>
            <a:ext cx="4318000" cy="660400"/>
          </a:xfrm>
          <a:prstGeom prst="rect">
            <a:avLst/>
          </a:prstGeom>
          <a:solidFill>
            <a:srgbClr val="5A647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9635C41-631A-C0A3-902B-A30BF1A582C0}"/>
              </a:ext>
            </a:extLst>
          </p:cNvPr>
          <p:cNvSpPr txBox="1"/>
          <p:nvPr/>
        </p:nvSpPr>
        <p:spPr>
          <a:xfrm>
            <a:off x="7112000" y="1955800"/>
            <a:ext cx="4318000" cy="230832"/>
          </a:xfrm>
          <a:prstGeom prst="rect">
            <a:avLst/>
          </a:prstGeom>
          <a:noFill/>
        </p:spPr>
        <p:txBody>
          <a:bodyPr vert="horz" wrap="square" lIns="0" tIns="0" rIns="0" bIns="0" rtlCol="0">
            <a:spAutoFit/>
          </a:bodyPr>
          <a:lstStyle/>
          <a:p>
            <a:pPr algn="ctr"/>
            <a:r>
              <a:rPr lang="en-US" sz="1500" b="1">
                <a:solidFill>
                  <a:srgbClr val="FFFFFF"/>
                </a:solidFill>
                <a:latin typeface="Segoe UI" panose="020B0502040204020203" pitchFamily="34" charset="0"/>
              </a:rPr>
              <a:t>Live instrument data</a:t>
            </a:r>
          </a:p>
        </p:txBody>
      </p:sp>
      <p:sp>
        <p:nvSpPr>
          <p:cNvPr id="8" name="TextBox 7">
            <a:extLst>
              <a:ext uri="{FF2B5EF4-FFF2-40B4-BE49-F238E27FC236}">
                <a16:creationId xmlns:a16="http://schemas.microsoft.com/office/drawing/2014/main" id="{A21F1A38-8572-C5DA-7DB2-57508DEE0F12}"/>
              </a:ext>
            </a:extLst>
          </p:cNvPr>
          <p:cNvSpPr txBox="1"/>
          <p:nvPr/>
        </p:nvSpPr>
        <p:spPr>
          <a:xfrm>
            <a:off x="7112000" y="2463800"/>
            <a:ext cx="4318000" cy="215444"/>
          </a:xfrm>
          <a:prstGeom prst="rect">
            <a:avLst/>
          </a:prstGeom>
          <a:noFill/>
        </p:spPr>
        <p:txBody>
          <a:bodyPr vert="horz" wrap="square" lIns="0" tIns="0" rIns="0" bIns="0" rtlCol="0">
            <a:spAutoFit/>
          </a:bodyPr>
          <a:lstStyle/>
          <a:p>
            <a:pPr algn="ctr"/>
            <a:r>
              <a:rPr lang="en-US" sz="1400" b="1">
                <a:solidFill>
                  <a:srgbClr val="5A6470"/>
                </a:solidFill>
                <a:latin typeface="Segoe UI" panose="020B0502040204020203" pitchFamily="34" charset="0"/>
              </a:rPr>
              <a:t>▼</a:t>
            </a:r>
          </a:p>
        </p:txBody>
      </p:sp>
      <p:sp>
        <p:nvSpPr>
          <p:cNvPr id="9" name="Rectangle 8">
            <a:extLst>
              <a:ext uri="{FF2B5EF4-FFF2-40B4-BE49-F238E27FC236}">
                <a16:creationId xmlns:a16="http://schemas.microsoft.com/office/drawing/2014/main" id="{012C8E6D-4006-B6B2-83A7-CA3E5AA3ECFA}"/>
              </a:ext>
            </a:extLst>
          </p:cNvPr>
          <p:cNvSpPr/>
          <p:nvPr/>
        </p:nvSpPr>
        <p:spPr>
          <a:xfrm>
            <a:off x="7112000" y="2768600"/>
            <a:ext cx="4318000" cy="6604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BD894AA-0459-BA4C-2BA1-B5025A996C05}"/>
              </a:ext>
            </a:extLst>
          </p:cNvPr>
          <p:cNvSpPr txBox="1"/>
          <p:nvPr/>
        </p:nvSpPr>
        <p:spPr>
          <a:xfrm>
            <a:off x="7112000" y="2946400"/>
            <a:ext cx="4318000" cy="230832"/>
          </a:xfrm>
          <a:prstGeom prst="rect">
            <a:avLst/>
          </a:prstGeom>
          <a:noFill/>
        </p:spPr>
        <p:txBody>
          <a:bodyPr vert="horz" wrap="square" lIns="0" tIns="0" rIns="0" bIns="0" rtlCol="0">
            <a:spAutoFit/>
          </a:bodyPr>
          <a:lstStyle/>
          <a:p>
            <a:pPr algn="ctr"/>
            <a:r>
              <a:rPr lang="en-US" sz="1500" b="1" dirty="0">
                <a:solidFill>
                  <a:srgbClr val="FFFFFF"/>
                </a:solidFill>
                <a:latin typeface="Segoe UI" panose="020B0502040204020203" pitchFamily="34" charset="0"/>
              </a:rPr>
              <a:t>Part 1: across the network</a:t>
            </a:r>
          </a:p>
        </p:txBody>
      </p:sp>
      <p:sp>
        <p:nvSpPr>
          <p:cNvPr id="11" name="TextBox 10">
            <a:extLst>
              <a:ext uri="{FF2B5EF4-FFF2-40B4-BE49-F238E27FC236}">
                <a16:creationId xmlns:a16="http://schemas.microsoft.com/office/drawing/2014/main" id="{0C67F901-3A1D-C736-1739-3C019AAD3675}"/>
              </a:ext>
            </a:extLst>
          </p:cNvPr>
          <p:cNvSpPr txBox="1"/>
          <p:nvPr/>
        </p:nvSpPr>
        <p:spPr>
          <a:xfrm>
            <a:off x="7112000" y="3454400"/>
            <a:ext cx="4318000" cy="215444"/>
          </a:xfrm>
          <a:prstGeom prst="rect">
            <a:avLst/>
          </a:prstGeom>
          <a:noFill/>
        </p:spPr>
        <p:txBody>
          <a:bodyPr vert="horz" wrap="square" lIns="0" tIns="0" rIns="0" bIns="0" rtlCol="0">
            <a:spAutoFit/>
          </a:bodyPr>
          <a:lstStyle/>
          <a:p>
            <a:pPr algn="ctr"/>
            <a:r>
              <a:rPr lang="en-US" sz="1400" b="1">
                <a:solidFill>
                  <a:srgbClr val="5A6470"/>
                </a:solidFill>
                <a:latin typeface="Segoe UI" panose="020B0502040204020203" pitchFamily="34" charset="0"/>
              </a:rPr>
              <a:t>▼</a:t>
            </a:r>
          </a:p>
        </p:txBody>
      </p:sp>
      <p:sp>
        <p:nvSpPr>
          <p:cNvPr id="12" name="Rectangle 11">
            <a:extLst>
              <a:ext uri="{FF2B5EF4-FFF2-40B4-BE49-F238E27FC236}">
                <a16:creationId xmlns:a16="http://schemas.microsoft.com/office/drawing/2014/main" id="{025702A6-3934-3DE8-83D7-A2875FECCEFB}"/>
              </a:ext>
            </a:extLst>
          </p:cNvPr>
          <p:cNvSpPr/>
          <p:nvPr/>
        </p:nvSpPr>
        <p:spPr>
          <a:xfrm>
            <a:off x="7112000" y="3759200"/>
            <a:ext cx="4318000" cy="6604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DF3D5A5-B315-6FD3-5A36-A91BE2BA1CF9}"/>
              </a:ext>
            </a:extLst>
          </p:cNvPr>
          <p:cNvSpPr txBox="1"/>
          <p:nvPr/>
        </p:nvSpPr>
        <p:spPr>
          <a:xfrm>
            <a:off x="7112000" y="3937000"/>
            <a:ext cx="4318000" cy="230832"/>
          </a:xfrm>
          <a:prstGeom prst="rect">
            <a:avLst/>
          </a:prstGeom>
          <a:noFill/>
        </p:spPr>
        <p:txBody>
          <a:bodyPr vert="horz" wrap="square" lIns="0" tIns="0" rIns="0" bIns="0" rtlCol="0">
            <a:spAutoFit/>
          </a:bodyPr>
          <a:lstStyle/>
          <a:p>
            <a:pPr algn="ctr"/>
            <a:r>
              <a:rPr lang="en-US" sz="1500" b="1">
                <a:solidFill>
                  <a:srgbClr val="FFFFFF"/>
                </a:solidFill>
                <a:latin typeface="Segoe UI" panose="020B0502040204020203" pitchFamily="34" charset="0"/>
              </a:rPr>
              <a:t>Part 2: into the GPU (FFT)</a:t>
            </a:r>
          </a:p>
        </p:txBody>
      </p:sp>
      <p:sp>
        <p:nvSpPr>
          <p:cNvPr id="14" name="TextBox 13">
            <a:extLst>
              <a:ext uri="{FF2B5EF4-FFF2-40B4-BE49-F238E27FC236}">
                <a16:creationId xmlns:a16="http://schemas.microsoft.com/office/drawing/2014/main" id="{17F31385-E8D4-A66B-FCFA-501F1888E4F5}"/>
              </a:ext>
            </a:extLst>
          </p:cNvPr>
          <p:cNvSpPr txBox="1"/>
          <p:nvPr/>
        </p:nvSpPr>
        <p:spPr>
          <a:xfrm>
            <a:off x="7112000" y="5537200"/>
            <a:ext cx="4318000" cy="400110"/>
          </a:xfrm>
          <a:prstGeom prst="rect">
            <a:avLst/>
          </a:prstGeom>
          <a:noFill/>
        </p:spPr>
        <p:txBody>
          <a:bodyPr vert="horz" wrap="square" lIns="0" tIns="0" rIns="0" bIns="0" rtlCol="0">
            <a:spAutoFit/>
          </a:bodyPr>
          <a:lstStyle/>
          <a:p>
            <a:pPr algn="ctr"/>
            <a:r>
              <a:rPr lang="en-US" sz="1300">
                <a:solidFill>
                  <a:srgbClr val="5A6470"/>
                </a:solidFill>
                <a:latin typeface="Segoe UI" panose="020B0502040204020203" pitchFamily="34" charset="0"/>
              </a:rPr>
              <a:t>I measured the delay added at each stage, then went after what was left.</a:t>
            </a:r>
            <a:endParaRPr lang="en-US" sz="1300" dirty="0">
              <a:solidFill>
                <a:srgbClr val="5A6470"/>
              </a:solidFill>
              <a:latin typeface="Segoe UI" panose="020B0502040204020203" pitchFamily="34" charset="0"/>
            </a:endParaRPr>
          </a:p>
        </p:txBody>
      </p:sp>
      <p:pic>
        <p:nvPicPr>
          <p:cNvPr id="15" name="Slide 2">
            <a:hlinkClick r:id="" action="ppaction://media"/>
            <a:extLst>
              <a:ext uri="{FF2B5EF4-FFF2-40B4-BE49-F238E27FC236}">
                <a16:creationId xmlns:a16="http://schemas.microsoft.com/office/drawing/2014/main" id="{CFF7CCF6-7B9E-91D1-5BB3-A9500EF8E99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04900" y="5837386"/>
            <a:ext cx="406400" cy="406400"/>
          </a:xfrm>
          <a:prstGeom prst="rect">
            <a:avLst/>
          </a:prstGeom>
        </p:spPr>
      </p:pic>
      <p:sp>
        <p:nvSpPr>
          <p:cNvPr id="16" name="Part3Arrow">
            <a:extLst>
              <a:ext uri="{FF2B5EF4-FFF2-40B4-BE49-F238E27FC236}">
                <a16:creationId xmlns:a16="http://schemas.microsoft.com/office/drawing/2014/main" id="{A2260A6C-601F-0CFD-17BE-EEF9904D8477}"/>
              </a:ext>
            </a:extLst>
          </p:cNvPr>
          <p:cNvSpPr txBox="1"/>
          <p:nvPr/>
        </p:nvSpPr>
        <p:spPr>
          <a:xfrm>
            <a:off x="7112000" y="4445000"/>
            <a:ext cx="4318000" cy="215900"/>
          </a:xfrm>
          <a:prstGeom prst="rect">
            <a:avLst/>
          </a:prstGeom>
          <a:noFill/>
        </p:spPr>
        <p:txBody>
          <a:bodyPr vert="horz" wrap="square" lIns="0" tIns="0" rIns="0" bIns="0" rtlCol="0">
            <a:spAutoFit/>
          </a:bodyPr>
          <a:lstStyle/>
          <a:p>
            <a:pPr algn="ctr"/>
            <a:r>
              <a:rPr lang="en-US" sz="1400" b="1">
                <a:solidFill>
                  <a:srgbClr val="5A6470"/>
                </a:solidFill>
                <a:latin typeface="Segoe UI" panose="020B0502040204020203" pitchFamily="34" charset="0"/>
              </a:rPr>
              <a:t>▼</a:t>
            </a:r>
          </a:p>
        </p:txBody>
      </p:sp>
      <p:sp>
        <p:nvSpPr>
          <p:cNvPr id="17" name="Part3Box">
            <a:extLst>
              <a:ext uri="{FF2B5EF4-FFF2-40B4-BE49-F238E27FC236}">
                <a16:creationId xmlns:a16="http://schemas.microsoft.com/office/drawing/2014/main" id="{E33873CC-64C5-B2E9-C922-EBAB98021388}"/>
              </a:ext>
            </a:extLst>
          </p:cNvPr>
          <p:cNvSpPr/>
          <p:nvPr/>
        </p:nvSpPr>
        <p:spPr>
          <a:xfrm>
            <a:off x="7112000" y="4749800"/>
            <a:ext cx="4318000" cy="6604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art3Label">
            <a:extLst>
              <a:ext uri="{FF2B5EF4-FFF2-40B4-BE49-F238E27FC236}">
                <a16:creationId xmlns:a16="http://schemas.microsoft.com/office/drawing/2014/main" id="{0E8839D7-5707-2863-BADB-212A8A15A422}"/>
              </a:ext>
            </a:extLst>
          </p:cNvPr>
          <p:cNvSpPr txBox="1"/>
          <p:nvPr/>
        </p:nvSpPr>
        <p:spPr>
          <a:xfrm>
            <a:off x="7112000" y="4927600"/>
            <a:ext cx="4318000" cy="228600"/>
          </a:xfrm>
          <a:prstGeom prst="rect">
            <a:avLst/>
          </a:prstGeom>
          <a:noFill/>
        </p:spPr>
        <p:txBody>
          <a:bodyPr vert="horz" wrap="square" lIns="0" tIns="0" rIns="0" bIns="0" rtlCol="0">
            <a:spAutoFit/>
          </a:bodyPr>
          <a:lstStyle/>
          <a:p>
            <a:pPr algn="ctr"/>
            <a:r>
              <a:rPr lang="en-US" sz="1500" b="1">
                <a:solidFill>
                  <a:srgbClr val="FFFFFF"/>
                </a:solidFill>
                <a:latin typeface="Segoe UI" panose="020B0502040204020203" pitchFamily="34" charset="0"/>
              </a:rPr>
              <a:t>Part 3: closing the gap</a:t>
            </a:r>
          </a:p>
        </p:txBody>
      </p:sp>
    </p:spTree>
    <p:extLst>
      <p:ext uri="{BB962C8B-B14F-4D97-AF65-F5344CB8AC3E}">
        <p14:creationId xmlns:p14="http://schemas.microsoft.com/office/powerpoint/2010/main" val="413393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742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08FADE-5C11-D4F3-B32C-1BE8663491BC}"/>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0278C83-462F-F28B-5FF6-02D24DC04B0C}"/>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1: ACROSS THE NETWORK</a:t>
            </a:r>
          </a:p>
        </p:txBody>
      </p:sp>
      <p:sp>
        <p:nvSpPr>
          <p:cNvPr id="4" name="TextBox 3">
            <a:extLst>
              <a:ext uri="{FF2B5EF4-FFF2-40B4-BE49-F238E27FC236}">
                <a16:creationId xmlns:a16="http://schemas.microsoft.com/office/drawing/2014/main" id="{9F9F4CA0-0BF2-7E30-2E34-205FF20FD9D8}"/>
              </a:ext>
            </a:extLst>
          </p:cNvPr>
          <p:cNvSpPr txBox="1"/>
          <p:nvPr/>
        </p:nvSpPr>
        <p:spPr>
          <a:xfrm>
            <a:off x="685800" y="584200"/>
            <a:ext cx="10795000" cy="76944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Keeping the same code but swapping the transport cut latency up to 281 times</a:t>
            </a:r>
          </a:p>
        </p:txBody>
      </p:sp>
      <p:sp>
        <p:nvSpPr>
          <p:cNvPr id="5" name="Rectangle 4">
            <a:extLst>
              <a:ext uri="{FF2B5EF4-FFF2-40B4-BE49-F238E27FC236}">
                <a16:creationId xmlns:a16="http://schemas.microsoft.com/office/drawing/2014/main" id="{0B890425-3183-0CFF-01C4-209E42D31280}"/>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F58FF6DF-3B2D-AE8A-DB7E-F59A21AFA8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8000" y="2161505"/>
            <a:ext cx="7239000" cy="3931990"/>
          </a:xfrm>
          <a:prstGeom prst="rect">
            <a:avLst/>
          </a:prstGeom>
        </p:spPr>
      </p:pic>
      <p:sp>
        <p:nvSpPr>
          <p:cNvPr id="9" name="TextBox 8">
            <a:extLst>
              <a:ext uri="{FF2B5EF4-FFF2-40B4-BE49-F238E27FC236}">
                <a16:creationId xmlns:a16="http://schemas.microsoft.com/office/drawing/2014/main" id="{6D3DD26B-381A-AC29-6936-AA98BC475DC3}"/>
              </a:ext>
            </a:extLst>
          </p:cNvPr>
          <p:cNvSpPr txBox="1"/>
          <p:nvPr/>
        </p:nvSpPr>
        <p:spPr>
          <a:xfrm>
            <a:off x="8001000" y="2095500"/>
            <a:ext cx="3810000" cy="3046988"/>
          </a:xfrm>
          <a:prstGeom prst="rect">
            <a:avLst/>
          </a:prstGeom>
          <a:noFill/>
        </p:spPr>
        <p:txBody>
          <a:bodyPr vert="horz" wrap="square" lIns="0" tIns="0" rIns="0" bIns="0" rtlCol="0">
            <a:spAutoFit/>
          </a:bodyPr>
          <a:lstStyle/>
          <a:p>
            <a:pPr marL="285750" indent="-285750">
              <a:buFont typeface="Arial" panose="020B0604020202020204" pitchFamily="34" charset="0"/>
              <a:buChar char="•"/>
            </a:pPr>
            <a:r>
              <a:rPr lang="en-US" sz="1800" dirty="0">
                <a:solidFill>
                  <a:srgbClr val="1B1B1B"/>
                </a:solidFill>
                <a:latin typeface="Segoe UI" panose="020B0502040204020203" pitchFamily="34" charset="0"/>
              </a:rPr>
              <a:t>When both sides run on the same machine, shared memory passes the data straight across and skips the operating system's copies. A round trip takes 3.3 microseconds, which is 281 times faster than standard gRPC.</a:t>
            </a:r>
          </a:p>
          <a:p>
            <a:pPr marL="285750" indent="-285750">
              <a:buFont typeface="Arial" panose="020B0604020202020204" pitchFamily="34" charset="0"/>
              <a:buChar char="•"/>
            </a:pPr>
            <a:endParaRPr lang="en-US" sz="1800" dirty="0">
              <a:solidFill>
                <a:srgbClr val="1B1B1B"/>
              </a:solidFill>
              <a:latin typeface="Segoe UI" panose="020B0502040204020203" pitchFamily="34" charset="0"/>
            </a:endParaRPr>
          </a:p>
          <a:p>
            <a:pPr marL="285750" indent="-285750">
              <a:buFont typeface="Arial" panose="020B0604020202020204" pitchFamily="34" charset="0"/>
              <a:buChar char="•"/>
            </a:pPr>
            <a:r>
              <a:rPr lang="en-US" sz="1800" dirty="0">
                <a:solidFill>
                  <a:srgbClr val="1B1B1B"/>
                </a:solidFill>
                <a:latin typeface="Segoe UI" panose="020B0502040204020203" pitchFamily="34" charset="0"/>
              </a:rPr>
              <a:t>When the data has to reach a second machine, RDMA handles that instead.</a:t>
            </a:r>
          </a:p>
        </p:txBody>
      </p:sp>
      <p:pic>
        <p:nvPicPr>
          <p:cNvPr id="6" name="slide 3">
            <a:hlinkClick r:id="" action="ppaction://media"/>
            <a:extLst>
              <a:ext uri="{FF2B5EF4-FFF2-40B4-BE49-F238E27FC236}">
                <a16:creationId xmlns:a16="http://schemas.microsoft.com/office/drawing/2014/main" id="{E3432764-E29B-12EA-FB9F-D7174D3B44E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685800" y="6324600"/>
            <a:ext cx="406400" cy="406400"/>
          </a:xfrm>
          <a:prstGeom prst="rect">
            <a:avLst/>
          </a:prstGeom>
        </p:spPr>
      </p:pic>
    </p:spTree>
    <p:extLst>
      <p:ext uri="{BB962C8B-B14F-4D97-AF65-F5344CB8AC3E}">
        <p14:creationId xmlns:p14="http://schemas.microsoft.com/office/powerpoint/2010/main" val="3213799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1055"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0A4DBD-9D4B-32C8-F545-9577C25B7B0B}"/>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21CC8E9-33A9-6E3E-471C-3CF90EE96440}"/>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1: ACROSS THE NETWORK</a:t>
            </a:r>
          </a:p>
        </p:txBody>
      </p:sp>
      <p:sp>
        <p:nvSpPr>
          <p:cNvPr id="4" name="TextBox 3">
            <a:extLst>
              <a:ext uri="{FF2B5EF4-FFF2-40B4-BE49-F238E27FC236}">
                <a16:creationId xmlns:a16="http://schemas.microsoft.com/office/drawing/2014/main" id="{086654B4-28CD-1B59-4643-0544E3D2EB5D}"/>
              </a:ext>
            </a:extLst>
          </p:cNvPr>
          <p:cNvSpPr txBox="1"/>
          <p:nvPr/>
        </p:nvSpPr>
        <p:spPr>
          <a:xfrm>
            <a:off x="685800" y="584200"/>
            <a:ext cx="10795000" cy="769441"/>
          </a:xfrm>
          <a:prstGeom prst="rect">
            <a:avLst/>
          </a:prstGeom>
          <a:noFill/>
        </p:spPr>
        <p:txBody>
          <a:bodyPr vert="horz" wrap="square" lIns="0" tIns="0" rIns="0" bIns="0" rtlCol="0">
            <a:spAutoFit/>
          </a:bodyPr>
          <a:lstStyle/>
          <a:p>
            <a:r>
              <a:rPr lang="en-US" sz="2500" b="1" dirty="0">
                <a:solidFill>
                  <a:srgbClr val="1B1B1B"/>
                </a:solidFill>
                <a:latin typeface="Segoe UI" panose="020B0502040204020203" pitchFamily="34" charset="0"/>
              </a:rPr>
              <a:t>Skipping the memory copies gave almost four times the streaming throughput</a:t>
            </a:r>
          </a:p>
        </p:txBody>
      </p:sp>
      <p:sp>
        <p:nvSpPr>
          <p:cNvPr id="5" name="Rectangle 4">
            <a:extLst>
              <a:ext uri="{FF2B5EF4-FFF2-40B4-BE49-F238E27FC236}">
                <a16:creationId xmlns:a16="http://schemas.microsoft.com/office/drawing/2014/main" id="{9B474A30-75D0-1405-C828-C69BC0FDB7D9}"/>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DB4CD4D-B322-F158-92C9-9AAEFE83C5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75000" y="2248127"/>
            <a:ext cx="5842000" cy="3822246"/>
          </a:xfrm>
          <a:prstGeom prst="rect">
            <a:avLst/>
          </a:prstGeom>
        </p:spPr>
      </p:pic>
      <p:pic>
        <p:nvPicPr>
          <p:cNvPr id="6" name="Slide 4">
            <a:hlinkClick r:id="" action="ppaction://media"/>
            <a:extLst>
              <a:ext uri="{FF2B5EF4-FFF2-40B4-BE49-F238E27FC236}">
                <a16:creationId xmlns:a16="http://schemas.microsoft.com/office/drawing/2014/main" id="{6ED328B1-1CA9-EF69-9C29-448CB4298D8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06764" y="5580846"/>
            <a:ext cx="406400" cy="406400"/>
          </a:xfrm>
          <a:prstGeom prst="rect">
            <a:avLst/>
          </a:prstGeom>
        </p:spPr>
      </p:pic>
    </p:spTree>
    <p:extLst>
      <p:ext uri="{BB962C8B-B14F-4D97-AF65-F5344CB8AC3E}">
        <p14:creationId xmlns:p14="http://schemas.microsoft.com/office/powerpoint/2010/main" val="3997783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149"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65A04745-132B-D777-03C4-49805C783E1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2164609"/>
            <a:ext cx="6604000" cy="3925782"/>
          </a:xfrm>
          <a:prstGeom prst="rect">
            <a:avLst/>
          </a:prstGeom>
        </p:spPr>
      </p:pic>
      <p:sp>
        <p:nvSpPr>
          <p:cNvPr id="2" name="Rectangle 1">
            <a:extLst>
              <a:ext uri="{FF2B5EF4-FFF2-40B4-BE49-F238E27FC236}">
                <a16:creationId xmlns:a16="http://schemas.microsoft.com/office/drawing/2014/main" id="{62DC3861-D188-40DC-762C-1CA562A99FC7}"/>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B4D5106-9B09-851B-901B-8073D56B6A24}"/>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1: ACROSS THE NETWORK</a:t>
            </a:r>
          </a:p>
        </p:txBody>
      </p:sp>
      <p:sp>
        <p:nvSpPr>
          <p:cNvPr id="4" name="TextBox 3">
            <a:extLst>
              <a:ext uri="{FF2B5EF4-FFF2-40B4-BE49-F238E27FC236}">
                <a16:creationId xmlns:a16="http://schemas.microsoft.com/office/drawing/2014/main" id="{0540E7D6-9BE2-A983-3721-E99B41A7FB87}"/>
              </a:ext>
            </a:extLst>
          </p:cNvPr>
          <p:cNvSpPr txBox="1"/>
          <p:nvPr/>
        </p:nvSpPr>
        <p:spPr>
          <a:xfrm>
            <a:off x="685800" y="584200"/>
            <a:ext cx="10795000" cy="38472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gRPC Direct over RDMA reaches 98% of the 50-gigabit line rate</a:t>
            </a:r>
          </a:p>
        </p:txBody>
      </p:sp>
      <p:sp>
        <p:nvSpPr>
          <p:cNvPr id="5" name="Rectangle 4">
            <a:extLst>
              <a:ext uri="{FF2B5EF4-FFF2-40B4-BE49-F238E27FC236}">
                <a16:creationId xmlns:a16="http://schemas.microsoft.com/office/drawing/2014/main" id="{171B4FF1-93B6-CA26-7C91-286ED7B4457F}"/>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09ADF95-B9CF-C81B-5050-DB2402A0B6A7}"/>
              </a:ext>
            </a:extLst>
          </p:cNvPr>
          <p:cNvSpPr txBox="1"/>
          <p:nvPr/>
        </p:nvSpPr>
        <p:spPr>
          <a:xfrm>
            <a:off x="7493000" y="2095500"/>
            <a:ext cx="4254500" cy="4001095"/>
          </a:xfrm>
          <a:prstGeom prst="rect">
            <a:avLst/>
          </a:prstGeom>
          <a:noFill/>
        </p:spPr>
        <p:txBody>
          <a:bodyPr vert="horz" wrap="square" lIns="0" tIns="0" rIns="0" bIns="0" rtlCol="0">
            <a:spAutoFit/>
          </a:bodyPr>
          <a:lstStyle/>
          <a:p>
            <a:pPr marL="342900" indent="-342900">
              <a:buFont typeface="Arial" panose="020B0604020202020204" pitchFamily="34" charset="0"/>
              <a:buChar char="•"/>
            </a:pPr>
            <a:r>
              <a:rPr lang="en-US" sz="2000" dirty="0">
                <a:solidFill>
                  <a:srgbClr val="1B1B1B"/>
                </a:solidFill>
                <a:latin typeface="Segoe UI" panose="020B0502040204020203" pitchFamily="34" charset="0"/>
              </a:rPr>
              <a:t>This test measures how much data per second crosses the 50 gigabit link. gRPC Direct over RDMA gets 6.13 gigabytes per second, which is 98 percent of the theoretical maximum. This shows us that transport is not the bottleneck for RDMA since it moves data as fast as the wire physically allows.</a:t>
            </a:r>
          </a:p>
          <a:p>
            <a:pPr marL="342900" indent="-342900">
              <a:buFont typeface="Arial" panose="020B0604020202020204" pitchFamily="34" charset="0"/>
              <a:buChar char="•"/>
            </a:pPr>
            <a:endParaRPr lang="en-US" sz="2000" dirty="0">
              <a:solidFill>
                <a:srgbClr val="1B1B1B"/>
              </a:solidFill>
              <a:latin typeface="Segoe UI" panose="020B0502040204020203" pitchFamily="34" charset="0"/>
            </a:endParaRPr>
          </a:p>
          <a:p>
            <a:pPr marL="342900" indent="-342900">
              <a:buFont typeface="Arial" panose="020B0604020202020204" pitchFamily="34" charset="0"/>
              <a:buChar char="•"/>
            </a:pPr>
            <a:r>
              <a:rPr lang="en-US" sz="2000" dirty="0">
                <a:solidFill>
                  <a:srgbClr val="1B1B1B"/>
                </a:solidFill>
                <a:latin typeface="Segoe UI" panose="020B0502040204020203" pitchFamily="34" charset="0"/>
              </a:rPr>
              <a:t>How fast a single buffer reaches the GPU is a separate topic for discussion.</a:t>
            </a:r>
          </a:p>
        </p:txBody>
      </p:sp>
      <p:pic>
        <p:nvPicPr>
          <p:cNvPr id="6" name="slide 5">
            <a:hlinkClick r:id="" action="ppaction://media"/>
            <a:extLst>
              <a:ext uri="{FF2B5EF4-FFF2-40B4-BE49-F238E27FC236}">
                <a16:creationId xmlns:a16="http://schemas.microsoft.com/office/drawing/2014/main" id="{F562C980-4953-892B-9FEB-EB0129601CD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52500" y="6121400"/>
            <a:ext cx="406400" cy="406400"/>
          </a:xfrm>
          <a:prstGeom prst="rect">
            <a:avLst/>
          </a:prstGeom>
        </p:spPr>
      </p:pic>
    </p:spTree>
    <p:extLst>
      <p:ext uri="{BB962C8B-B14F-4D97-AF65-F5344CB8AC3E}">
        <p14:creationId xmlns:p14="http://schemas.microsoft.com/office/powerpoint/2010/main" val="3694251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2239"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CA72E3-200E-9C60-3BF0-E20E6B09C663}"/>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7373865-E1AE-CA63-9A1D-4A976FA6F0AE}"/>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2: INTO THE GPU</a:t>
            </a:r>
          </a:p>
        </p:txBody>
      </p:sp>
      <p:sp>
        <p:nvSpPr>
          <p:cNvPr id="4" name="TextBox 3">
            <a:extLst>
              <a:ext uri="{FF2B5EF4-FFF2-40B4-BE49-F238E27FC236}">
                <a16:creationId xmlns:a16="http://schemas.microsoft.com/office/drawing/2014/main" id="{FBCFF5F6-CAB1-4D86-B67A-5906EA3E65E0}"/>
              </a:ext>
            </a:extLst>
          </p:cNvPr>
          <p:cNvSpPr txBox="1"/>
          <p:nvPr/>
        </p:nvSpPr>
        <p:spPr>
          <a:xfrm>
            <a:off x="685800" y="584200"/>
            <a:ext cx="10795000" cy="384721"/>
          </a:xfrm>
          <a:prstGeom prst="rect">
            <a:avLst/>
          </a:prstGeom>
          <a:noFill/>
        </p:spPr>
        <p:txBody>
          <a:bodyPr vert="horz" wrap="square" lIns="0" tIns="0" rIns="0" bIns="0" rtlCol="0">
            <a:spAutoFit/>
          </a:bodyPr>
          <a:lstStyle/>
          <a:p>
            <a:r>
              <a:rPr lang="en-US" sz="2500" b="1" dirty="0">
                <a:solidFill>
                  <a:srgbClr val="1B1B1B"/>
                </a:solidFill>
                <a:latin typeface="Segoe UI" panose="020B0502040204020203" pitchFamily="34" charset="0"/>
              </a:rPr>
              <a:t>In the GPU pipeline, both transports now skip the big CPU copy</a:t>
            </a:r>
          </a:p>
        </p:txBody>
      </p:sp>
      <p:sp>
        <p:nvSpPr>
          <p:cNvPr id="5" name="Rectangle 4">
            <a:extLst>
              <a:ext uri="{FF2B5EF4-FFF2-40B4-BE49-F238E27FC236}">
                <a16:creationId xmlns:a16="http://schemas.microsoft.com/office/drawing/2014/main" id="{3D65D53A-C75F-6671-0E45-AC71D72BB659}"/>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DD29A1B-6099-117B-940B-7C79A7BFD9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44962" y="1968500"/>
            <a:ext cx="8102077" cy="4381500"/>
          </a:xfrm>
          <a:prstGeom prst="rect">
            <a:avLst/>
          </a:prstGeom>
        </p:spPr>
      </p:pic>
      <p:pic>
        <p:nvPicPr>
          <p:cNvPr id="6" name="Slide 6">
            <a:hlinkClick r:id="" action="ppaction://media"/>
            <a:extLst>
              <a:ext uri="{FF2B5EF4-FFF2-40B4-BE49-F238E27FC236}">
                <a16:creationId xmlns:a16="http://schemas.microsoft.com/office/drawing/2014/main" id="{FA8D02D8-123A-335A-202B-0882C08FBAA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49300" y="5943600"/>
            <a:ext cx="406400" cy="406400"/>
          </a:xfrm>
          <a:prstGeom prst="rect">
            <a:avLst/>
          </a:prstGeom>
        </p:spPr>
      </p:pic>
    </p:spTree>
    <p:extLst>
      <p:ext uri="{BB962C8B-B14F-4D97-AF65-F5344CB8AC3E}">
        <p14:creationId xmlns:p14="http://schemas.microsoft.com/office/powerpoint/2010/main" val="83307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115"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895A20-F9CA-0C90-BFC9-1EA1D77434B0}"/>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0FF95FC-A7F7-44BE-56B7-C941BCC22CBD}"/>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2: INTO THE GPU</a:t>
            </a:r>
          </a:p>
        </p:txBody>
      </p:sp>
      <p:sp>
        <p:nvSpPr>
          <p:cNvPr id="4" name="TextBox 3">
            <a:extLst>
              <a:ext uri="{FF2B5EF4-FFF2-40B4-BE49-F238E27FC236}">
                <a16:creationId xmlns:a16="http://schemas.microsoft.com/office/drawing/2014/main" id="{F11C39F3-9945-942B-7301-462FFDF3665C}"/>
              </a:ext>
            </a:extLst>
          </p:cNvPr>
          <p:cNvSpPr txBox="1"/>
          <p:nvPr/>
        </p:nvSpPr>
        <p:spPr>
          <a:xfrm>
            <a:off x="685800" y="584200"/>
            <a:ext cx="10795000" cy="38472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Getting a buffer into the GPU, DAQiri was faster at every size we tested</a:t>
            </a:r>
          </a:p>
        </p:txBody>
      </p:sp>
      <p:sp>
        <p:nvSpPr>
          <p:cNvPr id="5" name="Rectangle 4">
            <a:extLst>
              <a:ext uri="{FF2B5EF4-FFF2-40B4-BE49-F238E27FC236}">
                <a16:creationId xmlns:a16="http://schemas.microsoft.com/office/drawing/2014/main" id="{C7F45CC1-F596-9BC5-2F03-BB77D87B3E19}"/>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BFD9BC0-40E7-D742-82B1-C03BF84AE7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8000" y="2164872"/>
            <a:ext cx="7239000" cy="3925257"/>
          </a:xfrm>
          <a:prstGeom prst="rect">
            <a:avLst/>
          </a:prstGeom>
        </p:spPr>
      </p:pic>
      <p:sp>
        <p:nvSpPr>
          <p:cNvPr id="8" name="TextBox 7">
            <a:extLst>
              <a:ext uri="{FF2B5EF4-FFF2-40B4-BE49-F238E27FC236}">
                <a16:creationId xmlns:a16="http://schemas.microsoft.com/office/drawing/2014/main" id="{973B817B-B68F-F325-B5CE-27046208A392}"/>
              </a:ext>
            </a:extLst>
          </p:cNvPr>
          <p:cNvSpPr txBox="1"/>
          <p:nvPr/>
        </p:nvSpPr>
        <p:spPr>
          <a:xfrm>
            <a:off x="8001000" y="2095500"/>
            <a:ext cx="3810000" cy="2462213"/>
          </a:xfrm>
          <a:prstGeom prst="rect">
            <a:avLst/>
          </a:prstGeom>
          <a:noFill/>
        </p:spPr>
        <p:txBody>
          <a:bodyPr vert="horz" wrap="square" lIns="0" tIns="0" rIns="0" bIns="0" rtlCol="0">
            <a:spAutoFit/>
          </a:bodyPr>
          <a:lstStyle/>
          <a:p>
            <a:pPr marL="285750" indent="-285750">
              <a:buFont typeface="Arial" panose="020B0604020202020204" pitchFamily="34" charset="0"/>
              <a:buChar char="•"/>
            </a:pPr>
            <a:r>
              <a:rPr lang="en-US" sz="2000" dirty="0">
                <a:solidFill>
                  <a:srgbClr val="1B1B1B"/>
                </a:solidFill>
                <a:latin typeface="Segoe UI" panose="020B0502040204020203" pitchFamily="34" charset="0"/>
              </a:rPr>
              <a:t>Part 1 measured how much data per second the link carries. This measures how long one buffer takes to get from the wire into the GPU.</a:t>
            </a:r>
          </a:p>
          <a:p>
            <a:pPr marL="285750" indent="-285750">
              <a:buFont typeface="Arial" panose="020B0604020202020204" pitchFamily="34" charset="0"/>
              <a:buChar char="•"/>
            </a:pPr>
            <a:endParaRPr lang="en-US" sz="2000" dirty="0">
              <a:solidFill>
                <a:srgbClr val="1B1B1B"/>
              </a:solidFill>
              <a:latin typeface="Segoe UI" panose="020B0502040204020203" pitchFamily="34" charset="0"/>
            </a:endParaRPr>
          </a:p>
          <a:p>
            <a:pPr marL="285750" indent="-285750">
              <a:buFont typeface="Arial" panose="020B0604020202020204" pitchFamily="34" charset="0"/>
              <a:buChar char="•"/>
            </a:pPr>
            <a:r>
              <a:rPr lang="en-US" sz="2000" dirty="0">
                <a:solidFill>
                  <a:srgbClr val="1B1B1B"/>
                </a:solidFill>
                <a:latin typeface="Segoe UI" panose="020B0502040204020203" pitchFamily="34" charset="0"/>
              </a:rPr>
              <a:t>DAQiri came out ahead at every payload size. </a:t>
            </a:r>
          </a:p>
        </p:txBody>
      </p:sp>
      <p:pic>
        <p:nvPicPr>
          <p:cNvPr id="6" name="slide 7">
            <a:hlinkClick r:id="" action="ppaction://media"/>
            <a:extLst>
              <a:ext uri="{FF2B5EF4-FFF2-40B4-BE49-F238E27FC236}">
                <a16:creationId xmlns:a16="http://schemas.microsoft.com/office/drawing/2014/main" id="{4C37B270-133F-A9D7-AA2A-B66B3090AE5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49300" y="6048565"/>
            <a:ext cx="406400" cy="406400"/>
          </a:xfrm>
          <a:prstGeom prst="rect">
            <a:avLst/>
          </a:prstGeom>
        </p:spPr>
      </p:pic>
    </p:spTree>
    <p:extLst>
      <p:ext uri="{BB962C8B-B14F-4D97-AF65-F5344CB8AC3E}">
        <p14:creationId xmlns:p14="http://schemas.microsoft.com/office/powerpoint/2010/main" val="1654786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16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828C78D-681C-06B0-6CCD-80052D4D932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8920" y="1905000"/>
            <a:ext cx="6444760" cy="4064000"/>
          </a:xfrm>
          <a:prstGeom prst="rect">
            <a:avLst/>
          </a:prstGeom>
        </p:spPr>
      </p:pic>
      <p:sp>
        <p:nvSpPr>
          <p:cNvPr id="2" name="Rectangle 1">
            <a:extLst>
              <a:ext uri="{FF2B5EF4-FFF2-40B4-BE49-F238E27FC236}">
                <a16:creationId xmlns:a16="http://schemas.microsoft.com/office/drawing/2014/main" id="{62DC3861-D188-40DC-762C-1CA562A99FC7}"/>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B4D5106-9B09-851B-901B-8073D56B6A24}"/>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3: CLOSING THE GAP</a:t>
            </a:r>
          </a:p>
        </p:txBody>
      </p:sp>
      <p:sp>
        <p:nvSpPr>
          <p:cNvPr id="4" name="TextBox 3">
            <a:extLst>
              <a:ext uri="{FF2B5EF4-FFF2-40B4-BE49-F238E27FC236}">
                <a16:creationId xmlns:a16="http://schemas.microsoft.com/office/drawing/2014/main" id="{0540E7D6-9BE2-A983-3721-E99B41A7FB87}"/>
              </a:ext>
            </a:extLst>
          </p:cNvPr>
          <p:cNvSpPr txBox="1"/>
          <p:nvPr/>
        </p:nvSpPr>
        <p:spPr>
          <a:xfrm>
            <a:off x="685800" y="584200"/>
            <a:ext cx="10795000" cy="38472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The delay grew with the size of the buffer, which told me where to look</a:t>
            </a:r>
          </a:p>
        </p:txBody>
      </p:sp>
      <p:sp>
        <p:nvSpPr>
          <p:cNvPr id="5" name="Rectangle 4">
            <a:extLst>
              <a:ext uri="{FF2B5EF4-FFF2-40B4-BE49-F238E27FC236}">
                <a16:creationId xmlns:a16="http://schemas.microsoft.com/office/drawing/2014/main" id="{171B4FF1-93B6-CA26-7C91-286ED7B4457F}"/>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09ADF95-B9CF-C81B-5050-DB2402A0B6A7}"/>
              </a:ext>
            </a:extLst>
          </p:cNvPr>
          <p:cNvSpPr txBox="1"/>
          <p:nvPr/>
        </p:nvSpPr>
        <p:spPr>
          <a:xfrm>
            <a:off x="7493000" y="2095500"/>
            <a:ext cx="4254500" cy="3046988"/>
          </a:xfrm>
          <a:prstGeom prst="rect">
            <a:avLst/>
          </a:prstGeom>
          <a:noFill/>
        </p:spPr>
        <p:txBody>
          <a:bodyPr vert="horz" wrap="square" lIns="0" tIns="0" rIns="0" bIns="0" rtlCol="0">
            <a:spAutoFit/>
          </a:bodyPr>
          <a:lstStyle/>
          <a:p>
            <a:pPr marL="342900" indent="-342900">
              <a:buFont typeface="Arial" panose="020B0604020202020204" pitchFamily="34" charset="0"/>
              <a:buChar char="•"/>
            </a:pPr>
            <a:r>
              <a:rPr lang="en-US" sz="1800" dirty="0">
                <a:solidFill>
                  <a:srgbClr val="1B1B1B"/>
                </a:solidFill>
                <a:latin typeface="Segoe UI" panose="020B0502040204020203" pitchFamily="34" charset="0"/>
              </a:rPr>
              <a:t>I subtracted the FFT time from the total to leave everything the pipeline does around the math.</a:t>
            </a:r>
          </a:p>
          <a:p>
            <a:pPr marL="342900" indent="-342900">
              <a:buFont typeface="Arial" panose="020B0604020202020204" pitchFamily="34" charset="0"/>
              <a:buChar char="•"/>
            </a:pPr>
            <a:r>
              <a:rPr lang="en-US" sz="1800" dirty="0" err="1">
                <a:solidFill>
                  <a:srgbClr val="1B1B1B"/>
                </a:solidFill>
                <a:latin typeface="Segoe UI" panose="020B0502040204020203" pitchFamily="34" charset="0"/>
              </a:rPr>
              <a:t>DAQiri's</a:t>
            </a:r>
            <a:r>
              <a:rPr lang="en-US" sz="1800" dirty="0">
                <a:solidFill>
                  <a:srgbClr val="1B1B1B"/>
                </a:solidFill>
                <a:latin typeface="Segoe UI" panose="020B0502040204020203" pitchFamily="34" charset="0"/>
              </a:rPr>
              <a:t> stays flat near 5 microseconds from 16 KB all the way to 4 MB, but</a:t>
            </a:r>
          </a:p>
          <a:p>
            <a:pPr marL="342900" indent="-342900">
              <a:buFont typeface="Arial" panose="020B0604020202020204" pitchFamily="34" charset="0"/>
              <a:buChar char="•"/>
            </a:pPr>
            <a:r>
              <a:rPr lang="en-US" sz="1800" dirty="0">
                <a:solidFill>
                  <a:srgbClr val="1B1B1B"/>
                </a:solidFill>
                <a:latin typeface="Segoe UI" panose="020B0502040204020203" pitchFamily="34" charset="0"/>
              </a:rPr>
              <a:t>gRPC Direct’s climbs from 8 to 82. This cost grows with the byte count suggested to me that something is  touching every byte.</a:t>
            </a:r>
          </a:p>
          <a:p>
            <a:pPr marL="342900" indent="-342900">
              <a:buFont typeface="Arial" panose="020B0604020202020204" pitchFamily="34" charset="0"/>
              <a:buChar char="•"/>
            </a:pPr>
            <a:r>
              <a:rPr lang="en-US" sz="1800" dirty="0">
                <a:solidFill>
                  <a:srgbClr val="1B1B1B"/>
                </a:solidFill>
                <a:latin typeface="Segoe UI" panose="020B0502040204020203" pitchFamily="34" charset="0"/>
              </a:rPr>
              <a:t>So there was Something copying the data still.</a:t>
            </a:r>
          </a:p>
        </p:txBody>
      </p:sp>
    </p:spTree>
    <p:extLst>
      <p:ext uri="{BB962C8B-B14F-4D97-AF65-F5344CB8AC3E}">
        <p14:creationId xmlns:p14="http://schemas.microsoft.com/office/powerpoint/2010/main" val="3011904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72C8C50-9E26-F8E8-5FA0-8F9CB94CB41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0917" y="1905000"/>
            <a:ext cx="5885767" cy="4191000"/>
          </a:xfrm>
          <a:prstGeom prst="rect">
            <a:avLst/>
          </a:prstGeom>
        </p:spPr>
      </p:pic>
      <p:sp>
        <p:nvSpPr>
          <p:cNvPr id="2" name="Rectangle 1">
            <a:extLst>
              <a:ext uri="{FF2B5EF4-FFF2-40B4-BE49-F238E27FC236}">
                <a16:creationId xmlns:a16="http://schemas.microsoft.com/office/drawing/2014/main" id="{62DC3861-D188-40DC-762C-1CA562A99FC7}"/>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B4D5106-9B09-851B-901B-8073D56B6A24}"/>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3: CLOSING THE GAP</a:t>
            </a:r>
          </a:p>
        </p:txBody>
      </p:sp>
      <p:sp>
        <p:nvSpPr>
          <p:cNvPr id="4" name="TextBox 3">
            <a:extLst>
              <a:ext uri="{FF2B5EF4-FFF2-40B4-BE49-F238E27FC236}">
                <a16:creationId xmlns:a16="http://schemas.microsoft.com/office/drawing/2014/main" id="{0540E7D6-9BE2-A983-3721-E99B41A7FB87}"/>
              </a:ext>
            </a:extLst>
          </p:cNvPr>
          <p:cNvSpPr txBox="1"/>
          <p:nvPr/>
        </p:nvSpPr>
        <p:spPr>
          <a:xfrm>
            <a:off x="685800" y="584200"/>
            <a:ext cx="10795000" cy="38472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The cause was an alignment check that could never pass</a:t>
            </a:r>
          </a:p>
        </p:txBody>
      </p:sp>
      <p:sp>
        <p:nvSpPr>
          <p:cNvPr id="5" name="Rectangle 4">
            <a:extLst>
              <a:ext uri="{FF2B5EF4-FFF2-40B4-BE49-F238E27FC236}">
                <a16:creationId xmlns:a16="http://schemas.microsoft.com/office/drawing/2014/main" id="{171B4FF1-93B6-CA26-7C91-286ED7B4457F}"/>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09ADF95-B9CF-C81B-5050-DB2402A0B6A7}"/>
              </a:ext>
            </a:extLst>
          </p:cNvPr>
          <p:cNvSpPr txBox="1"/>
          <p:nvPr/>
        </p:nvSpPr>
        <p:spPr>
          <a:xfrm>
            <a:off x="7493000" y="2095500"/>
            <a:ext cx="4254500" cy="3000821"/>
          </a:xfrm>
          <a:prstGeom prst="rect">
            <a:avLst/>
          </a:prstGeom>
          <a:noFill/>
        </p:spPr>
        <p:txBody>
          <a:bodyPr vert="horz" wrap="square" lIns="0" tIns="0" rIns="0" bIns="0" rtlCol="0">
            <a:spAutoFit/>
          </a:bodyPr>
          <a:lstStyle/>
          <a:p>
            <a:pPr marL="342900" indent="-342900">
              <a:buFont typeface="Arial" panose="020B0604020202020204" pitchFamily="34" charset="0"/>
              <a:buChar char="•"/>
            </a:pPr>
            <a:r>
              <a:rPr lang="en-US" sz="1500">
                <a:solidFill>
                  <a:srgbClr val="1B1B1B"/>
                </a:solidFill>
                <a:latin typeface="Segoe UI" panose="020B0502040204020203" pitchFamily="34" charset="0"/>
              </a:rPr>
              <a:t>The receiver checked whether each incoming buffer was aligned to 16 bytes, and copied it somewhere aligned when it was not.</a:t>
            </a:r>
          </a:p>
          <a:p>
            <a:pPr marL="342900" indent="-342900">
              <a:buFont typeface="Arial" panose="020B0604020202020204" pitchFamily="34" charset="0"/>
              <a:buChar char="•"/>
            </a:pPr>
            <a:r>
              <a:rPr lang="en-US" sz="1500">
                <a:solidFill>
                  <a:srgbClr val="1B1B1B"/>
                </a:solidFill>
                <a:latin typeface="Segoe UI" panose="020B0502040204020203" pitchFamily="34" charset="0"/>
              </a:rPr>
              <a:t>The library that packs the messages only ever gives 8-byte alignment, so the check failed on every single message.</a:t>
            </a:r>
          </a:p>
          <a:p>
            <a:pPr marL="342900" indent="-342900">
              <a:buFont typeface="Arial" panose="020B0604020202020204" pitchFamily="34" charset="0"/>
              <a:buChar char="•"/>
            </a:pPr>
            <a:r>
              <a:rPr lang="en-US" sz="1500">
                <a:solidFill>
                  <a:srgbClr val="1B1B1B"/>
                </a:solidFill>
                <a:latin typeface="Segoe UI" panose="020B0502040204020203" pitchFamily="34" charset="0"/>
              </a:rPr>
              <a:t>cuFFT accepts the 8-byte pointer anyway. The fix stops guessing and asks cuFFT directly whether it will take the buffer.</a:t>
            </a:r>
          </a:p>
          <a:p>
            <a:pPr marL="342900" indent="-342900">
              <a:buFont typeface="Arial" panose="020B0604020202020204" pitchFamily="34" charset="0"/>
              <a:buChar char="•"/>
            </a:pPr>
            <a:r>
              <a:rPr lang="en-US" sz="1500">
                <a:solidFill>
                  <a:srgbClr val="1B1B1B"/>
                </a:solidFill>
                <a:latin typeface="Segoe UI" panose="020B0502040204020203" pitchFamily="34" charset="0"/>
              </a:rPr>
              <a:t>It hid because the copy is asynchronous. The timer around it read 3.5 microseconds; the real 77 surfaced later, inside the wait for the FFT.</a:t>
            </a:r>
            <a:endParaRPr lang="en-US" sz="1500" dirty="0">
              <a:solidFill>
                <a:srgbClr val="1B1B1B"/>
              </a:solidFill>
              <a:latin typeface="Segoe UI" panose="020B0502040204020203" pitchFamily="34" charset="0"/>
            </a:endParaRPr>
          </a:p>
        </p:txBody>
      </p:sp>
    </p:spTree>
    <p:extLst>
      <p:ext uri="{BB962C8B-B14F-4D97-AF65-F5344CB8AC3E}">
        <p14:creationId xmlns:p14="http://schemas.microsoft.com/office/powerpoint/2010/main" val="4231104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20BB261-F222-C3F3-856A-AE2FE6EF84E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8114" y="1905000"/>
            <a:ext cx="6766372" cy="4064000"/>
          </a:xfrm>
          <a:prstGeom prst="rect">
            <a:avLst/>
          </a:prstGeom>
        </p:spPr>
      </p:pic>
      <p:sp>
        <p:nvSpPr>
          <p:cNvPr id="2" name="Rectangle 1">
            <a:extLst>
              <a:ext uri="{FF2B5EF4-FFF2-40B4-BE49-F238E27FC236}">
                <a16:creationId xmlns:a16="http://schemas.microsoft.com/office/drawing/2014/main" id="{62DC3861-D188-40DC-762C-1CA562A99FC7}"/>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B4D5106-9B09-851B-901B-8073D56B6A24}"/>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3: CLOSING THE GAP</a:t>
            </a:r>
          </a:p>
        </p:txBody>
      </p:sp>
      <p:sp>
        <p:nvSpPr>
          <p:cNvPr id="4" name="TextBox 3">
            <a:extLst>
              <a:ext uri="{FF2B5EF4-FFF2-40B4-BE49-F238E27FC236}">
                <a16:creationId xmlns:a16="http://schemas.microsoft.com/office/drawing/2014/main" id="{0540E7D6-9BE2-A983-3721-E99B41A7FB87}"/>
              </a:ext>
            </a:extLst>
          </p:cNvPr>
          <p:cNvSpPr txBox="1"/>
          <p:nvPr/>
        </p:nvSpPr>
        <p:spPr>
          <a:xfrm>
            <a:off x="685800" y="584200"/>
            <a:ext cx="10795000" cy="38472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What is left sits inside the FFT library, not in the transport</a:t>
            </a:r>
          </a:p>
        </p:txBody>
      </p:sp>
      <p:sp>
        <p:nvSpPr>
          <p:cNvPr id="5" name="Rectangle 4">
            <a:extLst>
              <a:ext uri="{FF2B5EF4-FFF2-40B4-BE49-F238E27FC236}">
                <a16:creationId xmlns:a16="http://schemas.microsoft.com/office/drawing/2014/main" id="{171B4FF1-93B6-CA26-7C91-286ED7B4457F}"/>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09ADF95-B9CF-C81B-5050-DB2402A0B6A7}"/>
              </a:ext>
            </a:extLst>
          </p:cNvPr>
          <p:cNvSpPr txBox="1"/>
          <p:nvPr/>
        </p:nvSpPr>
        <p:spPr>
          <a:xfrm>
            <a:off x="7493000" y="2095500"/>
            <a:ext cx="4254500" cy="2077492"/>
          </a:xfrm>
          <a:prstGeom prst="rect">
            <a:avLst/>
          </a:prstGeom>
          <a:noFill/>
        </p:spPr>
        <p:txBody>
          <a:bodyPr vert="horz" wrap="square" lIns="0" tIns="0" rIns="0" bIns="0" rtlCol="0">
            <a:spAutoFit/>
          </a:bodyPr>
          <a:lstStyle/>
          <a:p>
            <a:pPr marL="342900" indent="-342900">
              <a:buFont typeface="Arial" panose="020B0604020202020204" pitchFamily="34" charset="0"/>
              <a:buChar char="•"/>
            </a:pPr>
            <a:r>
              <a:rPr lang="en-US" sz="1500">
                <a:solidFill>
                  <a:srgbClr val="1B1B1B"/>
                </a:solidFill>
                <a:latin typeface="Segoe UI" panose="020B0502040204020203" pitchFamily="34" charset="0"/>
              </a:rPr>
              <a:t>After the fix, gRPC Direct is still a little behind DAQiri. I split that remainder into two parts.</a:t>
            </a:r>
          </a:p>
          <a:p>
            <a:pPr marL="342900" indent="-342900">
              <a:buFont typeface="Arial" panose="020B0604020202020204" pitchFamily="34" charset="0"/>
              <a:buChar char="•"/>
            </a:pPr>
            <a:r>
              <a:rPr lang="en-US" sz="1500">
                <a:solidFill>
                  <a:srgbClr val="1B1B1B"/>
                </a:solidFill>
                <a:latin typeface="Segoe UI" panose="020B0502040204020203" pitchFamily="34" charset="0"/>
              </a:rPr>
              <a:t>The part outside the FFT library stays under 2 microseconds at every size.</a:t>
            </a:r>
          </a:p>
          <a:p>
            <a:pPr marL="342900" indent="-342900">
              <a:buFont typeface="Arial" panose="020B0604020202020204" pitchFamily="34" charset="0"/>
              <a:buChar char="•"/>
            </a:pPr>
            <a:r>
              <a:rPr lang="en-US" sz="1500">
                <a:solidFill>
                  <a:srgbClr val="1B1B1B"/>
                </a:solidFill>
                <a:latin typeface="Segoe UI" panose="020B0502040204020203" pitchFamily="34" charset="0"/>
              </a:rPr>
              <a:t>The part inside it grows with the payload, from 0.8 to 6.4 microseconds.</a:t>
            </a:r>
          </a:p>
          <a:p>
            <a:pPr marL="342900" indent="-342900">
              <a:buFont typeface="Arial" panose="020B0604020202020204" pitchFamily="34" charset="0"/>
              <a:buChar char="•"/>
            </a:pPr>
            <a:r>
              <a:rPr lang="en-US" sz="1500">
                <a:solidFill>
                  <a:srgbClr val="1B1B1B"/>
                </a:solidFill>
                <a:latin typeface="Segoe UI" panose="020B0502040204020203" pitchFamily="34" charset="0"/>
              </a:rPr>
              <a:t>At 4 MB, 79 percent of what is left is inside the FFT library. The transport is no longer the thing to work on.</a:t>
            </a:r>
            <a:endParaRPr lang="en-US" sz="1500" dirty="0">
              <a:solidFill>
                <a:srgbClr val="1B1B1B"/>
              </a:solidFill>
              <a:latin typeface="Segoe UI" panose="020B0502040204020203" pitchFamily="34" charset="0"/>
            </a:endParaRPr>
          </a:p>
        </p:txBody>
      </p:sp>
    </p:spTree>
    <p:extLst>
      <p:ext uri="{BB962C8B-B14F-4D97-AF65-F5344CB8AC3E}">
        <p14:creationId xmlns:p14="http://schemas.microsoft.com/office/powerpoint/2010/main" val="1160061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FD1B83-A31D-46B5-E677-4E4B170A3BF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31800" y="2016164"/>
            <a:ext cx="7112000" cy="3968672"/>
          </a:xfrm>
          <a:prstGeom prst="rect">
            <a:avLst/>
          </a:prstGeom>
        </p:spPr>
      </p:pic>
      <p:sp>
        <p:nvSpPr>
          <p:cNvPr id="2" name="Rectangle 1">
            <a:extLst>
              <a:ext uri="{FF2B5EF4-FFF2-40B4-BE49-F238E27FC236}">
                <a16:creationId xmlns:a16="http://schemas.microsoft.com/office/drawing/2014/main" id="{62DC3861-D188-40DC-762C-1CA562A99FC7}"/>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B4D5106-9B09-851B-901B-8073D56B6A24}"/>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3: CLOSING THE GAP</a:t>
            </a:r>
          </a:p>
        </p:txBody>
      </p:sp>
      <p:sp>
        <p:nvSpPr>
          <p:cNvPr id="4" name="TextBox 3">
            <a:extLst>
              <a:ext uri="{FF2B5EF4-FFF2-40B4-BE49-F238E27FC236}">
                <a16:creationId xmlns:a16="http://schemas.microsoft.com/office/drawing/2014/main" id="{0540E7D6-9BE2-A983-3721-E99B41A7FB87}"/>
              </a:ext>
            </a:extLst>
          </p:cNvPr>
          <p:cNvSpPr txBox="1"/>
          <p:nvPr/>
        </p:nvSpPr>
        <p:spPr>
          <a:xfrm>
            <a:off x="685800" y="584200"/>
            <a:ext cx="10795000" cy="38472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A result I had trusted inverted when I removed one step</a:t>
            </a:r>
          </a:p>
        </p:txBody>
      </p:sp>
      <p:sp>
        <p:nvSpPr>
          <p:cNvPr id="5" name="Rectangle 4">
            <a:extLst>
              <a:ext uri="{FF2B5EF4-FFF2-40B4-BE49-F238E27FC236}">
                <a16:creationId xmlns:a16="http://schemas.microsoft.com/office/drawing/2014/main" id="{171B4FF1-93B6-CA26-7C91-286ED7B4457F}"/>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09ADF95-B9CF-C81B-5050-DB2402A0B6A7}"/>
              </a:ext>
            </a:extLst>
          </p:cNvPr>
          <p:cNvSpPr txBox="1"/>
          <p:nvPr/>
        </p:nvSpPr>
        <p:spPr>
          <a:xfrm>
            <a:off x="7493000" y="2095500"/>
            <a:ext cx="4254500" cy="3200876"/>
          </a:xfrm>
          <a:prstGeom prst="rect">
            <a:avLst/>
          </a:prstGeom>
          <a:noFill/>
        </p:spPr>
        <p:txBody>
          <a:bodyPr vert="horz" wrap="square" lIns="0" tIns="0" rIns="0" bIns="0" rtlCol="0">
            <a:spAutoFit/>
          </a:bodyPr>
          <a:lstStyle/>
          <a:p>
            <a:pPr marL="342900" indent="-342900">
              <a:buFont typeface="Arial" panose="020B0604020202020204" pitchFamily="34" charset="0"/>
              <a:buChar char="•"/>
            </a:pPr>
            <a:r>
              <a:rPr lang="en-US" sz="1600" dirty="0">
                <a:solidFill>
                  <a:srgbClr val="1B1B1B"/>
                </a:solidFill>
                <a:latin typeface="Segoe UI" panose="020B0502040204020203" pitchFamily="34" charset="0"/>
              </a:rPr>
              <a:t>The GPU can read host memory by letting CUDA set the pages, or hand it pages the program already owns.</a:t>
            </a:r>
          </a:p>
          <a:p>
            <a:pPr marL="342900" indent="-342900">
              <a:buFont typeface="Arial" panose="020B0604020202020204" pitchFamily="34" charset="0"/>
              <a:buChar char="•"/>
            </a:pPr>
            <a:r>
              <a:rPr lang="en-US" sz="1600" dirty="0">
                <a:solidFill>
                  <a:srgbClr val="1B1B1B"/>
                </a:solidFill>
                <a:latin typeface="Segoe UI" panose="020B0502040204020203" pitchFamily="34" charset="0"/>
              </a:rPr>
              <a:t>The way it was done in gRPC  was slower by 7 to 11 microseconds</a:t>
            </a:r>
          </a:p>
          <a:p>
            <a:pPr marL="342900" indent="-342900">
              <a:buFont typeface="Arial" panose="020B0604020202020204" pitchFamily="34" charset="0"/>
              <a:buChar char="•"/>
            </a:pPr>
            <a:r>
              <a:rPr lang="en-US" sz="1600" dirty="0">
                <a:solidFill>
                  <a:srgbClr val="1B1B1B"/>
                </a:solidFill>
                <a:latin typeface="Segoe UI" panose="020B0502040204020203" pitchFamily="34" charset="0"/>
              </a:rPr>
              <a:t>Then I removed the CPU write that had been filling the buffer, then it came out 11 microseconds faster.</a:t>
            </a:r>
          </a:p>
          <a:p>
            <a:pPr marL="342900" indent="-342900">
              <a:buFont typeface="Arial" panose="020B0604020202020204" pitchFamily="34" charset="0"/>
              <a:buChar char="•"/>
            </a:pPr>
            <a:r>
              <a:rPr lang="en-US" sz="1600" dirty="0">
                <a:solidFill>
                  <a:srgbClr val="1B1B1B"/>
                </a:solidFill>
                <a:latin typeface="Segoe UI" panose="020B0502040204020203" pitchFamily="34" charset="0"/>
              </a:rPr>
              <a:t>Both measurements were right about what they measured. The mistake available was carrying one into a setup it had never measured, which was a network card filling the buffer and no CPU touches it.</a:t>
            </a:r>
          </a:p>
        </p:txBody>
      </p:sp>
    </p:spTree>
    <p:extLst>
      <p:ext uri="{BB962C8B-B14F-4D97-AF65-F5344CB8AC3E}">
        <p14:creationId xmlns:p14="http://schemas.microsoft.com/office/powerpoint/2010/main" val="3585945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DC3861-D188-40DC-762C-1CA562A99FC7}"/>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B4D5106-9B09-851B-901B-8073D56B6A24}"/>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3: CLOSING THE GAP</a:t>
            </a:r>
          </a:p>
        </p:txBody>
      </p:sp>
      <p:sp>
        <p:nvSpPr>
          <p:cNvPr id="4" name="TextBox 3">
            <a:extLst>
              <a:ext uri="{FF2B5EF4-FFF2-40B4-BE49-F238E27FC236}">
                <a16:creationId xmlns:a16="http://schemas.microsoft.com/office/drawing/2014/main" id="{0540E7D6-9BE2-A983-3721-E99B41A7FB87}"/>
              </a:ext>
            </a:extLst>
          </p:cNvPr>
          <p:cNvSpPr txBox="1"/>
          <p:nvPr/>
        </p:nvSpPr>
        <p:spPr>
          <a:xfrm>
            <a:off x="685800" y="584200"/>
            <a:ext cx="10795000" cy="38472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What I built: the card writes into memory the GPU reads</a:t>
            </a:r>
          </a:p>
        </p:txBody>
      </p:sp>
      <p:sp>
        <p:nvSpPr>
          <p:cNvPr id="5" name="Rectangle 4">
            <a:extLst>
              <a:ext uri="{FF2B5EF4-FFF2-40B4-BE49-F238E27FC236}">
                <a16:creationId xmlns:a16="http://schemas.microsoft.com/office/drawing/2014/main" id="{171B4FF1-93B6-CA26-7C91-286ED7B4457F}"/>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09ADF95-B9CF-C81B-5050-DB2402A0B6A7}"/>
              </a:ext>
            </a:extLst>
          </p:cNvPr>
          <p:cNvSpPr txBox="1"/>
          <p:nvPr/>
        </p:nvSpPr>
        <p:spPr>
          <a:xfrm>
            <a:off x="7493000" y="2095500"/>
            <a:ext cx="4254500" cy="3077766"/>
          </a:xfrm>
          <a:prstGeom prst="rect">
            <a:avLst/>
          </a:prstGeom>
          <a:noFill/>
        </p:spPr>
        <p:txBody>
          <a:bodyPr vert="horz" wrap="square" lIns="0" tIns="0" rIns="0" bIns="0" rtlCol="0">
            <a:spAutoFit/>
          </a:bodyPr>
          <a:lstStyle/>
          <a:p>
            <a:pPr marL="342900" indent="-342900">
              <a:buFont typeface="Arial" panose="020B0604020202020204" pitchFamily="34" charset="0"/>
              <a:buChar char="•"/>
            </a:pPr>
            <a:r>
              <a:rPr lang="en-US" sz="2000" dirty="0">
                <a:solidFill>
                  <a:srgbClr val="1B1B1B"/>
                </a:solidFill>
                <a:latin typeface="Segoe UI" panose="020B0502040204020203" pitchFamily="34" charset="0"/>
              </a:rPr>
              <a:t>One allocation is registered twice, once with the network card and once with CUDA. Both of them address the same bytes.</a:t>
            </a:r>
          </a:p>
          <a:p>
            <a:pPr marL="342900" indent="-342900">
              <a:buFont typeface="Arial" panose="020B0604020202020204" pitchFamily="34" charset="0"/>
              <a:buChar char="•"/>
            </a:pPr>
            <a:r>
              <a:rPr lang="en-US" sz="2000" dirty="0">
                <a:solidFill>
                  <a:srgbClr val="1B1B1B"/>
                </a:solidFill>
                <a:latin typeface="Segoe UI" panose="020B0502040204020203" pitchFamily="34" charset="0"/>
              </a:rPr>
              <a:t>The card writes into it directly. The FFT reads it in place. There is no staging copy anywhere on this path.</a:t>
            </a:r>
          </a:p>
          <a:p>
            <a:pPr marL="342900" indent="-342900">
              <a:buFont typeface="Arial" panose="020B0604020202020204" pitchFamily="34" charset="0"/>
              <a:buChar char="•"/>
            </a:pPr>
            <a:r>
              <a:rPr lang="en-US" sz="2000" dirty="0">
                <a:solidFill>
                  <a:srgbClr val="1B1B1B"/>
                </a:solidFill>
                <a:latin typeface="Segoe UI" panose="020B0502040204020203" pitchFamily="34" charset="0"/>
              </a:rPr>
              <a:t>This is the path that runs at 98 percent of line rate in Part 1.</a:t>
            </a:r>
          </a:p>
        </p:txBody>
      </p:sp>
      <p:sp>
        <p:nvSpPr>
          <p:cNvPr id="7" name="DiagBox0">
            <a:extLst>
              <a:ext uri="{FF2B5EF4-FFF2-40B4-BE49-F238E27FC236}">
                <a16:creationId xmlns:a16="http://schemas.microsoft.com/office/drawing/2014/main" id="{85F68532-5B70-172C-4BAE-B487E267930F}"/>
              </a:ext>
            </a:extLst>
          </p:cNvPr>
          <p:cNvSpPr/>
          <p:nvPr/>
        </p:nvSpPr>
        <p:spPr>
          <a:xfrm>
            <a:off x="508000" y="2006600"/>
            <a:ext cx="6350000" cy="660400"/>
          </a:xfrm>
          <a:prstGeom prst="rect">
            <a:avLst/>
          </a:prstGeom>
          <a:solidFill>
            <a:srgbClr val="5A647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DiagLabel0">
            <a:extLst>
              <a:ext uri="{FF2B5EF4-FFF2-40B4-BE49-F238E27FC236}">
                <a16:creationId xmlns:a16="http://schemas.microsoft.com/office/drawing/2014/main" id="{5E421890-B3D9-CADC-F1C1-9520D65BC84E}"/>
              </a:ext>
            </a:extLst>
          </p:cNvPr>
          <p:cNvSpPr txBox="1"/>
          <p:nvPr/>
        </p:nvSpPr>
        <p:spPr>
          <a:xfrm>
            <a:off x="508000" y="2184400"/>
            <a:ext cx="6350000" cy="230832"/>
          </a:xfrm>
          <a:prstGeom prst="rect">
            <a:avLst/>
          </a:prstGeom>
          <a:noFill/>
        </p:spPr>
        <p:txBody>
          <a:bodyPr vert="horz" wrap="square" lIns="0" tIns="0" rIns="0" bIns="0" rtlCol="0">
            <a:spAutoFit/>
          </a:bodyPr>
          <a:lstStyle/>
          <a:p>
            <a:pPr algn="ctr"/>
            <a:r>
              <a:rPr lang="pt-BR" sz="1500" b="1" dirty="0">
                <a:solidFill>
                  <a:srgbClr val="FFFFFF"/>
                </a:solidFill>
                <a:latin typeface="Segoe UI" panose="020B0502040204020203" pitchFamily="34" charset="0"/>
              </a:rPr>
              <a:t>Instrument chassis </a:t>
            </a:r>
            <a:endParaRPr lang="en-US" sz="1500" b="1" dirty="0">
              <a:solidFill>
                <a:srgbClr val="FFFFFF"/>
              </a:solidFill>
              <a:latin typeface="Segoe UI" panose="020B0502040204020203" pitchFamily="34" charset="0"/>
            </a:endParaRPr>
          </a:p>
        </p:txBody>
      </p:sp>
      <p:sp>
        <p:nvSpPr>
          <p:cNvPr id="10" name="DiagArrow0">
            <a:extLst>
              <a:ext uri="{FF2B5EF4-FFF2-40B4-BE49-F238E27FC236}">
                <a16:creationId xmlns:a16="http://schemas.microsoft.com/office/drawing/2014/main" id="{2C6F6DE2-06E7-F2BF-3E37-56AB666480BB}"/>
              </a:ext>
            </a:extLst>
          </p:cNvPr>
          <p:cNvSpPr txBox="1"/>
          <p:nvPr/>
        </p:nvSpPr>
        <p:spPr>
          <a:xfrm>
            <a:off x="508000" y="2692400"/>
            <a:ext cx="6350000" cy="215900"/>
          </a:xfrm>
          <a:prstGeom prst="rect">
            <a:avLst/>
          </a:prstGeom>
          <a:noFill/>
        </p:spPr>
        <p:txBody>
          <a:bodyPr vert="horz" wrap="square" lIns="0" tIns="0" rIns="0" bIns="0" rtlCol="0">
            <a:spAutoFit/>
          </a:bodyPr>
          <a:lstStyle/>
          <a:p>
            <a:pPr algn="ctr"/>
            <a:r>
              <a:rPr lang="en-US" sz="1400" b="1">
                <a:solidFill>
                  <a:srgbClr val="5A6470"/>
                </a:solidFill>
                <a:latin typeface="Segoe UI" panose="020B0502040204020203" pitchFamily="34" charset="0"/>
              </a:rPr>
              <a:t>▼</a:t>
            </a:r>
          </a:p>
        </p:txBody>
      </p:sp>
      <p:sp>
        <p:nvSpPr>
          <p:cNvPr id="11" name="DiagBox1">
            <a:extLst>
              <a:ext uri="{FF2B5EF4-FFF2-40B4-BE49-F238E27FC236}">
                <a16:creationId xmlns:a16="http://schemas.microsoft.com/office/drawing/2014/main" id="{7C807ACD-B4DF-6F75-D495-451E0C52533C}"/>
              </a:ext>
            </a:extLst>
          </p:cNvPr>
          <p:cNvSpPr/>
          <p:nvPr/>
        </p:nvSpPr>
        <p:spPr>
          <a:xfrm>
            <a:off x="508000" y="3098800"/>
            <a:ext cx="6350000" cy="660400"/>
          </a:xfrm>
          <a:prstGeom prst="rect">
            <a:avLst/>
          </a:prstGeom>
          <a:solidFill>
            <a:srgbClr val="5A647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gLabel1">
            <a:extLst>
              <a:ext uri="{FF2B5EF4-FFF2-40B4-BE49-F238E27FC236}">
                <a16:creationId xmlns:a16="http://schemas.microsoft.com/office/drawing/2014/main" id="{2D0D1570-15FB-26F4-3CF3-B345152CAEB2}"/>
              </a:ext>
            </a:extLst>
          </p:cNvPr>
          <p:cNvSpPr txBox="1"/>
          <p:nvPr/>
        </p:nvSpPr>
        <p:spPr>
          <a:xfrm>
            <a:off x="508000" y="3276600"/>
            <a:ext cx="6350000" cy="230832"/>
          </a:xfrm>
          <a:prstGeom prst="rect">
            <a:avLst/>
          </a:prstGeom>
          <a:noFill/>
        </p:spPr>
        <p:txBody>
          <a:bodyPr vert="horz" wrap="square" lIns="0" tIns="0" rIns="0" bIns="0" rtlCol="0">
            <a:spAutoFit/>
          </a:bodyPr>
          <a:lstStyle/>
          <a:p>
            <a:pPr algn="ctr"/>
            <a:r>
              <a:rPr lang="en-US" sz="1500" b="1">
                <a:solidFill>
                  <a:srgbClr val="FFFFFF"/>
                </a:solidFill>
                <a:latin typeface="Segoe UI" panose="020B0502040204020203" pitchFamily="34" charset="0"/>
              </a:rPr>
              <a:t>50 Gb/s RDMA link</a:t>
            </a:r>
          </a:p>
        </p:txBody>
      </p:sp>
      <p:sp>
        <p:nvSpPr>
          <p:cNvPr id="13" name="DiagArrow1">
            <a:extLst>
              <a:ext uri="{FF2B5EF4-FFF2-40B4-BE49-F238E27FC236}">
                <a16:creationId xmlns:a16="http://schemas.microsoft.com/office/drawing/2014/main" id="{17F28062-3403-EE9D-3B13-8A2C05531F5B}"/>
              </a:ext>
            </a:extLst>
          </p:cNvPr>
          <p:cNvSpPr txBox="1"/>
          <p:nvPr/>
        </p:nvSpPr>
        <p:spPr>
          <a:xfrm>
            <a:off x="508000" y="3784600"/>
            <a:ext cx="6350000" cy="215900"/>
          </a:xfrm>
          <a:prstGeom prst="rect">
            <a:avLst/>
          </a:prstGeom>
          <a:noFill/>
        </p:spPr>
        <p:txBody>
          <a:bodyPr vert="horz" wrap="square" lIns="0" tIns="0" rIns="0" bIns="0" rtlCol="0">
            <a:spAutoFit/>
          </a:bodyPr>
          <a:lstStyle/>
          <a:p>
            <a:pPr algn="ctr"/>
            <a:r>
              <a:rPr lang="en-US" sz="1400" b="1">
                <a:solidFill>
                  <a:srgbClr val="5A6470"/>
                </a:solidFill>
                <a:latin typeface="Segoe UI" panose="020B0502040204020203" pitchFamily="34" charset="0"/>
              </a:rPr>
              <a:t>▼</a:t>
            </a:r>
          </a:p>
        </p:txBody>
      </p:sp>
      <p:sp>
        <p:nvSpPr>
          <p:cNvPr id="14" name="DiagBox2">
            <a:extLst>
              <a:ext uri="{FF2B5EF4-FFF2-40B4-BE49-F238E27FC236}">
                <a16:creationId xmlns:a16="http://schemas.microsoft.com/office/drawing/2014/main" id="{5BAAC95A-084B-9B4F-BC78-81850BD4306E}"/>
              </a:ext>
            </a:extLst>
          </p:cNvPr>
          <p:cNvSpPr/>
          <p:nvPr/>
        </p:nvSpPr>
        <p:spPr>
          <a:xfrm>
            <a:off x="508000" y="4191000"/>
            <a:ext cx="6350000" cy="6604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iagLabel2">
            <a:extLst>
              <a:ext uri="{FF2B5EF4-FFF2-40B4-BE49-F238E27FC236}">
                <a16:creationId xmlns:a16="http://schemas.microsoft.com/office/drawing/2014/main" id="{7EBB15DA-EAF8-00C7-40DD-50B3A1C66496}"/>
              </a:ext>
            </a:extLst>
          </p:cNvPr>
          <p:cNvSpPr txBox="1"/>
          <p:nvPr/>
        </p:nvSpPr>
        <p:spPr>
          <a:xfrm>
            <a:off x="508000" y="4368800"/>
            <a:ext cx="6350000" cy="230832"/>
          </a:xfrm>
          <a:prstGeom prst="rect">
            <a:avLst/>
          </a:prstGeom>
          <a:noFill/>
        </p:spPr>
        <p:txBody>
          <a:bodyPr vert="horz" wrap="square" lIns="0" tIns="0" rIns="0" bIns="0" rtlCol="0">
            <a:spAutoFit/>
          </a:bodyPr>
          <a:lstStyle/>
          <a:p>
            <a:pPr algn="ctr"/>
            <a:r>
              <a:rPr lang="en-US" sz="1500" b="1" dirty="0">
                <a:solidFill>
                  <a:srgbClr val="FFFFFF"/>
                </a:solidFill>
                <a:latin typeface="Segoe UI" panose="020B0502040204020203" pitchFamily="34" charset="0"/>
              </a:rPr>
              <a:t>One buffer, registered with the card and with CUDA</a:t>
            </a:r>
          </a:p>
        </p:txBody>
      </p:sp>
      <p:sp>
        <p:nvSpPr>
          <p:cNvPr id="17" name="DiagArrow2">
            <a:extLst>
              <a:ext uri="{FF2B5EF4-FFF2-40B4-BE49-F238E27FC236}">
                <a16:creationId xmlns:a16="http://schemas.microsoft.com/office/drawing/2014/main" id="{5F9B1414-93A4-3856-2956-42220FCEEFB5}"/>
              </a:ext>
            </a:extLst>
          </p:cNvPr>
          <p:cNvSpPr txBox="1"/>
          <p:nvPr/>
        </p:nvSpPr>
        <p:spPr>
          <a:xfrm>
            <a:off x="508000" y="4876800"/>
            <a:ext cx="6350000" cy="215900"/>
          </a:xfrm>
          <a:prstGeom prst="rect">
            <a:avLst/>
          </a:prstGeom>
          <a:noFill/>
        </p:spPr>
        <p:txBody>
          <a:bodyPr vert="horz" wrap="square" lIns="0" tIns="0" rIns="0" bIns="0" rtlCol="0">
            <a:spAutoFit/>
          </a:bodyPr>
          <a:lstStyle/>
          <a:p>
            <a:pPr algn="ctr"/>
            <a:r>
              <a:rPr lang="en-US" sz="1400" b="1">
                <a:solidFill>
                  <a:srgbClr val="5A6470"/>
                </a:solidFill>
                <a:latin typeface="Segoe UI" panose="020B0502040204020203" pitchFamily="34" charset="0"/>
              </a:rPr>
              <a:t>▼</a:t>
            </a:r>
          </a:p>
        </p:txBody>
      </p:sp>
      <p:sp>
        <p:nvSpPr>
          <p:cNvPr id="18" name="DiagBox3">
            <a:extLst>
              <a:ext uri="{FF2B5EF4-FFF2-40B4-BE49-F238E27FC236}">
                <a16:creationId xmlns:a16="http://schemas.microsoft.com/office/drawing/2014/main" id="{2993FFCA-C5CC-1AB6-F24A-B9EA0F40B4FC}"/>
              </a:ext>
            </a:extLst>
          </p:cNvPr>
          <p:cNvSpPr/>
          <p:nvPr/>
        </p:nvSpPr>
        <p:spPr>
          <a:xfrm>
            <a:off x="508000" y="5283200"/>
            <a:ext cx="6350000" cy="660400"/>
          </a:xfrm>
          <a:prstGeom prst="rect">
            <a:avLst/>
          </a:prstGeom>
          <a:solidFill>
            <a:srgbClr val="5A647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agLabel3">
            <a:extLst>
              <a:ext uri="{FF2B5EF4-FFF2-40B4-BE49-F238E27FC236}">
                <a16:creationId xmlns:a16="http://schemas.microsoft.com/office/drawing/2014/main" id="{4D1E047F-374C-D81F-5B87-9AB9FB638784}"/>
              </a:ext>
            </a:extLst>
          </p:cNvPr>
          <p:cNvSpPr txBox="1"/>
          <p:nvPr/>
        </p:nvSpPr>
        <p:spPr>
          <a:xfrm>
            <a:off x="508000" y="5461000"/>
            <a:ext cx="6350000" cy="230832"/>
          </a:xfrm>
          <a:prstGeom prst="rect">
            <a:avLst/>
          </a:prstGeom>
          <a:noFill/>
        </p:spPr>
        <p:txBody>
          <a:bodyPr vert="horz" wrap="square" lIns="0" tIns="0" rIns="0" bIns="0" rtlCol="0">
            <a:spAutoFit/>
          </a:bodyPr>
          <a:lstStyle/>
          <a:p>
            <a:pPr algn="ctr"/>
            <a:r>
              <a:rPr lang="en-US" sz="1500" b="1">
                <a:solidFill>
                  <a:srgbClr val="FFFFFF"/>
                </a:solidFill>
                <a:latin typeface="Segoe UI" panose="020B0502040204020203" pitchFamily="34" charset="0"/>
              </a:rPr>
              <a:t>The FFT reads it where it landed</a:t>
            </a:r>
          </a:p>
        </p:txBody>
      </p:sp>
    </p:spTree>
    <p:extLst>
      <p:ext uri="{BB962C8B-B14F-4D97-AF65-F5344CB8AC3E}">
        <p14:creationId xmlns:p14="http://schemas.microsoft.com/office/powerpoint/2010/main" val="925575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pic>
        <p:nvPicPr>
          <p:cNvPr id="24" name="ChartSweep">
            <a:extLst>
              <a:ext uri="{FF2B5EF4-FFF2-40B4-BE49-F238E27FC236}">
                <a16:creationId xmlns:a16="http://schemas.microsoft.com/office/drawing/2014/main" id="{64C7B87E-5EF7-531D-3961-A09B53CA738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80088" y="1854200"/>
            <a:ext cx="5159523" cy="3810000"/>
          </a:xfrm>
          <a:prstGeom prst="rect">
            <a:avLst/>
          </a:prstGeom>
        </p:spPr>
      </p:pic>
      <p:pic>
        <p:nvPicPr>
          <p:cNvPr id="22" name="ChartFinal">
            <a:extLst>
              <a:ext uri="{FF2B5EF4-FFF2-40B4-BE49-F238E27FC236}">
                <a16:creationId xmlns:a16="http://schemas.microsoft.com/office/drawing/2014/main" id="{AADE680B-F08D-F9B1-D0C4-966B17BEFDB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54688" y="1854200"/>
            <a:ext cx="5202523" cy="3810000"/>
          </a:xfrm>
          <a:prstGeom prst="rect">
            <a:avLst/>
          </a:prstGeom>
        </p:spPr>
      </p:pic>
      <p:sp>
        <p:nvSpPr>
          <p:cNvPr id="2" name="Rectangle 1">
            <a:extLst>
              <a:ext uri="{FF2B5EF4-FFF2-40B4-BE49-F238E27FC236}">
                <a16:creationId xmlns:a16="http://schemas.microsoft.com/office/drawing/2014/main" id="{62DC3861-D188-40DC-762C-1CA562A99FC7}"/>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B4D5106-9B09-851B-901B-8073D56B6A24}"/>
              </a:ext>
            </a:extLst>
          </p:cNvPr>
          <p:cNvSpPr txBox="1"/>
          <p:nvPr/>
        </p:nvSpPr>
        <p:spPr>
          <a:xfrm>
            <a:off x="685800" y="330200"/>
            <a:ext cx="10795000" cy="184666"/>
          </a:xfrm>
          <a:prstGeom prst="rect">
            <a:avLst/>
          </a:prstGeom>
          <a:noFill/>
        </p:spPr>
        <p:txBody>
          <a:bodyPr vert="horz" wrap="square" lIns="0" tIns="0" rIns="0" bIns="0" rtlCol="0">
            <a:spAutoFit/>
          </a:bodyPr>
          <a:lstStyle/>
          <a:p>
            <a:r>
              <a:rPr lang="en-US" sz="1200" b="1">
                <a:solidFill>
                  <a:srgbClr val="03B585"/>
                </a:solidFill>
                <a:latin typeface="Segoe UI" panose="020B0502040204020203" pitchFamily="34" charset="0"/>
              </a:rPr>
              <a:t>PART 3: CLOSING THE GAP</a:t>
            </a:r>
          </a:p>
        </p:txBody>
      </p:sp>
      <p:sp>
        <p:nvSpPr>
          <p:cNvPr id="4" name="TextBox 3">
            <a:extLst>
              <a:ext uri="{FF2B5EF4-FFF2-40B4-BE49-F238E27FC236}">
                <a16:creationId xmlns:a16="http://schemas.microsoft.com/office/drawing/2014/main" id="{0540E7D6-9BE2-A983-3721-E99B41A7FB87}"/>
              </a:ext>
            </a:extLst>
          </p:cNvPr>
          <p:cNvSpPr txBox="1"/>
          <p:nvPr/>
        </p:nvSpPr>
        <p:spPr>
          <a:xfrm>
            <a:off x="685800" y="584200"/>
            <a:ext cx="10795000" cy="384721"/>
          </a:xfrm>
          <a:prstGeom prst="rect">
            <a:avLst/>
          </a:prstGeom>
          <a:noFill/>
        </p:spPr>
        <p:txBody>
          <a:bodyPr vert="horz" wrap="square" lIns="0" tIns="0" rIns="0" bIns="0" rtlCol="0">
            <a:spAutoFit/>
          </a:bodyPr>
          <a:lstStyle/>
          <a:p>
            <a:r>
              <a:rPr lang="en-US" sz="2500" b="1">
                <a:solidFill>
                  <a:srgbClr val="1B1B1B"/>
                </a:solidFill>
                <a:latin typeface="Segoe UI" panose="020B0502040204020203" pitchFamily="34" charset="0"/>
              </a:rPr>
              <a:t>Where it ended: 1.71 times faster, and 7 microseconds behind DAQiri</a:t>
            </a:r>
          </a:p>
        </p:txBody>
      </p:sp>
      <p:sp>
        <p:nvSpPr>
          <p:cNvPr id="5" name="Rectangle 4">
            <a:extLst>
              <a:ext uri="{FF2B5EF4-FFF2-40B4-BE49-F238E27FC236}">
                <a16:creationId xmlns:a16="http://schemas.microsoft.com/office/drawing/2014/main" id="{171B4FF1-93B6-CA26-7C91-286ED7B4457F}"/>
              </a:ext>
            </a:extLst>
          </p:cNvPr>
          <p:cNvSpPr/>
          <p:nvPr/>
        </p:nvSpPr>
        <p:spPr>
          <a:xfrm>
            <a:off x="711200" y="16764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ootnote">
            <a:extLst>
              <a:ext uri="{FF2B5EF4-FFF2-40B4-BE49-F238E27FC236}">
                <a16:creationId xmlns:a16="http://schemas.microsoft.com/office/drawing/2014/main" id="{4BDE7112-6A83-B795-B2C1-4B989292FCDF}"/>
              </a:ext>
            </a:extLst>
          </p:cNvPr>
          <p:cNvSpPr txBox="1"/>
          <p:nvPr/>
        </p:nvSpPr>
        <p:spPr>
          <a:xfrm>
            <a:off x="431800" y="5791200"/>
            <a:ext cx="11303000" cy="790794"/>
          </a:xfrm>
          <a:prstGeom prst="rect">
            <a:avLst/>
          </a:prstGeom>
          <a:noFill/>
        </p:spPr>
        <p:txBody>
          <a:bodyPr vert="horz" wrap="square" rtlCol="0">
            <a:spAutoFit/>
          </a:bodyPr>
          <a:lstStyle/>
          <a:p>
            <a:pPr>
              <a:lnSpc>
                <a:spcPct val="105000"/>
              </a:lnSpc>
            </a:pPr>
            <a:r>
              <a:rPr lang="en-US" sz="1100">
                <a:solidFill>
                  <a:srgbClr val="5A6A70"/>
                </a:solidFill>
                <a:latin typeface="Segoe UI" panose="020B0502040204020203" pitchFamily="34" charset="0"/>
              </a:rPr>
              <a:t>Left: 12 repetitions per bar, whiskers are a 95% confidence interval on the median. Right: a separate nine-size run, 2 repetitions each, so its 4 MB values sit a few microseconds below the bars. Read it for shape.</a:t>
            </a:r>
          </a:p>
          <a:p>
            <a:pPr>
              <a:lnSpc>
                <a:spcPct val="105000"/>
              </a:lnSpc>
            </a:pPr>
            <a:r>
              <a:rPr lang="en-US" sz="1100">
                <a:solidFill>
                  <a:srgbClr val="5A6A70"/>
                </a:solidFill>
                <a:latin typeface="Segoe UI" panose="020B0502040204020203" pitchFamily="34" charset="0"/>
              </a:rPr>
              <a:t>All four arms run on one machine, so these are receive-side software costs. Time on the wire is not in these numbers.</a:t>
            </a:r>
          </a:p>
          <a:p>
            <a:pPr>
              <a:lnSpc>
                <a:spcPct val="105000"/>
              </a:lnSpc>
            </a:pPr>
            <a:r>
              <a:rPr lang="en-US" sz="1100">
                <a:solidFill>
                  <a:srgbClr val="5A6A70"/>
                </a:solidFill>
                <a:latin typeface="Segoe UI" panose="020B0502040204020203" pitchFamily="34" charset="0"/>
              </a:rPr>
              <a:t>Open item: across a 200-fold change in data rate the RDMA arm moves 23 microseconds and nothing else moves 2.</a:t>
            </a:r>
          </a:p>
        </p:txBody>
      </p:sp>
    </p:spTree>
    <p:extLst>
      <p:ext uri="{BB962C8B-B14F-4D97-AF65-F5344CB8AC3E}">
        <p14:creationId xmlns:p14="http://schemas.microsoft.com/office/powerpoint/2010/main" val="226228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A9ECFD-3928-B245-7856-D2D144243126}"/>
              </a:ext>
            </a:extLst>
          </p:cNvPr>
          <p:cNvSpPr/>
          <p:nvPr/>
        </p:nvSpPr>
        <p:spPr>
          <a:xfrm>
            <a:off x="0" y="0"/>
            <a:ext cx="127000" cy="68580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EC243C5-FC85-70C5-047F-ED76F481999A}"/>
              </a:ext>
            </a:extLst>
          </p:cNvPr>
          <p:cNvSpPr txBox="1"/>
          <p:nvPr/>
        </p:nvSpPr>
        <p:spPr>
          <a:xfrm>
            <a:off x="685800" y="381000"/>
            <a:ext cx="10795000" cy="415498"/>
          </a:xfrm>
          <a:prstGeom prst="rect">
            <a:avLst/>
          </a:prstGeom>
          <a:noFill/>
        </p:spPr>
        <p:txBody>
          <a:bodyPr vert="horz" wrap="square" lIns="0" tIns="0" rIns="0" bIns="0" rtlCol="0">
            <a:spAutoFit/>
          </a:bodyPr>
          <a:lstStyle/>
          <a:p>
            <a:r>
              <a:rPr lang="en-US" sz="2700" b="1" dirty="0">
                <a:solidFill>
                  <a:srgbClr val="1B1B1B"/>
                </a:solidFill>
                <a:latin typeface="Segoe UI" panose="020B0502040204020203" pitchFamily="34" charset="0"/>
              </a:rPr>
              <a:t>Summary: moving data faster lets the GPU act in real time</a:t>
            </a:r>
          </a:p>
        </p:txBody>
      </p:sp>
      <p:sp>
        <p:nvSpPr>
          <p:cNvPr id="4" name="Rectangle 3">
            <a:extLst>
              <a:ext uri="{FF2B5EF4-FFF2-40B4-BE49-F238E27FC236}">
                <a16:creationId xmlns:a16="http://schemas.microsoft.com/office/drawing/2014/main" id="{B25106AE-4564-42C5-1AF4-C7D81E7BB8AF}"/>
              </a:ext>
            </a:extLst>
          </p:cNvPr>
          <p:cNvSpPr/>
          <p:nvPr/>
        </p:nvSpPr>
        <p:spPr>
          <a:xfrm>
            <a:off x="711200" y="1625600"/>
            <a:ext cx="889000" cy="63500"/>
          </a:xfrm>
          <a:prstGeom prst="rect">
            <a:avLst/>
          </a:prstGeom>
          <a:solidFill>
            <a:srgbClr val="03B58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4694AD7-B657-9AC7-8144-F5B3ABCCE43F}"/>
              </a:ext>
            </a:extLst>
          </p:cNvPr>
          <p:cNvSpPr txBox="1"/>
          <p:nvPr/>
        </p:nvSpPr>
        <p:spPr>
          <a:xfrm>
            <a:off x="685800" y="2159000"/>
            <a:ext cx="10795000" cy="2954655"/>
          </a:xfrm>
          <a:prstGeom prst="rect">
            <a:avLst/>
          </a:prstGeom>
          <a:noFill/>
        </p:spPr>
        <p:txBody>
          <a:bodyPr vert="horz" wrap="square" lIns="0" tIns="0" rIns="0" bIns="0" rtlCol="0">
            <a:spAutoFit/>
          </a:bodyPr>
          <a:lstStyle/>
          <a:p>
            <a:pPr marL="457200" indent="-457200">
              <a:spcAft>
                <a:spcPts val="1800"/>
              </a:spcAft>
              <a:buClr>
                <a:srgbClr val="03B585"/>
              </a:buClr>
              <a:buFont typeface="+mj-lt"/>
              <a:buChar char="•"/>
            </a:pPr>
            <a:r>
              <a:rPr lang="en-US" sz="2100" dirty="0">
                <a:solidFill>
                  <a:srgbClr val="1B1B1B"/>
                </a:solidFill>
                <a:latin typeface="Segoe UI" panose="020B0502040204020203" pitchFamily="34" charset="0"/>
              </a:rPr>
              <a:t>Up to 281 times lower latency and about four times the throughput while still using the same gRPC API.</a:t>
            </a:r>
          </a:p>
          <a:p>
            <a:pPr marL="457200" indent="-457200">
              <a:spcAft>
                <a:spcPts val="1800"/>
              </a:spcAft>
              <a:buClr>
                <a:srgbClr val="03B585"/>
              </a:buClr>
              <a:buFont typeface="+mj-lt"/>
              <a:buChar char="•"/>
            </a:pPr>
            <a:r>
              <a:rPr lang="en-US" sz="2100" dirty="0">
                <a:solidFill>
                  <a:srgbClr val="1B1B1B"/>
                </a:solidFill>
                <a:latin typeface="Segoe UI" panose="020B0502040204020203" pitchFamily="34" charset="0"/>
              </a:rPr>
              <a:t>gRPC Direct over RDMA carries 98 percent of the 50 gigabit line rate</a:t>
            </a:r>
          </a:p>
          <a:p>
            <a:pPr marL="457200" indent="-457200">
              <a:spcAft>
                <a:spcPts val="1800"/>
              </a:spcAft>
              <a:buClr>
                <a:srgbClr val="03B585"/>
              </a:buClr>
              <a:buFont typeface="+mj-lt"/>
              <a:buChar char="•"/>
            </a:pPr>
            <a:r>
              <a:rPr lang="en-US" sz="2100" dirty="0">
                <a:solidFill>
                  <a:srgbClr val="1B1B1B"/>
                </a:solidFill>
                <a:latin typeface="Segoe UI" panose="020B0502040204020203" pitchFamily="34" charset="0"/>
              </a:rPr>
              <a:t>In the GPU pipeline, gRPC Direct is now 1.71 times faster than it was before and is 7 microseconds behind DAQiri</a:t>
            </a:r>
          </a:p>
          <a:p>
            <a:pPr marL="457200" indent="-457200">
              <a:spcAft>
                <a:spcPts val="1800"/>
              </a:spcAft>
              <a:buClr>
                <a:srgbClr val="03B585"/>
              </a:buClr>
              <a:buFont typeface="+mj-lt"/>
              <a:buChar char="•"/>
            </a:pPr>
            <a:r>
              <a:rPr lang="en-US" sz="2100" dirty="0">
                <a:solidFill>
                  <a:srgbClr val="1B1B1B"/>
                </a:solidFill>
                <a:latin typeface="Segoe UI" panose="020B0502040204020203" pitchFamily="34" charset="0"/>
              </a:rPr>
              <a:t>Now we have an in house network protocol that enables faster inference for live hardware data.</a:t>
            </a:r>
          </a:p>
        </p:txBody>
      </p:sp>
    </p:spTree>
    <p:extLst>
      <p:ext uri="{BB962C8B-B14F-4D97-AF65-F5344CB8AC3E}">
        <p14:creationId xmlns:p14="http://schemas.microsoft.com/office/powerpoint/2010/main" val="12053270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3923</TotalTime>
  <Words>3382</Words>
  <Application>Microsoft Office PowerPoint</Application>
  <PresentationFormat>Widescreen</PresentationFormat>
  <Paragraphs>171</Paragraphs>
  <Slides>14</Slides>
  <Notes>14</Notes>
  <HiddenSlides>0</HiddenSlides>
  <MMClips>6</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Oluwadamilola</dc:creator>
  <cp:lastModifiedBy>Thomas, Oluwadamilola</cp:lastModifiedBy>
  <cp:revision>30</cp:revision>
  <dcterms:created xsi:type="dcterms:W3CDTF">2026-07-29T20:43:58Z</dcterms:created>
  <dcterms:modified xsi:type="dcterms:W3CDTF">2026-08-27T04:10:30Z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38901aa-f724-46bf-bb4f-aef09392934b_Enabled">
    <vt:lpwstr>true</vt:lpwstr>
  </property>
  <property fmtid="{D5CDD505-2E9C-101B-9397-08002B2CF9AE}" pid="3" name="MSIP_Label_d38901aa-f724-46bf-bb4f-aef09392934b_SetDate">
    <vt:lpwstr>2026-07-29T20:43:58Z</vt:lpwstr>
  </property>
  <property fmtid="{D5CDD505-2E9C-101B-9397-08002B2CF9AE}" pid="4" name="MSIP_Label_d38901aa-f724-46bf-bb4f-aef09392934b_Method">
    <vt:lpwstr>Standard</vt:lpwstr>
  </property>
  <property fmtid="{D5CDD505-2E9C-101B-9397-08002B2CF9AE}" pid="5" name="MSIP_Label_d38901aa-f724-46bf-bb4f-aef09392934b_Name">
    <vt:lpwstr>Internal - No Label</vt:lpwstr>
  </property>
  <property fmtid="{D5CDD505-2E9C-101B-9397-08002B2CF9AE}" pid="6" name="MSIP_Label_d38901aa-f724-46bf-bb4f-aef09392934b_SiteId">
    <vt:lpwstr>eb06985d-06ca-4a17-81da-629ab99f6505</vt:lpwstr>
  </property>
  <property fmtid="{D5CDD505-2E9C-101B-9397-08002B2CF9AE}" pid="7" name="MSIP_Label_d38901aa-f724-46bf-bb4f-aef09392934b_ActionId">
    <vt:lpwstr>7ed34bb2-dbeb-47dd-9cb9-95e5c7649961</vt:lpwstr>
  </property>
  <property fmtid="{D5CDD505-2E9C-101B-9397-08002B2CF9AE}" pid="8" name="MSIP_Label_d38901aa-f724-46bf-bb4f-aef09392934b_ContentBits">
    <vt:lpwstr>0</vt:lpwstr>
  </property>
  <property fmtid="{D5CDD505-2E9C-101B-9397-08002B2CF9AE}" pid="9" name="MSIP_Label_d38901aa-f724-46bf-bb4f-aef09392934b_Tag">
    <vt:lpwstr>10, 3, 0, 1</vt:lpwstr>
  </property>
</Properties>
</file>